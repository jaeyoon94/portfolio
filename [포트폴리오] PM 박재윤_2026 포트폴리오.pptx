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2.xml" ContentType="application/vnd.openxmlformats-officedocument.theme+xml"/>
  <Override PartName="/ppt/slideLayouts/slideLayout1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845" r:id="rId2"/>
    <p:sldMasterId id="2147483877" r:id="rId3"/>
  </p:sldMasterIdLst>
  <p:notesMasterIdLst>
    <p:notesMasterId r:id="rId38"/>
  </p:notesMasterIdLst>
  <p:sldIdLst>
    <p:sldId id="281" r:id="rId4"/>
    <p:sldId id="333" r:id="rId5"/>
    <p:sldId id="309" r:id="rId6"/>
    <p:sldId id="280" r:id="rId7"/>
    <p:sldId id="256" r:id="rId8"/>
    <p:sldId id="4449" r:id="rId9"/>
    <p:sldId id="257" r:id="rId10"/>
    <p:sldId id="267" r:id="rId11"/>
    <p:sldId id="301" r:id="rId12"/>
    <p:sldId id="4443" r:id="rId13"/>
    <p:sldId id="305" r:id="rId14"/>
    <p:sldId id="4446" r:id="rId15"/>
    <p:sldId id="4447" r:id="rId16"/>
    <p:sldId id="4445" r:id="rId17"/>
    <p:sldId id="4448" r:id="rId18"/>
    <p:sldId id="306" r:id="rId19"/>
    <p:sldId id="331" r:id="rId20"/>
    <p:sldId id="324" r:id="rId21"/>
    <p:sldId id="297" r:id="rId22"/>
    <p:sldId id="4439" r:id="rId23"/>
    <p:sldId id="4442" r:id="rId24"/>
    <p:sldId id="4415" r:id="rId25"/>
    <p:sldId id="4422" r:id="rId26"/>
    <p:sldId id="4423" r:id="rId27"/>
    <p:sldId id="4354" r:id="rId28"/>
    <p:sldId id="4428" r:id="rId29"/>
    <p:sldId id="4440" r:id="rId30"/>
    <p:sldId id="293" r:id="rId31"/>
    <p:sldId id="4426" r:id="rId32"/>
    <p:sldId id="304" r:id="rId33"/>
    <p:sldId id="4441" r:id="rId34"/>
    <p:sldId id="258" r:id="rId35"/>
    <p:sldId id="300" r:id="rId36"/>
    <p:sldId id="283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CE05"/>
    <a:srgbClr val="FF9797"/>
    <a:srgbClr val="FCEF8E"/>
    <a:srgbClr val="FFD629"/>
    <a:srgbClr val="FBE43B"/>
    <a:srgbClr val="FADF1A"/>
    <a:srgbClr val="EBFB19"/>
    <a:srgbClr val="FFE05B"/>
    <a:srgbClr val="469F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78391" autoAdjust="0"/>
  </p:normalViewPr>
  <p:slideViewPr>
    <p:cSldViewPr snapToGrid="0">
      <p:cViewPr varScale="1">
        <p:scale>
          <a:sx n="111" d="100"/>
          <a:sy n="111" d="100"/>
        </p:scale>
        <p:origin x="60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92B71-0A09-4278-8ED4-E58505317FF0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E7703-A957-4158-A4B7-81BE3422DE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615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07C940-E799-4482-90CC-8228D8C1C56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6750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07C940-E799-4482-90CC-8228D8C1C56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1756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3개 사례(Jira×Notion 아트 일감, Jira 기반 WBS·공정률, AI×Vibe Coding)를 입력→PM 정의→AI 구현→결과물→PM 효과의 동일한 구조로 정리한 시스템 맵입니다. PM이 정의하는 열과 AI가 구현하는 열을 강조 테두리로 표시했습니다.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활용 업무 자동화 구조를 아이콘 중심으로 도식화한 장표입니다. 데이터(Jira·Excel) → PM 정의 → AI 구현(ChatGPT·Claude Code) → run.bat 자동 실행 → 결과물(Notion·Google Sheets·Excel) → PM 의사결정으로 이어지며, 결과 검증을 통해 PM 정의 단계로 돌아가는 개선 루프를 함께 표시했습니다.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사례 3(AI×Vibe Coding)의 문제 정의→구현→검증→발견→개선 루프를 중심으로 PM과 AI의 역할을 분리했습니다. V1은 TextKey 1:1 전제였고, 실제 데이터 검증에서 중복 TextKey(Edge Case)를 발견해 V2에서 모든 일치 데이터를 처리하도록 개선했습니다.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CC1CF-C082-EB40-6FA2-124FCF61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8BCE70-7123-3800-CC6B-F82F00AD6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DD53DF-93E4-186F-AC7E-2BF66D464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5CC08B-C19E-8499-AA25-2832C3BCD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E7703-A957-4158-A4B7-81BE3422DE9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766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C570E7CD-7C52-666F-F155-B345E0E3DF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13C1D0F6-2D8A-1DE7-1FC7-46AA4608D3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62CC6288-9321-E108-132C-96249AB12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EB25CD4C-3DF6-475C-B2FE-506000FBDF66}" type="slidenum">
              <a:rPr lang="zh-CN" altLang="en-US">
                <a:latin typeface="Arial" panose="020B0604020202020204" pitchFamily="34" charset="0"/>
              </a:rPr>
              <a:pPr/>
              <a:t>23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4F3CCCFA-D330-024E-D011-D87683254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4df37c99b_0_19:notes">
            <a:extLst>
              <a:ext uri="{FF2B5EF4-FFF2-40B4-BE49-F238E27FC236}">
                <a16:creationId xmlns:a16="http://schemas.microsoft.com/office/drawing/2014/main" id="{6D23C7EB-40A6-BC3A-D262-56FED73362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4df37c99b_0_19:notes">
            <a:extLst>
              <a:ext uri="{FF2B5EF4-FFF2-40B4-BE49-F238E27FC236}">
                <a16:creationId xmlns:a16="http://schemas.microsoft.com/office/drawing/2014/main" id="{5BA4998A-6D21-47F5-DD42-91095E5117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8355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26E77DDF-6C31-F1AD-F22D-C5BA832BF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4df37c99b_0_19:notes">
            <a:extLst>
              <a:ext uri="{FF2B5EF4-FFF2-40B4-BE49-F238E27FC236}">
                <a16:creationId xmlns:a16="http://schemas.microsoft.com/office/drawing/2014/main" id="{1D884569-C78E-5F82-0025-F63CB4BE56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4df37c99b_0_19:notes">
            <a:extLst>
              <a:ext uri="{FF2B5EF4-FFF2-40B4-BE49-F238E27FC236}">
                <a16:creationId xmlns:a16="http://schemas.microsoft.com/office/drawing/2014/main" id="{35556901-E9BD-2524-B9EE-13CA19DFF6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8075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개발자 포트폴리오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07C940-E799-4482-90CC-8228D8C1C56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8690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5171F-44ED-2875-8196-2ABC1C68F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6E2019-6F35-BD63-D2C6-80080974F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9BA316-43D9-B62F-7C91-D03DBB29D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652763-AA78-83D6-BE2D-5B5BCD736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E7703-A957-4158-A4B7-81BE3422DE9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80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템플릿 05_슬라이드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CE939856-EC3E-31E6-A90A-F032C2AF3A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58075" y="963306"/>
            <a:ext cx="4874411" cy="454933"/>
          </a:xfrm>
          <a:noFill/>
        </p:spPr>
        <p:txBody>
          <a:bodyPr wrap="none" lIns="0" tIns="0" rIns="0" bIns="0" rtlCol="0">
            <a:spAutoFit/>
          </a:bodyPr>
          <a:lstStyle>
            <a:lvl1pPr marL="0" indent="0">
              <a:buNone/>
              <a:defRPr lang="ko-KR" altLang="en-US" spc="-7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>
              <a:lnSpc>
                <a:spcPct val="110000"/>
              </a:lnSpc>
            </a:pPr>
            <a:r>
              <a:rPr lang="ko-KR" altLang="en-US" sz="2800" spc="-7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타이틀을 완전 멋지게 적어주세요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5BBF98FC-60B7-1622-29F8-AE24915A83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6764" y="6345620"/>
            <a:ext cx="1320874" cy="139397"/>
          </a:xfrm>
          <a:noFill/>
        </p:spPr>
        <p:txBody>
          <a:bodyPr wrap="none" lIns="0" tIns="0" rIns="0" bIns="0" rtlCol="0">
            <a:spAutoFit/>
          </a:bodyPr>
          <a:lstStyle>
            <a:lvl1pPr marL="0" indent="0">
              <a:buNone/>
              <a:def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sz="10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제안서 제목을 적어주세요</a:t>
            </a:r>
          </a:p>
        </p:txBody>
      </p:sp>
      <p:sp>
        <p:nvSpPr>
          <p:cNvPr id="13" name="텍스트 개체 틀 11">
            <a:extLst>
              <a:ext uri="{FF2B5EF4-FFF2-40B4-BE49-F238E27FC236}">
                <a16:creationId xmlns:a16="http://schemas.microsoft.com/office/drawing/2014/main" id="{C9C10771-0A64-89E9-2B02-638FCFDBF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56470" y="655875"/>
            <a:ext cx="1792157" cy="195118"/>
          </a:xfrm>
          <a:noFill/>
        </p:spPr>
        <p:txBody>
          <a:bodyPr wrap="none" lIns="0" tIns="0" rIns="0" bIns="0" rtlCol="0">
            <a:spAutoFit/>
          </a:bodyPr>
          <a:lstStyle>
            <a:lvl1pPr marL="0" indent="0">
              <a:buNone/>
              <a:defRPr lang="ko-KR" altLang="en-US" sz="14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r>
              <a:rPr lang="ko-KR" altLang="en-US">
                <a:solidFill>
                  <a:schemeClr val="accent2">
                    <a:lumMod val="60000"/>
                    <a:lumOff val="40000"/>
                  </a:schemeClr>
                </a:solidFill>
              </a:rPr>
              <a:t>목차 제목을 입력해주세요</a:t>
            </a: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E4D61173-C07C-2E21-FEA1-BF0CE1099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4C4384D-44EB-37A4-B283-3579343FAB10}"/>
              </a:ext>
            </a:extLst>
          </p:cNvPr>
          <p:cNvCxnSpPr>
            <a:cxnSpLocks/>
          </p:cNvCxnSpPr>
          <p:nvPr userDrawn="1"/>
        </p:nvCxnSpPr>
        <p:spPr>
          <a:xfrm>
            <a:off x="766763" y="6237288"/>
            <a:ext cx="10658475" cy="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505AAAED-9115-B3FA-A9E9-EFFEF82CA401}"/>
              </a:ext>
            </a:extLst>
          </p:cNvPr>
          <p:cNvSpPr/>
          <p:nvPr userDrawn="1"/>
        </p:nvSpPr>
        <p:spPr>
          <a:xfrm rot="10800000">
            <a:off x="766763" y="-1"/>
            <a:ext cx="360362" cy="1331120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6C3DCFB3-75C3-E2DD-DF5F-4F55399AFA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6880" y="1046723"/>
            <a:ext cx="240130" cy="223010"/>
          </a:xfrm>
          <a:noFill/>
        </p:spPr>
        <p:txBody>
          <a:bodyPr wrap="none" lIns="0" tIns="0" rIns="0" bIns="0" rtlCol="0">
            <a:spAutoFit/>
          </a:bodyPr>
          <a:lstStyle>
            <a:lvl1pPr marL="0" indent="0">
              <a:buNone/>
              <a:defRPr lang="ko-KR" altLang="en-US" sz="1600" spc="-7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defRPr>
            </a:lvl1pPr>
          </a:lstStyle>
          <a:p>
            <a:pPr marL="0" lvl="0" algn="ctr"/>
            <a:r>
              <a:rPr lang="en-US" altLang="ko-KR"/>
              <a:t>01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27587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164AF705-2CDE-FD4E-1F84-98DBB73F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8111861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414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51699F8B-4771-1958-990E-F9103273AF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57372" y="0"/>
            <a:ext cx="6734628" cy="6858000"/>
          </a:xfrm>
          <a:custGeom>
            <a:avLst/>
            <a:gdLst>
              <a:gd name="connsiteX0" fmla="*/ 693049 w 6734628"/>
              <a:gd name="connsiteY0" fmla="*/ 0 h 6858000"/>
              <a:gd name="connsiteX1" fmla="*/ 6734628 w 6734628"/>
              <a:gd name="connsiteY1" fmla="*/ 0 h 6858000"/>
              <a:gd name="connsiteX2" fmla="*/ 6734628 w 6734628"/>
              <a:gd name="connsiteY2" fmla="*/ 6858000 h 6858000"/>
              <a:gd name="connsiteX3" fmla="*/ 1 w 6734628"/>
              <a:gd name="connsiteY3" fmla="*/ 6858000 h 6858000"/>
              <a:gd name="connsiteX4" fmla="*/ 0 w 6734628"/>
              <a:gd name="connsiteY4" fmla="*/ 0 h 6858000"/>
              <a:gd name="connsiteX5" fmla="*/ 1 w 6734628"/>
              <a:gd name="connsiteY5" fmla="*/ 0 h 6858000"/>
              <a:gd name="connsiteX6" fmla="*/ 1 w 6734628"/>
              <a:gd name="connsiteY6" fmla="*/ 6858000 h 6858000"/>
              <a:gd name="connsiteX7" fmla="*/ 0 w 6734628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34628" h="6858000">
                <a:moveTo>
                  <a:pt x="693049" y="0"/>
                </a:moveTo>
                <a:lnTo>
                  <a:pt x="6734628" y="0"/>
                </a:lnTo>
                <a:lnTo>
                  <a:pt x="6734628" y="6858000"/>
                </a:lnTo>
                <a:lnTo>
                  <a:pt x="1" y="6858000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2B93811-C931-1E65-9E32-A663A4D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7481360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D512BEE4-445D-1B37-D8A5-20949D7154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6766" y="1857970"/>
            <a:ext cx="9393237" cy="3180158"/>
          </a:xfrm>
          <a:custGeom>
            <a:avLst/>
            <a:gdLst>
              <a:gd name="connsiteX0" fmla="*/ 0 w 9393237"/>
              <a:gd name="connsiteY0" fmla="*/ 0 h 3180158"/>
              <a:gd name="connsiteX1" fmla="*/ 9393237 w 9393237"/>
              <a:gd name="connsiteY1" fmla="*/ 0 h 3180158"/>
              <a:gd name="connsiteX2" fmla="*/ 9393237 w 9393237"/>
              <a:gd name="connsiteY2" fmla="*/ 3180158 h 3180158"/>
              <a:gd name="connsiteX3" fmla="*/ 0 w 9393237"/>
              <a:gd name="connsiteY3" fmla="*/ 3180158 h 318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3237" h="3180158">
                <a:moveTo>
                  <a:pt x="0" y="0"/>
                </a:moveTo>
                <a:lnTo>
                  <a:pt x="9393237" y="0"/>
                </a:lnTo>
                <a:lnTo>
                  <a:pt x="9393237" y="3180158"/>
                </a:lnTo>
                <a:lnTo>
                  <a:pt x="0" y="318015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7" name="슬라이드 번호 개체 틀 4">
            <a:extLst>
              <a:ext uri="{FF2B5EF4-FFF2-40B4-BE49-F238E27FC236}">
                <a16:creationId xmlns:a16="http://schemas.microsoft.com/office/drawing/2014/main" id="{F49455C1-F918-AC74-1796-8AD6F065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358871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E184DBF1-6AAE-A9FA-1507-E074EDBA96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44593" y="939843"/>
            <a:ext cx="3206821" cy="4108408"/>
          </a:xfrm>
          <a:custGeom>
            <a:avLst/>
            <a:gdLst>
              <a:gd name="connsiteX0" fmla="*/ 0 w 3206821"/>
              <a:gd name="connsiteY0" fmla="*/ 0 h 4108408"/>
              <a:gd name="connsiteX1" fmla="*/ 3206821 w 3206821"/>
              <a:gd name="connsiteY1" fmla="*/ 0 h 4108408"/>
              <a:gd name="connsiteX2" fmla="*/ 3206821 w 3206821"/>
              <a:gd name="connsiteY2" fmla="*/ 4108408 h 4108408"/>
              <a:gd name="connsiteX3" fmla="*/ 0 w 3206821"/>
              <a:gd name="connsiteY3" fmla="*/ 4108408 h 410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6821" h="4108408">
                <a:moveTo>
                  <a:pt x="0" y="0"/>
                </a:moveTo>
                <a:lnTo>
                  <a:pt x="3206821" y="0"/>
                </a:lnTo>
                <a:lnTo>
                  <a:pt x="3206821" y="4108408"/>
                </a:lnTo>
                <a:lnTo>
                  <a:pt x="0" y="41084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637850F6-D533-46EC-EF61-51002F4A1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245575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EE87543A-47E9-99C9-B891-CA10F3ECB3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459588"/>
            <a:ext cx="12192000" cy="3180158"/>
          </a:xfrm>
          <a:custGeom>
            <a:avLst/>
            <a:gdLst>
              <a:gd name="connsiteX0" fmla="*/ 0 w 12192000"/>
              <a:gd name="connsiteY0" fmla="*/ 0 h 3180158"/>
              <a:gd name="connsiteX1" fmla="*/ 12192000 w 12192000"/>
              <a:gd name="connsiteY1" fmla="*/ 0 h 3180158"/>
              <a:gd name="connsiteX2" fmla="*/ 12192000 w 12192000"/>
              <a:gd name="connsiteY2" fmla="*/ 3180158 h 3180158"/>
              <a:gd name="connsiteX3" fmla="*/ 0 w 12192000"/>
              <a:gd name="connsiteY3" fmla="*/ 3180158 h 318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180158">
                <a:moveTo>
                  <a:pt x="0" y="0"/>
                </a:moveTo>
                <a:lnTo>
                  <a:pt x="12192000" y="0"/>
                </a:lnTo>
                <a:lnTo>
                  <a:pt x="12192000" y="3180158"/>
                </a:lnTo>
                <a:lnTo>
                  <a:pt x="0" y="318015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0CF313B2-7142-BCED-A877-DCA5EBE41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5198818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9C861E2F-4B78-DE8F-480C-3706437086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" y="4"/>
            <a:ext cx="8958691" cy="5478075"/>
          </a:xfrm>
          <a:custGeom>
            <a:avLst/>
            <a:gdLst>
              <a:gd name="connsiteX0" fmla="*/ 0 w 8958691"/>
              <a:gd name="connsiteY0" fmla="*/ 0 h 5478075"/>
              <a:gd name="connsiteX1" fmla="*/ 8958691 w 8958691"/>
              <a:gd name="connsiteY1" fmla="*/ 0 h 5478075"/>
              <a:gd name="connsiteX2" fmla="*/ 8958691 w 8958691"/>
              <a:gd name="connsiteY2" fmla="*/ 2 h 5478075"/>
              <a:gd name="connsiteX3" fmla="*/ 3480619 w 8958691"/>
              <a:gd name="connsiteY3" fmla="*/ 5478075 h 5478075"/>
              <a:gd name="connsiteX4" fmla="*/ 0 w 8958691"/>
              <a:gd name="connsiteY4" fmla="*/ 1997455 h 5478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58691" h="5478075">
                <a:moveTo>
                  <a:pt x="0" y="0"/>
                </a:moveTo>
                <a:lnTo>
                  <a:pt x="8958691" y="0"/>
                </a:lnTo>
                <a:lnTo>
                  <a:pt x="8958691" y="2"/>
                </a:lnTo>
                <a:lnTo>
                  <a:pt x="3480619" y="5478075"/>
                </a:lnTo>
                <a:lnTo>
                  <a:pt x="0" y="19974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1537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376F8B1E-533D-517B-4981-1ED9217FC8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41426" y="1116810"/>
            <a:ext cx="4950574" cy="3544887"/>
          </a:xfrm>
          <a:custGeom>
            <a:avLst/>
            <a:gdLst>
              <a:gd name="connsiteX0" fmla="*/ 0 w 4950574"/>
              <a:gd name="connsiteY0" fmla="*/ 0 h 3544887"/>
              <a:gd name="connsiteX1" fmla="*/ 4950574 w 4950574"/>
              <a:gd name="connsiteY1" fmla="*/ 0 h 3544887"/>
              <a:gd name="connsiteX2" fmla="*/ 4950574 w 4950574"/>
              <a:gd name="connsiteY2" fmla="*/ 3544887 h 3544887"/>
              <a:gd name="connsiteX3" fmla="*/ 0 w 4950574"/>
              <a:gd name="connsiteY3" fmla="*/ 3544887 h 354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574" h="3544887">
                <a:moveTo>
                  <a:pt x="0" y="0"/>
                </a:moveTo>
                <a:lnTo>
                  <a:pt x="4950574" y="0"/>
                </a:lnTo>
                <a:lnTo>
                  <a:pt x="4950574" y="3544887"/>
                </a:lnTo>
                <a:lnTo>
                  <a:pt x="0" y="35448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4EC74344-DA8F-2524-4DA8-75058E68EB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54428" y="1116810"/>
            <a:ext cx="3140075" cy="4624385"/>
          </a:xfrm>
          <a:custGeom>
            <a:avLst/>
            <a:gdLst>
              <a:gd name="connsiteX0" fmla="*/ 0 w 3140075"/>
              <a:gd name="connsiteY0" fmla="*/ 0 h 4624385"/>
              <a:gd name="connsiteX1" fmla="*/ 3140075 w 3140075"/>
              <a:gd name="connsiteY1" fmla="*/ 0 h 4624385"/>
              <a:gd name="connsiteX2" fmla="*/ 3140075 w 3140075"/>
              <a:gd name="connsiteY2" fmla="*/ 4624385 h 4624385"/>
              <a:gd name="connsiteX3" fmla="*/ 0 w 3140075"/>
              <a:gd name="connsiteY3" fmla="*/ 4624385 h 4624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0075" h="4624385">
                <a:moveTo>
                  <a:pt x="0" y="0"/>
                </a:moveTo>
                <a:lnTo>
                  <a:pt x="3140075" y="0"/>
                </a:lnTo>
                <a:lnTo>
                  <a:pt x="3140075" y="4624385"/>
                </a:lnTo>
                <a:lnTo>
                  <a:pt x="0" y="46243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E122AEAB-F618-2B71-6F41-CB890550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2974436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AC9B7ABF-0726-3540-6F95-77A87541AB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205376"/>
          </a:xfrm>
          <a:custGeom>
            <a:avLst/>
            <a:gdLst>
              <a:gd name="connsiteX0" fmla="*/ 0 w 12192000"/>
              <a:gd name="connsiteY0" fmla="*/ 0 h 2205376"/>
              <a:gd name="connsiteX1" fmla="*/ 12192000 w 12192000"/>
              <a:gd name="connsiteY1" fmla="*/ 0 h 2205376"/>
              <a:gd name="connsiteX2" fmla="*/ 12192000 w 12192000"/>
              <a:gd name="connsiteY2" fmla="*/ 2205376 h 2205376"/>
              <a:gd name="connsiteX3" fmla="*/ 0 w 12192000"/>
              <a:gd name="connsiteY3" fmla="*/ 2205376 h 2205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205376">
                <a:moveTo>
                  <a:pt x="0" y="0"/>
                </a:moveTo>
                <a:lnTo>
                  <a:pt x="12192000" y="0"/>
                </a:lnTo>
                <a:lnTo>
                  <a:pt x="12192000" y="2205376"/>
                </a:lnTo>
                <a:lnTo>
                  <a:pt x="0" y="22053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7D0106B-EBC0-2E62-E2E1-836805555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952731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D60CEDE7-1F5A-1281-B37F-3980C98632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58823" y="0"/>
            <a:ext cx="5435926" cy="6858000"/>
          </a:xfrm>
          <a:custGeom>
            <a:avLst/>
            <a:gdLst>
              <a:gd name="connsiteX0" fmla="*/ 0 w 5435926"/>
              <a:gd name="connsiteY0" fmla="*/ 0 h 6858000"/>
              <a:gd name="connsiteX1" fmla="*/ 5435926 w 5435926"/>
              <a:gd name="connsiteY1" fmla="*/ 0 h 6858000"/>
              <a:gd name="connsiteX2" fmla="*/ 5435926 w 5435926"/>
              <a:gd name="connsiteY2" fmla="*/ 6858000 h 6858000"/>
              <a:gd name="connsiteX3" fmla="*/ 0 w 543592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5926" h="6858000">
                <a:moveTo>
                  <a:pt x="0" y="0"/>
                </a:moveTo>
                <a:lnTo>
                  <a:pt x="5435926" y="0"/>
                </a:lnTo>
                <a:lnTo>
                  <a:pt x="543592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CED085C2-CE0F-BD56-DB0F-782E5456D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438922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596F3FB4-98C2-86BD-42BC-530B7FA01B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84573" y="0"/>
            <a:ext cx="5007429" cy="6858000"/>
          </a:xfrm>
          <a:custGeom>
            <a:avLst/>
            <a:gdLst>
              <a:gd name="connsiteX0" fmla="*/ 0 w 5007429"/>
              <a:gd name="connsiteY0" fmla="*/ 0 h 6858000"/>
              <a:gd name="connsiteX1" fmla="*/ 5007429 w 5007429"/>
              <a:gd name="connsiteY1" fmla="*/ 0 h 6858000"/>
              <a:gd name="connsiteX2" fmla="*/ 5007429 w 5007429"/>
              <a:gd name="connsiteY2" fmla="*/ 6858000 h 6858000"/>
              <a:gd name="connsiteX3" fmla="*/ 0 w 500742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7429" h="6858000">
                <a:moveTo>
                  <a:pt x="0" y="0"/>
                </a:moveTo>
                <a:lnTo>
                  <a:pt x="5007429" y="0"/>
                </a:lnTo>
                <a:lnTo>
                  <a:pt x="5007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AC9B3C53-C0A1-1E3F-A112-22008D8CA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464149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4D84C274-13F7-CEDB-5479-EE645C8CCF9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982" y="3324429"/>
            <a:ext cx="2020714" cy="1259708"/>
          </a:xfrm>
          <a:custGeom>
            <a:avLst/>
            <a:gdLst>
              <a:gd name="connsiteX0" fmla="*/ 0 w 2020714"/>
              <a:gd name="connsiteY0" fmla="*/ 0 h 1259708"/>
              <a:gd name="connsiteX1" fmla="*/ 2020714 w 2020714"/>
              <a:gd name="connsiteY1" fmla="*/ 0 h 1259708"/>
              <a:gd name="connsiteX2" fmla="*/ 2020714 w 2020714"/>
              <a:gd name="connsiteY2" fmla="*/ 1259708 h 1259708"/>
              <a:gd name="connsiteX3" fmla="*/ 0 w 2020714"/>
              <a:gd name="connsiteY3" fmla="*/ 1259708 h 1259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0714" h="1259708">
                <a:moveTo>
                  <a:pt x="0" y="0"/>
                </a:moveTo>
                <a:lnTo>
                  <a:pt x="2020714" y="0"/>
                </a:lnTo>
                <a:lnTo>
                  <a:pt x="2020714" y="1259708"/>
                </a:lnTo>
                <a:lnTo>
                  <a:pt x="0" y="12597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3254B271-B80C-855B-9878-E00EA6280DE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52505" y="3324429"/>
            <a:ext cx="2020714" cy="1259708"/>
          </a:xfrm>
          <a:custGeom>
            <a:avLst/>
            <a:gdLst>
              <a:gd name="connsiteX0" fmla="*/ 0 w 2020714"/>
              <a:gd name="connsiteY0" fmla="*/ 0 h 1259708"/>
              <a:gd name="connsiteX1" fmla="*/ 2020714 w 2020714"/>
              <a:gd name="connsiteY1" fmla="*/ 0 h 1259708"/>
              <a:gd name="connsiteX2" fmla="*/ 2020714 w 2020714"/>
              <a:gd name="connsiteY2" fmla="*/ 1259708 h 1259708"/>
              <a:gd name="connsiteX3" fmla="*/ 0 w 2020714"/>
              <a:gd name="connsiteY3" fmla="*/ 1259708 h 1259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0714" h="1259708">
                <a:moveTo>
                  <a:pt x="0" y="0"/>
                </a:moveTo>
                <a:lnTo>
                  <a:pt x="2020714" y="0"/>
                </a:lnTo>
                <a:lnTo>
                  <a:pt x="2020714" y="1259708"/>
                </a:lnTo>
                <a:lnTo>
                  <a:pt x="0" y="12597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66C681A8-B4FB-70D8-6F03-E2EB38C406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66028" y="3324429"/>
            <a:ext cx="2020714" cy="1259708"/>
          </a:xfrm>
          <a:custGeom>
            <a:avLst/>
            <a:gdLst>
              <a:gd name="connsiteX0" fmla="*/ 0 w 2020714"/>
              <a:gd name="connsiteY0" fmla="*/ 0 h 1259708"/>
              <a:gd name="connsiteX1" fmla="*/ 2020714 w 2020714"/>
              <a:gd name="connsiteY1" fmla="*/ 0 h 1259708"/>
              <a:gd name="connsiteX2" fmla="*/ 2020714 w 2020714"/>
              <a:gd name="connsiteY2" fmla="*/ 1259708 h 1259708"/>
              <a:gd name="connsiteX3" fmla="*/ 0 w 2020714"/>
              <a:gd name="connsiteY3" fmla="*/ 1259708 h 1259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0714" h="1259708">
                <a:moveTo>
                  <a:pt x="0" y="0"/>
                </a:moveTo>
                <a:lnTo>
                  <a:pt x="2020714" y="0"/>
                </a:lnTo>
                <a:lnTo>
                  <a:pt x="2020714" y="1259708"/>
                </a:lnTo>
                <a:lnTo>
                  <a:pt x="0" y="12597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6CB9E5B2-64EF-7735-BCE8-94432B3569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25459" y="3324429"/>
            <a:ext cx="2020714" cy="1259708"/>
          </a:xfrm>
          <a:custGeom>
            <a:avLst/>
            <a:gdLst>
              <a:gd name="connsiteX0" fmla="*/ 0 w 2020714"/>
              <a:gd name="connsiteY0" fmla="*/ 0 h 1259708"/>
              <a:gd name="connsiteX1" fmla="*/ 2020714 w 2020714"/>
              <a:gd name="connsiteY1" fmla="*/ 0 h 1259708"/>
              <a:gd name="connsiteX2" fmla="*/ 2020714 w 2020714"/>
              <a:gd name="connsiteY2" fmla="*/ 1259708 h 1259708"/>
              <a:gd name="connsiteX3" fmla="*/ 0 w 2020714"/>
              <a:gd name="connsiteY3" fmla="*/ 1259708 h 1259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0714" h="1259708">
                <a:moveTo>
                  <a:pt x="0" y="0"/>
                </a:moveTo>
                <a:lnTo>
                  <a:pt x="2020714" y="0"/>
                </a:lnTo>
                <a:lnTo>
                  <a:pt x="2020714" y="1259708"/>
                </a:lnTo>
                <a:lnTo>
                  <a:pt x="0" y="12597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96CA7072-20C1-14DB-788C-7E233C0D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5625324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2B08F3BB-3B94-16D4-0629-8181291E8E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03691" y="3"/>
            <a:ext cx="4588308" cy="4216399"/>
          </a:xfrm>
          <a:custGeom>
            <a:avLst/>
            <a:gdLst>
              <a:gd name="connsiteX0" fmla="*/ 0 w 4588308"/>
              <a:gd name="connsiteY0" fmla="*/ 0 h 4216399"/>
              <a:gd name="connsiteX1" fmla="*/ 4588308 w 4588308"/>
              <a:gd name="connsiteY1" fmla="*/ 0 h 4216399"/>
              <a:gd name="connsiteX2" fmla="*/ 4588308 w 4588308"/>
              <a:gd name="connsiteY2" fmla="*/ 4216399 h 4216399"/>
              <a:gd name="connsiteX3" fmla="*/ 0 w 4588308"/>
              <a:gd name="connsiteY3" fmla="*/ 4216399 h 421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8308" h="4216399">
                <a:moveTo>
                  <a:pt x="0" y="0"/>
                </a:moveTo>
                <a:lnTo>
                  <a:pt x="4588308" y="0"/>
                </a:lnTo>
                <a:lnTo>
                  <a:pt x="4588308" y="4216399"/>
                </a:lnTo>
                <a:lnTo>
                  <a:pt x="0" y="42163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79F21CF-3431-7A9F-6339-5B79F1AB9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741527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866A9B19-AD73-5361-5333-FD5A07AC783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56403" y="0"/>
            <a:ext cx="5435599" cy="6858000"/>
          </a:xfrm>
          <a:custGeom>
            <a:avLst/>
            <a:gdLst>
              <a:gd name="connsiteX0" fmla="*/ 0 w 5435599"/>
              <a:gd name="connsiteY0" fmla="*/ 0 h 6858000"/>
              <a:gd name="connsiteX1" fmla="*/ 5435599 w 5435599"/>
              <a:gd name="connsiteY1" fmla="*/ 0 h 6858000"/>
              <a:gd name="connsiteX2" fmla="*/ 5435599 w 5435599"/>
              <a:gd name="connsiteY2" fmla="*/ 6858000 h 6858000"/>
              <a:gd name="connsiteX3" fmla="*/ 0 w 54355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5599" h="6858000">
                <a:moveTo>
                  <a:pt x="0" y="0"/>
                </a:moveTo>
                <a:lnTo>
                  <a:pt x="5435599" y="0"/>
                </a:lnTo>
                <a:lnTo>
                  <a:pt x="54355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0332FD19-3C13-D3B6-A287-1EFB4294D7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5461" y="1577875"/>
            <a:ext cx="4167783" cy="3702250"/>
          </a:xfrm>
          <a:custGeom>
            <a:avLst/>
            <a:gdLst>
              <a:gd name="connsiteX0" fmla="*/ 0 w 4167783"/>
              <a:gd name="connsiteY0" fmla="*/ 0 h 3702250"/>
              <a:gd name="connsiteX1" fmla="*/ 4167783 w 4167783"/>
              <a:gd name="connsiteY1" fmla="*/ 0 h 3702250"/>
              <a:gd name="connsiteX2" fmla="*/ 4167783 w 4167783"/>
              <a:gd name="connsiteY2" fmla="*/ 3702250 h 3702250"/>
              <a:gd name="connsiteX3" fmla="*/ 0 w 4167783"/>
              <a:gd name="connsiteY3" fmla="*/ 3702250 h 3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7783" h="3702250">
                <a:moveTo>
                  <a:pt x="0" y="0"/>
                </a:moveTo>
                <a:lnTo>
                  <a:pt x="4167783" y="0"/>
                </a:lnTo>
                <a:lnTo>
                  <a:pt x="4167783" y="3702250"/>
                </a:lnTo>
                <a:lnTo>
                  <a:pt x="0" y="3702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0417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AAA8AA69-FC97-484D-D845-A07CA680297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84569" y="0"/>
            <a:ext cx="5007430" cy="6858000"/>
          </a:xfrm>
          <a:custGeom>
            <a:avLst/>
            <a:gdLst>
              <a:gd name="connsiteX0" fmla="*/ 0 w 5007430"/>
              <a:gd name="connsiteY0" fmla="*/ 0 h 6858000"/>
              <a:gd name="connsiteX1" fmla="*/ 5007430 w 5007430"/>
              <a:gd name="connsiteY1" fmla="*/ 0 h 6858000"/>
              <a:gd name="connsiteX2" fmla="*/ 5007430 w 5007430"/>
              <a:gd name="connsiteY2" fmla="*/ 6858000 h 6858000"/>
              <a:gd name="connsiteX3" fmla="*/ 0 w 500743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7430" h="6858000">
                <a:moveTo>
                  <a:pt x="0" y="0"/>
                </a:moveTo>
                <a:lnTo>
                  <a:pt x="5007430" y="0"/>
                </a:lnTo>
                <a:lnTo>
                  <a:pt x="500743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902547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F22DB668-6E3F-0E25-7F93-179B785161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85741" y="1993397"/>
            <a:ext cx="2197611" cy="1736380"/>
          </a:xfrm>
          <a:custGeom>
            <a:avLst/>
            <a:gdLst>
              <a:gd name="connsiteX0" fmla="*/ 0 w 2197611"/>
              <a:gd name="connsiteY0" fmla="*/ 0 h 1736380"/>
              <a:gd name="connsiteX1" fmla="*/ 2197611 w 2197611"/>
              <a:gd name="connsiteY1" fmla="*/ 0 h 1736380"/>
              <a:gd name="connsiteX2" fmla="*/ 2197611 w 2197611"/>
              <a:gd name="connsiteY2" fmla="*/ 1736380 h 1736380"/>
              <a:gd name="connsiteX3" fmla="*/ 0 w 2197611"/>
              <a:gd name="connsiteY3" fmla="*/ 1736380 h 1736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7611" h="1736380">
                <a:moveTo>
                  <a:pt x="0" y="0"/>
                </a:moveTo>
                <a:lnTo>
                  <a:pt x="2197611" y="0"/>
                </a:lnTo>
                <a:lnTo>
                  <a:pt x="2197611" y="1736380"/>
                </a:lnTo>
                <a:lnTo>
                  <a:pt x="0" y="17363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83239039-F7A2-AF1B-CB30-041C557B16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40870" y="3952535"/>
            <a:ext cx="2197611" cy="1736380"/>
          </a:xfrm>
          <a:custGeom>
            <a:avLst/>
            <a:gdLst>
              <a:gd name="connsiteX0" fmla="*/ 0 w 2197611"/>
              <a:gd name="connsiteY0" fmla="*/ 0 h 1736380"/>
              <a:gd name="connsiteX1" fmla="*/ 2197611 w 2197611"/>
              <a:gd name="connsiteY1" fmla="*/ 0 h 1736380"/>
              <a:gd name="connsiteX2" fmla="*/ 2197611 w 2197611"/>
              <a:gd name="connsiteY2" fmla="*/ 1736380 h 1736380"/>
              <a:gd name="connsiteX3" fmla="*/ 0 w 2197611"/>
              <a:gd name="connsiteY3" fmla="*/ 1736380 h 1736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7611" h="1736380">
                <a:moveTo>
                  <a:pt x="0" y="0"/>
                </a:moveTo>
                <a:lnTo>
                  <a:pt x="2197611" y="0"/>
                </a:lnTo>
                <a:lnTo>
                  <a:pt x="2197611" y="1736380"/>
                </a:lnTo>
                <a:lnTo>
                  <a:pt x="0" y="17363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6B0C2F65-D13B-34DE-8EA9-C2B80808A0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58075" y="3952535"/>
            <a:ext cx="2197611" cy="1736380"/>
          </a:xfrm>
          <a:custGeom>
            <a:avLst/>
            <a:gdLst>
              <a:gd name="connsiteX0" fmla="*/ 0 w 2197611"/>
              <a:gd name="connsiteY0" fmla="*/ 0 h 1736380"/>
              <a:gd name="connsiteX1" fmla="*/ 2197611 w 2197611"/>
              <a:gd name="connsiteY1" fmla="*/ 0 h 1736380"/>
              <a:gd name="connsiteX2" fmla="*/ 2197611 w 2197611"/>
              <a:gd name="connsiteY2" fmla="*/ 1736380 h 1736380"/>
              <a:gd name="connsiteX3" fmla="*/ 0 w 2197611"/>
              <a:gd name="connsiteY3" fmla="*/ 1736380 h 1736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7611" h="1736380">
                <a:moveTo>
                  <a:pt x="0" y="0"/>
                </a:moveTo>
                <a:lnTo>
                  <a:pt x="2197611" y="0"/>
                </a:lnTo>
                <a:lnTo>
                  <a:pt x="2197611" y="1736380"/>
                </a:lnTo>
                <a:lnTo>
                  <a:pt x="0" y="17363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1D623756-4FFF-C2F8-65EA-D32DD22B82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26112" y="1993397"/>
            <a:ext cx="2197611" cy="1736380"/>
          </a:xfrm>
          <a:custGeom>
            <a:avLst/>
            <a:gdLst>
              <a:gd name="connsiteX0" fmla="*/ 0 w 2197611"/>
              <a:gd name="connsiteY0" fmla="*/ 0 h 1736380"/>
              <a:gd name="connsiteX1" fmla="*/ 2197611 w 2197611"/>
              <a:gd name="connsiteY1" fmla="*/ 0 h 1736380"/>
              <a:gd name="connsiteX2" fmla="*/ 2197611 w 2197611"/>
              <a:gd name="connsiteY2" fmla="*/ 1736380 h 1736380"/>
              <a:gd name="connsiteX3" fmla="*/ 0 w 2197611"/>
              <a:gd name="connsiteY3" fmla="*/ 1736380 h 1736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7611" h="1736380">
                <a:moveTo>
                  <a:pt x="0" y="0"/>
                </a:moveTo>
                <a:lnTo>
                  <a:pt x="2197611" y="0"/>
                </a:lnTo>
                <a:lnTo>
                  <a:pt x="2197611" y="1736380"/>
                </a:lnTo>
                <a:lnTo>
                  <a:pt x="0" y="17363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5472616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E3A03597-5D83-20F8-C4B9-F43B122A5C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6767" y="1945266"/>
            <a:ext cx="5286373" cy="4292025"/>
          </a:xfrm>
          <a:custGeom>
            <a:avLst/>
            <a:gdLst>
              <a:gd name="connsiteX0" fmla="*/ 0 w 5286373"/>
              <a:gd name="connsiteY0" fmla="*/ 0 h 4292025"/>
              <a:gd name="connsiteX1" fmla="*/ 5286373 w 5286373"/>
              <a:gd name="connsiteY1" fmla="*/ 0 h 4292025"/>
              <a:gd name="connsiteX2" fmla="*/ 5286373 w 5286373"/>
              <a:gd name="connsiteY2" fmla="*/ 4292025 h 4292025"/>
              <a:gd name="connsiteX3" fmla="*/ 0 w 5286373"/>
              <a:gd name="connsiteY3" fmla="*/ 4292025 h 4292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86373" h="4292025">
                <a:moveTo>
                  <a:pt x="0" y="0"/>
                </a:moveTo>
                <a:lnTo>
                  <a:pt x="5286373" y="0"/>
                </a:lnTo>
                <a:lnTo>
                  <a:pt x="5286373" y="4292025"/>
                </a:lnTo>
                <a:lnTo>
                  <a:pt x="0" y="42920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03237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C43B9125-D15F-ED43-EA3A-62A879492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84570" y="0"/>
            <a:ext cx="5007430" cy="6858000"/>
          </a:xfrm>
          <a:custGeom>
            <a:avLst/>
            <a:gdLst>
              <a:gd name="connsiteX0" fmla="*/ 0 w 5007430"/>
              <a:gd name="connsiteY0" fmla="*/ 0 h 6858000"/>
              <a:gd name="connsiteX1" fmla="*/ 5007430 w 5007430"/>
              <a:gd name="connsiteY1" fmla="*/ 0 h 6858000"/>
              <a:gd name="connsiteX2" fmla="*/ 5007430 w 5007430"/>
              <a:gd name="connsiteY2" fmla="*/ 6858000 h 6858000"/>
              <a:gd name="connsiteX3" fmla="*/ 0 w 500743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7430" h="6858000">
                <a:moveTo>
                  <a:pt x="0" y="0"/>
                </a:moveTo>
                <a:lnTo>
                  <a:pt x="5007430" y="0"/>
                </a:lnTo>
                <a:lnTo>
                  <a:pt x="500743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4924489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2EEA01AC-19BC-AD4B-0405-622CA3D76B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20000" y="0"/>
            <a:ext cx="4572000" cy="6858000"/>
          </a:xfrm>
          <a:custGeom>
            <a:avLst/>
            <a:gdLst>
              <a:gd name="connsiteX0" fmla="*/ 0 w 4572000"/>
              <a:gd name="connsiteY0" fmla="*/ 0 h 6858000"/>
              <a:gd name="connsiteX1" fmla="*/ 4572000 w 4572000"/>
              <a:gd name="connsiteY1" fmla="*/ 0 h 6858000"/>
              <a:gd name="connsiteX2" fmla="*/ 4572000 w 4572000"/>
              <a:gd name="connsiteY2" fmla="*/ 6858000 h 6858000"/>
              <a:gd name="connsiteX3" fmla="*/ 0 w 457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6858000">
                <a:moveTo>
                  <a:pt x="0" y="0"/>
                </a:moveTo>
                <a:lnTo>
                  <a:pt x="4572000" y="0"/>
                </a:lnTo>
                <a:lnTo>
                  <a:pt x="457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61678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805B5119-9125-958B-94E4-D4ECB7F999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990" y="3907295"/>
            <a:ext cx="1984767" cy="1878875"/>
          </a:xfrm>
          <a:custGeom>
            <a:avLst/>
            <a:gdLst>
              <a:gd name="connsiteX0" fmla="*/ 0 w 1984767"/>
              <a:gd name="connsiteY0" fmla="*/ 0 h 1878875"/>
              <a:gd name="connsiteX1" fmla="*/ 1984767 w 1984767"/>
              <a:gd name="connsiteY1" fmla="*/ 0 h 1878875"/>
              <a:gd name="connsiteX2" fmla="*/ 1984767 w 1984767"/>
              <a:gd name="connsiteY2" fmla="*/ 1878875 h 1878875"/>
              <a:gd name="connsiteX3" fmla="*/ 0 w 1984767"/>
              <a:gd name="connsiteY3" fmla="*/ 1878875 h 187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4767" h="1878875">
                <a:moveTo>
                  <a:pt x="0" y="0"/>
                </a:moveTo>
                <a:lnTo>
                  <a:pt x="1984767" y="0"/>
                </a:lnTo>
                <a:lnTo>
                  <a:pt x="1984767" y="1878875"/>
                </a:lnTo>
                <a:lnTo>
                  <a:pt x="0" y="1878875"/>
                </a:lnTo>
                <a:close/>
              </a:path>
            </a:pathLst>
          </a:custGeom>
          <a:ln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87C16504-9497-7B9F-76B0-5B39AC0CFE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990" y="1146622"/>
            <a:ext cx="1984767" cy="1973760"/>
          </a:xfrm>
          <a:custGeom>
            <a:avLst/>
            <a:gdLst>
              <a:gd name="connsiteX0" fmla="*/ 0 w 1984767"/>
              <a:gd name="connsiteY0" fmla="*/ 0 h 1973760"/>
              <a:gd name="connsiteX1" fmla="*/ 1984767 w 1984767"/>
              <a:gd name="connsiteY1" fmla="*/ 0 h 1973760"/>
              <a:gd name="connsiteX2" fmla="*/ 1984767 w 1984767"/>
              <a:gd name="connsiteY2" fmla="*/ 1973760 h 1973760"/>
              <a:gd name="connsiteX3" fmla="*/ 0 w 1984767"/>
              <a:gd name="connsiteY3" fmla="*/ 1973760 h 1973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4767" h="1973760">
                <a:moveTo>
                  <a:pt x="0" y="0"/>
                </a:moveTo>
                <a:lnTo>
                  <a:pt x="1984767" y="0"/>
                </a:lnTo>
                <a:lnTo>
                  <a:pt x="1984767" y="1973760"/>
                </a:lnTo>
                <a:lnTo>
                  <a:pt x="0" y="1973760"/>
                </a:lnTo>
                <a:close/>
              </a:path>
            </a:pathLst>
          </a:custGeom>
          <a:ln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6601929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3AB9D335-E876-B219-438B-EF7A7DDC8C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67701" y="2191971"/>
            <a:ext cx="3157538" cy="4051042"/>
          </a:xfrm>
          <a:custGeom>
            <a:avLst/>
            <a:gdLst>
              <a:gd name="connsiteX0" fmla="*/ 0 w 3157538"/>
              <a:gd name="connsiteY0" fmla="*/ 0 h 4051042"/>
              <a:gd name="connsiteX1" fmla="*/ 3157538 w 3157538"/>
              <a:gd name="connsiteY1" fmla="*/ 0 h 4051042"/>
              <a:gd name="connsiteX2" fmla="*/ 3157538 w 3157538"/>
              <a:gd name="connsiteY2" fmla="*/ 4051042 h 4051042"/>
              <a:gd name="connsiteX3" fmla="*/ 0 w 3157538"/>
              <a:gd name="connsiteY3" fmla="*/ 4051042 h 4051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7538" h="4051042">
                <a:moveTo>
                  <a:pt x="0" y="0"/>
                </a:moveTo>
                <a:lnTo>
                  <a:pt x="3157538" y="0"/>
                </a:lnTo>
                <a:lnTo>
                  <a:pt x="3157538" y="4051042"/>
                </a:lnTo>
                <a:lnTo>
                  <a:pt x="0" y="40510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480197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54C24C9E-278F-9058-DE2D-73468F03F5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901" y="1"/>
            <a:ext cx="4991100" cy="5842962"/>
          </a:xfrm>
          <a:custGeom>
            <a:avLst/>
            <a:gdLst>
              <a:gd name="connsiteX0" fmla="*/ 0 w 4991100"/>
              <a:gd name="connsiteY0" fmla="*/ 0 h 5842962"/>
              <a:gd name="connsiteX1" fmla="*/ 4991100 w 4991100"/>
              <a:gd name="connsiteY1" fmla="*/ 0 h 5842962"/>
              <a:gd name="connsiteX2" fmla="*/ 4991100 w 4991100"/>
              <a:gd name="connsiteY2" fmla="*/ 5842962 h 5842962"/>
              <a:gd name="connsiteX3" fmla="*/ 0 w 4991100"/>
              <a:gd name="connsiteY3" fmla="*/ 5842962 h 584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1100" h="5842962">
                <a:moveTo>
                  <a:pt x="0" y="0"/>
                </a:moveTo>
                <a:lnTo>
                  <a:pt x="4991100" y="0"/>
                </a:lnTo>
                <a:lnTo>
                  <a:pt x="4991100" y="5842962"/>
                </a:lnTo>
                <a:lnTo>
                  <a:pt x="0" y="584296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7715362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9965CF0F-2302-21A0-902D-5110F3DAD2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6763" y="2148114"/>
            <a:ext cx="7453382" cy="4089174"/>
          </a:xfrm>
          <a:custGeom>
            <a:avLst/>
            <a:gdLst>
              <a:gd name="connsiteX0" fmla="*/ 0 w 7453382"/>
              <a:gd name="connsiteY0" fmla="*/ 0 h 4089174"/>
              <a:gd name="connsiteX1" fmla="*/ 7453382 w 7453382"/>
              <a:gd name="connsiteY1" fmla="*/ 0 h 4089174"/>
              <a:gd name="connsiteX2" fmla="*/ 7453382 w 7453382"/>
              <a:gd name="connsiteY2" fmla="*/ 4089174 h 4089174"/>
              <a:gd name="connsiteX3" fmla="*/ 0 w 7453382"/>
              <a:gd name="connsiteY3" fmla="*/ 4089174 h 408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382" h="4089174">
                <a:moveTo>
                  <a:pt x="0" y="0"/>
                </a:moveTo>
                <a:lnTo>
                  <a:pt x="7453382" y="0"/>
                </a:lnTo>
                <a:lnTo>
                  <a:pt x="7453382" y="4089174"/>
                </a:lnTo>
                <a:lnTo>
                  <a:pt x="0" y="408917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2745637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7C44520C-70BA-F6B2-23DF-FCAD9CF460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40700" y="0"/>
            <a:ext cx="4051300" cy="6858000"/>
          </a:xfrm>
          <a:custGeom>
            <a:avLst/>
            <a:gdLst>
              <a:gd name="connsiteX0" fmla="*/ 0 w 4051300"/>
              <a:gd name="connsiteY0" fmla="*/ 0 h 6858000"/>
              <a:gd name="connsiteX1" fmla="*/ 4051300 w 4051300"/>
              <a:gd name="connsiteY1" fmla="*/ 0 h 6858000"/>
              <a:gd name="connsiteX2" fmla="*/ 4051300 w 4051300"/>
              <a:gd name="connsiteY2" fmla="*/ 6858000 h 6858000"/>
              <a:gd name="connsiteX3" fmla="*/ 0 w 40513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1300" h="6858000">
                <a:moveTo>
                  <a:pt x="0" y="0"/>
                </a:moveTo>
                <a:lnTo>
                  <a:pt x="4051300" y="0"/>
                </a:lnTo>
                <a:lnTo>
                  <a:pt x="40513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220706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9D5D19C8-FD7A-CD82-1521-221B890C5D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24917" y="0"/>
            <a:ext cx="5167085" cy="6858000"/>
          </a:xfrm>
          <a:custGeom>
            <a:avLst/>
            <a:gdLst>
              <a:gd name="connsiteX0" fmla="*/ 0 w 5167085"/>
              <a:gd name="connsiteY0" fmla="*/ 0 h 6858000"/>
              <a:gd name="connsiteX1" fmla="*/ 5167085 w 5167085"/>
              <a:gd name="connsiteY1" fmla="*/ 0 h 6858000"/>
              <a:gd name="connsiteX2" fmla="*/ 5167085 w 5167085"/>
              <a:gd name="connsiteY2" fmla="*/ 6858000 h 6858000"/>
              <a:gd name="connsiteX3" fmla="*/ 0 w 516708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67085" h="6858000">
                <a:moveTo>
                  <a:pt x="0" y="0"/>
                </a:moveTo>
                <a:lnTo>
                  <a:pt x="5167085" y="0"/>
                </a:lnTo>
                <a:lnTo>
                  <a:pt x="516708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039863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879D12C6-9726-450E-636B-0C35482066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67094" y="2519236"/>
            <a:ext cx="2668703" cy="1902922"/>
          </a:xfrm>
          <a:custGeom>
            <a:avLst/>
            <a:gdLst>
              <a:gd name="connsiteX0" fmla="*/ 0 w 2668703"/>
              <a:gd name="connsiteY0" fmla="*/ 0 h 1902922"/>
              <a:gd name="connsiteX1" fmla="*/ 2668703 w 2668703"/>
              <a:gd name="connsiteY1" fmla="*/ 0 h 1902922"/>
              <a:gd name="connsiteX2" fmla="*/ 2668703 w 2668703"/>
              <a:gd name="connsiteY2" fmla="*/ 1902922 h 1902922"/>
              <a:gd name="connsiteX3" fmla="*/ 0 w 2668703"/>
              <a:gd name="connsiteY3" fmla="*/ 1902922 h 1902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8703" h="1902922">
                <a:moveTo>
                  <a:pt x="0" y="0"/>
                </a:moveTo>
                <a:lnTo>
                  <a:pt x="2668703" y="0"/>
                </a:lnTo>
                <a:lnTo>
                  <a:pt x="2668703" y="1902922"/>
                </a:lnTo>
                <a:lnTo>
                  <a:pt x="0" y="190292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15E88B96-46AB-76F3-5F54-362576B9EF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76109" y="2519236"/>
            <a:ext cx="2668703" cy="1902922"/>
          </a:xfrm>
          <a:custGeom>
            <a:avLst/>
            <a:gdLst>
              <a:gd name="connsiteX0" fmla="*/ 0 w 2668703"/>
              <a:gd name="connsiteY0" fmla="*/ 0 h 1902922"/>
              <a:gd name="connsiteX1" fmla="*/ 2668703 w 2668703"/>
              <a:gd name="connsiteY1" fmla="*/ 0 h 1902922"/>
              <a:gd name="connsiteX2" fmla="*/ 2668703 w 2668703"/>
              <a:gd name="connsiteY2" fmla="*/ 1902922 h 1902922"/>
              <a:gd name="connsiteX3" fmla="*/ 0 w 2668703"/>
              <a:gd name="connsiteY3" fmla="*/ 1902922 h 1902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8703" h="1902922">
                <a:moveTo>
                  <a:pt x="0" y="0"/>
                </a:moveTo>
                <a:lnTo>
                  <a:pt x="2668703" y="0"/>
                </a:lnTo>
                <a:lnTo>
                  <a:pt x="2668703" y="1902922"/>
                </a:lnTo>
                <a:lnTo>
                  <a:pt x="0" y="190292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0BF9C905-6E23-8FF8-EA37-670916EC54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8078" y="2519236"/>
            <a:ext cx="2668703" cy="1902922"/>
          </a:xfrm>
          <a:custGeom>
            <a:avLst/>
            <a:gdLst>
              <a:gd name="connsiteX0" fmla="*/ 0 w 2668703"/>
              <a:gd name="connsiteY0" fmla="*/ 0 h 1902922"/>
              <a:gd name="connsiteX1" fmla="*/ 2668703 w 2668703"/>
              <a:gd name="connsiteY1" fmla="*/ 0 h 1902922"/>
              <a:gd name="connsiteX2" fmla="*/ 2668703 w 2668703"/>
              <a:gd name="connsiteY2" fmla="*/ 1902922 h 1902922"/>
              <a:gd name="connsiteX3" fmla="*/ 0 w 2668703"/>
              <a:gd name="connsiteY3" fmla="*/ 1902922 h 1902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8703" h="1902922">
                <a:moveTo>
                  <a:pt x="0" y="0"/>
                </a:moveTo>
                <a:lnTo>
                  <a:pt x="2668703" y="0"/>
                </a:lnTo>
                <a:lnTo>
                  <a:pt x="2668703" y="1902922"/>
                </a:lnTo>
                <a:lnTo>
                  <a:pt x="0" y="190292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1872523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A0AEEE49-1D77-7440-239C-2F4858517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36114" y="0"/>
            <a:ext cx="4455886" cy="6858000"/>
          </a:xfrm>
          <a:custGeom>
            <a:avLst/>
            <a:gdLst>
              <a:gd name="connsiteX0" fmla="*/ 0 w 4455886"/>
              <a:gd name="connsiteY0" fmla="*/ 0 h 6858000"/>
              <a:gd name="connsiteX1" fmla="*/ 4455886 w 4455886"/>
              <a:gd name="connsiteY1" fmla="*/ 0 h 6858000"/>
              <a:gd name="connsiteX2" fmla="*/ 4455886 w 4455886"/>
              <a:gd name="connsiteY2" fmla="*/ 6858000 h 6858000"/>
              <a:gd name="connsiteX3" fmla="*/ 0 w 44558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5886" h="6858000">
                <a:moveTo>
                  <a:pt x="0" y="0"/>
                </a:moveTo>
                <a:lnTo>
                  <a:pt x="4455886" y="0"/>
                </a:lnTo>
                <a:lnTo>
                  <a:pt x="445588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228484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59F2E473-5B27-91E8-2A45-8C3C46E996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" y="0"/>
            <a:ext cx="12191997" cy="4794250"/>
          </a:xfrm>
          <a:custGeom>
            <a:avLst/>
            <a:gdLst>
              <a:gd name="connsiteX0" fmla="*/ 0 w 12191997"/>
              <a:gd name="connsiteY0" fmla="*/ 0 h 4794250"/>
              <a:gd name="connsiteX1" fmla="*/ 12191997 w 12191997"/>
              <a:gd name="connsiteY1" fmla="*/ 0 h 4794250"/>
              <a:gd name="connsiteX2" fmla="*/ 12191997 w 12191997"/>
              <a:gd name="connsiteY2" fmla="*/ 4794250 h 4794250"/>
              <a:gd name="connsiteX3" fmla="*/ 0 w 12191997"/>
              <a:gd name="connsiteY3" fmla="*/ 4794250 h 479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7" h="4794250">
                <a:moveTo>
                  <a:pt x="0" y="0"/>
                </a:moveTo>
                <a:lnTo>
                  <a:pt x="12191997" y="0"/>
                </a:lnTo>
                <a:lnTo>
                  <a:pt x="12191997" y="4794250"/>
                </a:lnTo>
                <a:lnTo>
                  <a:pt x="0" y="4794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460536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그림 개체 틀 13">
            <a:extLst>
              <a:ext uri="{FF2B5EF4-FFF2-40B4-BE49-F238E27FC236}">
                <a16:creationId xmlns:a16="http://schemas.microsoft.com/office/drawing/2014/main" id="{79E7B533-6991-25B0-6609-CAB185168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69972" y="2"/>
            <a:ext cx="2422030" cy="6854586"/>
          </a:xfrm>
          <a:custGeom>
            <a:avLst/>
            <a:gdLst>
              <a:gd name="connsiteX0" fmla="*/ 0 w 2422030"/>
              <a:gd name="connsiteY0" fmla="*/ 0 h 6854586"/>
              <a:gd name="connsiteX1" fmla="*/ 2422030 w 2422030"/>
              <a:gd name="connsiteY1" fmla="*/ 0 h 6854586"/>
              <a:gd name="connsiteX2" fmla="*/ 2422030 w 2422030"/>
              <a:gd name="connsiteY2" fmla="*/ 6854586 h 6854586"/>
              <a:gd name="connsiteX3" fmla="*/ 0 w 2422030"/>
              <a:gd name="connsiteY3" fmla="*/ 6854586 h 6854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2030" h="6854586">
                <a:moveTo>
                  <a:pt x="0" y="0"/>
                </a:moveTo>
                <a:lnTo>
                  <a:pt x="2422030" y="0"/>
                </a:lnTo>
                <a:lnTo>
                  <a:pt x="2422030" y="6854586"/>
                </a:lnTo>
                <a:lnTo>
                  <a:pt x="0" y="685458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EAD2D5E2-BD29-9D3C-4AED-1057747FD3E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5236" y="3412"/>
            <a:ext cx="2394739" cy="4292816"/>
          </a:xfrm>
          <a:custGeom>
            <a:avLst/>
            <a:gdLst>
              <a:gd name="connsiteX0" fmla="*/ 0 w 2394739"/>
              <a:gd name="connsiteY0" fmla="*/ 0 h 4292816"/>
              <a:gd name="connsiteX1" fmla="*/ 2394739 w 2394739"/>
              <a:gd name="connsiteY1" fmla="*/ 0 h 4292816"/>
              <a:gd name="connsiteX2" fmla="*/ 2394739 w 2394739"/>
              <a:gd name="connsiteY2" fmla="*/ 4292816 h 4292816"/>
              <a:gd name="connsiteX3" fmla="*/ 0 w 2394739"/>
              <a:gd name="connsiteY3" fmla="*/ 4292816 h 429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4739" h="4292816">
                <a:moveTo>
                  <a:pt x="0" y="0"/>
                </a:moveTo>
                <a:lnTo>
                  <a:pt x="2394739" y="0"/>
                </a:lnTo>
                <a:lnTo>
                  <a:pt x="2394739" y="4292816"/>
                </a:lnTo>
                <a:lnTo>
                  <a:pt x="0" y="42928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3C971107-2430-88B8-99CE-FA30D04027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41902" y="4"/>
            <a:ext cx="2333334" cy="4296229"/>
          </a:xfrm>
          <a:custGeom>
            <a:avLst/>
            <a:gdLst>
              <a:gd name="connsiteX0" fmla="*/ 0 w 2333334"/>
              <a:gd name="connsiteY0" fmla="*/ 0 h 4296229"/>
              <a:gd name="connsiteX1" fmla="*/ 2333334 w 2333334"/>
              <a:gd name="connsiteY1" fmla="*/ 0 h 4296229"/>
              <a:gd name="connsiteX2" fmla="*/ 2333334 w 2333334"/>
              <a:gd name="connsiteY2" fmla="*/ 4296229 h 4296229"/>
              <a:gd name="connsiteX3" fmla="*/ 0 w 2333334"/>
              <a:gd name="connsiteY3" fmla="*/ 4296229 h 4296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3334" h="4296229">
                <a:moveTo>
                  <a:pt x="0" y="0"/>
                </a:moveTo>
                <a:lnTo>
                  <a:pt x="2333334" y="0"/>
                </a:lnTo>
                <a:lnTo>
                  <a:pt x="2333334" y="4296229"/>
                </a:lnTo>
                <a:lnTo>
                  <a:pt x="0" y="429622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53002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C8C93AC3-1B9D-23B2-C2FF-A52043D1950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23142" y="4211515"/>
            <a:ext cx="3104763" cy="2025772"/>
          </a:xfrm>
          <a:custGeom>
            <a:avLst/>
            <a:gdLst>
              <a:gd name="connsiteX0" fmla="*/ 0 w 3104763"/>
              <a:gd name="connsiteY0" fmla="*/ 0 h 2025772"/>
              <a:gd name="connsiteX1" fmla="*/ 3104763 w 3104763"/>
              <a:gd name="connsiteY1" fmla="*/ 0 h 2025772"/>
              <a:gd name="connsiteX2" fmla="*/ 3104763 w 3104763"/>
              <a:gd name="connsiteY2" fmla="*/ 2025772 h 2025772"/>
              <a:gd name="connsiteX3" fmla="*/ 0 w 3104763"/>
              <a:gd name="connsiteY3" fmla="*/ 2025772 h 2025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4763" h="2025772">
                <a:moveTo>
                  <a:pt x="0" y="0"/>
                </a:moveTo>
                <a:lnTo>
                  <a:pt x="3104763" y="0"/>
                </a:lnTo>
                <a:lnTo>
                  <a:pt x="3104763" y="2025772"/>
                </a:lnTo>
                <a:lnTo>
                  <a:pt x="0" y="202577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F886FBC3-A098-FC1D-05F6-A2DA220A10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23141" y="2262073"/>
            <a:ext cx="3104763" cy="1949442"/>
          </a:xfrm>
          <a:custGeom>
            <a:avLst/>
            <a:gdLst>
              <a:gd name="connsiteX0" fmla="*/ 0 w 3104763"/>
              <a:gd name="connsiteY0" fmla="*/ 0 h 2025772"/>
              <a:gd name="connsiteX1" fmla="*/ 3104763 w 3104763"/>
              <a:gd name="connsiteY1" fmla="*/ 0 h 2025772"/>
              <a:gd name="connsiteX2" fmla="*/ 3104763 w 3104763"/>
              <a:gd name="connsiteY2" fmla="*/ 2025772 h 2025772"/>
              <a:gd name="connsiteX3" fmla="*/ 0 w 3104763"/>
              <a:gd name="connsiteY3" fmla="*/ 2025772 h 2025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4763" h="2025772">
                <a:moveTo>
                  <a:pt x="0" y="0"/>
                </a:moveTo>
                <a:lnTo>
                  <a:pt x="3104763" y="0"/>
                </a:lnTo>
                <a:lnTo>
                  <a:pt x="3104763" y="2025772"/>
                </a:lnTo>
                <a:lnTo>
                  <a:pt x="0" y="202577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025180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EE87C19D-6490-1236-E33D-C56F6927CC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1223" y="1297223"/>
            <a:ext cx="2019286" cy="4232178"/>
          </a:xfrm>
          <a:custGeom>
            <a:avLst/>
            <a:gdLst>
              <a:gd name="connsiteX0" fmla="*/ 267979 w 2019286"/>
              <a:gd name="connsiteY0" fmla="*/ 0 h 4232178"/>
              <a:gd name="connsiteX1" fmla="*/ 1751307 w 2019286"/>
              <a:gd name="connsiteY1" fmla="*/ 0 h 4232178"/>
              <a:gd name="connsiteX2" fmla="*/ 2019286 w 2019286"/>
              <a:gd name="connsiteY2" fmla="*/ 267979 h 4232178"/>
              <a:gd name="connsiteX3" fmla="*/ 2019286 w 2019286"/>
              <a:gd name="connsiteY3" fmla="*/ 3964199 h 4232178"/>
              <a:gd name="connsiteX4" fmla="*/ 1751307 w 2019286"/>
              <a:gd name="connsiteY4" fmla="*/ 4232178 h 4232178"/>
              <a:gd name="connsiteX5" fmla="*/ 267979 w 2019286"/>
              <a:gd name="connsiteY5" fmla="*/ 4232178 h 4232178"/>
              <a:gd name="connsiteX6" fmla="*/ 0 w 2019286"/>
              <a:gd name="connsiteY6" fmla="*/ 3964199 h 4232178"/>
              <a:gd name="connsiteX7" fmla="*/ 0 w 2019286"/>
              <a:gd name="connsiteY7" fmla="*/ 267979 h 4232178"/>
              <a:gd name="connsiteX8" fmla="*/ 267979 w 2019286"/>
              <a:gd name="connsiteY8" fmla="*/ 0 h 4232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19286" h="4232178">
                <a:moveTo>
                  <a:pt x="267979" y="0"/>
                </a:moveTo>
                <a:lnTo>
                  <a:pt x="1751307" y="0"/>
                </a:lnTo>
                <a:cubicBezTo>
                  <a:pt x="1899308" y="0"/>
                  <a:pt x="2019286" y="119978"/>
                  <a:pt x="2019286" y="267979"/>
                </a:cubicBezTo>
                <a:lnTo>
                  <a:pt x="2019286" y="3964199"/>
                </a:lnTo>
                <a:cubicBezTo>
                  <a:pt x="2019286" y="4112200"/>
                  <a:pt x="1899308" y="4232178"/>
                  <a:pt x="1751307" y="4232178"/>
                </a:cubicBezTo>
                <a:lnTo>
                  <a:pt x="267979" y="4232178"/>
                </a:lnTo>
                <a:cubicBezTo>
                  <a:pt x="119978" y="4232178"/>
                  <a:pt x="0" y="4112200"/>
                  <a:pt x="0" y="3964199"/>
                </a:cubicBezTo>
                <a:lnTo>
                  <a:pt x="0" y="267979"/>
                </a:lnTo>
                <a:cubicBezTo>
                  <a:pt x="0" y="119978"/>
                  <a:pt x="119978" y="0"/>
                  <a:pt x="26797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5533807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5B5F4AB0-3212-A64E-E9AE-53960CED65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68161" y="1310644"/>
            <a:ext cx="2023643" cy="4204335"/>
          </a:xfrm>
          <a:custGeom>
            <a:avLst/>
            <a:gdLst>
              <a:gd name="connsiteX0" fmla="*/ 213454 w 2023643"/>
              <a:gd name="connsiteY0" fmla="*/ 0 h 4204335"/>
              <a:gd name="connsiteX1" fmla="*/ 1810189 w 2023643"/>
              <a:gd name="connsiteY1" fmla="*/ 0 h 4204335"/>
              <a:gd name="connsiteX2" fmla="*/ 2023643 w 2023643"/>
              <a:gd name="connsiteY2" fmla="*/ 213454 h 4204335"/>
              <a:gd name="connsiteX3" fmla="*/ 2023643 w 2023643"/>
              <a:gd name="connsiteY3" fmla="*/ 3990881 h 4204335"/>
              <a:gd name="connsiteX4" fmla="*/ 1810189 w 2023643"/>
              <a:gd name="connsiteY4" fmla="*/ 4204335 h 4204335"/>
              <a:gd name="connsiteX5" fmla="*/ 213454 w 2023643"/>
              <a:gd name="connsiteY5" fmla="*/ 4204335 h 4204335"/>
              <a:gd name="connsiteX6" fmla="*/ 0 w 2023643"/>
              <a:gd name="connsiteY6" fmla="*/ 3990881 h 4204335"/>
              <a:gd name="connsiteX7" fmla="*/ 0 w 2023643"/>
              <a:gd name="connsiteY7" fmla="*/ 213454 h 4204335"/>
              <a:gd name="connsiteX8" fmla="*/ 213454 w 2023643"/>
              <a:gd name="connsiteY8" fmla="*/ 0 h 4204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3643" h="4204335">
                <a:moveTo>
                  <a:pt x="213454" y="0"/>
                </a:moveTo>
                <a:lnTo>
                  <a:pt x="1810189" y="0"/>
                </a:lnTo>
                <a:cubicBezTo>
                  <a:pt x="1928076" y="0"/>
                  <a:pt x="2023643" y="95567"/>
                  <a:pt x="2023643" y="213454"/>
                </a:cubicBezTo>
                <a:lnTo>
                  <a:pt x="2023643" y="3990881"/>
                </a:lnTo>
                <a:cubicBezTo>
                  <a:pt x="2023643" y="4108768"/>
                  <a:pt x="1928076" y="4204335"/>
                  <a:pt x="1810189" y="4204335"/>
                </a:cubicBezTo>
                <a:lnTo>
                  <a:pt x="213454" y="4204335"/>
                </a:lnTo>
                <a:cubicBezTo>
                  <a:pt x="95567" y="4204335"/>
                  <a:pt x="0" y="4108768"/>
                  <a:pt x="0" y="3990881"/>
                </a:cubicBezTo>
                <a:lnTo>
                  <a:pt x="0" y="213454"/>
                </a:lnTo>
                <a:cubicBezTo>
                  <a:pt x="0" y="95567"/>
                  <a:pt x="95567" y="0"/>
                  <a:pt x="21345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2692415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D12F9DB9-3789-6987-66E9-D1AFFD0192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1575" y="1532557"/>
            <a:ext cx="6982667" cy="3927751"/>
          </a:xfrm>
          <a:custGeom>
            <a:avLst/>
            <a:gdLst>
              <a:gd name="connsiteX0" fmla="*/ 0 w 6982667"/>
              <a:gd name="connsiteY0" fmla="*/ 0 h 3927751"/>
              <a:gd name="connsiteX1" fmla="*/ 6982667 w 6982667"/>
              <a:gd name="connsiteY1" fmla="*/ 0 h 3927751"/>
              <a:gd name="connsiteX2" fmla="*/ 6982667 w 6982667"/>
              <a:gd name="connsiteY2" fmla="*/ 3927751 h 3927751"/>
              <a:gd name="connsiteX3" fmla="*/ 0 w 6982667"/>
              <a:gd name="connsiteY3" fmla="*/ 3927751 h 3927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2667" h="3927751">
                <a:moveTo>
                  <a:pt x="0" y="0"/>
                </a:moveTo>
                <a:lnTo>
                  <a:pt x="6982667" y="0"/>
                </a:lnTo>
                <a:lnTo>
                  <a:pt x="6982667" y="3927751"/>
                </a:lnTo>
                <a:lnTo>
                  <a:pt x="0" y="39277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153059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6097CFEB-D3CA-0EA2-EB9E-79C0FEAC62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8295" y="2276403"/>
            <a:ext cx="4205704" cy="2803803"/>
          </a:xfrm>
          <a:custGeom>
            <a:avLst/>
            <a:gdLst>
              <a:gd name="connsiteX0" fmla="*/ 0 w 4205704"/>
              <a:gd name="connsiteY0" fmla="*/ 0 h 2803803"/>
              <a:gd name="connsiteX1" fmla="*/ 4205704 w 4205704"/>
              <a:gd name="connsiteY1" fmla="*/ 0 h 2803803"/>
              <a:gd name="connsiteX2" fmla="*/ 4205704 w 4205704"/>
              <a:gd name="connsiteY2" fmla="*/ 2803803 h 2803803"/>
              <a:gd name="connsiteX3" fmla="*/ 0 w 4205704"/>
              <a:gd name="connsiteY3" fmla="*/ 2803803 h 280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5704" h="2803803">
                <a:moveTo>
                  <a:pt x="0" y="0"/>
                </a:moveTo>
                <a:lnTo>
                  <a:pt x="4205704" y="0"/>
                </a:lnTo>
                <a:lnTo>
                  <a:pt x="4205704" y="2803803"/>
                </a:lnTo>
                <a:lnTo>
                  <a:pt x="0" y="280380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9358178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911BAC3F-735B-302E-C9E5-67D85CDBE3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0791" y="2272043"/>
            <a:ext cx="5477189" cy="2537459"/>
          </a:xfrm>
          <a:custGeom>
            <a:avLst/>
            <a:gdLst>
              <a:gd name="connsiteX0" fmla="*/ 339106 w 5477189"/>
              <a:gd name="connsiteY0" fmla="*/ 0 h 2537459"/>
              <a:gd name="connsiteX1" fmla="*/ 5138083 w 5477189"/>
              <a:gd name="connsiteY1" fmla="*/ 0 h 2537459"/>
              <a:gd name="connsiteX2" fmla="*/ 5477189 w 5477189"/>
              <a:gd name="connsiteY2" fmla="*/ 339106 h 2537459"/>
              <a:gd name="connsiteX3" fmla="*/ 5477189 w 5477189"/>
              <a:gd name="connsiteY3" fmla="*/ 2198353 h 2537459"/>
              <a:gd name="connsiteX4" fmla="*/ 5138083 w 5477189"/>
              <a:gd name="connsiteY4" fmla="*/ 2537459 h 2537459"/>
              <a:gd name="connsiteX5" fmla="*/ 339106 w 5477189"/>
              <a:gd name="connsiteY5" fmla="*/ 2537459 h 2537459"/>
              <a:gd name="connsiteX6" fmla="*/ 0 w 5477189"/>
              <a:gd name="connsiteY6" fmla="*/ 2198353 h 2537459"/>
              <a:gd name="connsiteX7" fmla="*/ 0 w 5477189"/>
              <a:gd name="connsiteY7" fmla="*/ 339106 h 2537459"/>
              <a:gd name="connsiteX8" fmla="*/ 339106 w 5477189"/>
              <a:gd name="connsiteY8" fmla="*/ 0 h 253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7189" h="2537459">
                <a:moveTo>
                  <a:pt x="339106" y="0"/>
                </a:moveTo>
                <a:lnTo>
                  <a:pt x="5138083" y="0"/>
                </a:lnTo>
                <a:cubicBezTo>
                  <a:pt x="5325366" y="0"/>
                  <a:pt x="5477189" y="151823"/>
                  <a:pt x="5477189" y="339106"/>
                </a:cubicBezTo>
                <a:lnTo>
                  <a:pt x="5477189" y="2198353"/>
                </a:lnTo>
                <a:cubicBezTo>
                  <a:pt x="5477189" y="2385636"/>
                  <a:pt x="5325366" y="2537459"/>
                  <a:pt x="5138083" y="2537459"/>
                </a:cubicBezTo>
                <a:lnTo>
                  <a:pt x="339106" y="2537459"/>
                </a:lnTo>
                <a:cubicBezTo>
                  <a:pt x="151823" y="2537459"/>
                  <a:pt x="0" y="2385636"/>
                  <a:pt x="0" y="2198353"/>
                </a:cubicBezTo>
                <a:lnTo>
                  <a:pt x="0" y="339106"/>
                </a:lnTo>
                <a:cubicBezTo>
                  <a:pt x="0" y="151823"/>
                  <a:pt x="151823" y="0"/>
                  <a:pt x="3391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199396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6AC8989C-480F-384A-9FCC-61BFA06669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3650" y="2405308"/>
            <a:ext cx="4495800" cy="2803803"/>
          </a:xfrm>
          <a:custGeom>
            <a:avLst/>
            <a:gdLst>
              <a:gd name="connsiteX0" fmla="*/ 0 w 4495800"/>
              <a:gd name="connsiteY0" fmla="*/ 0 h 2803803"/>
              <a:gd name="connsiteX1" fmla="*/ 4495800 w 4495800"/>
              <a:gd name="connsiteY1" fmla="*/ 0 h 2803803"/>
              <a:gd name="connsiteX2" fmla="*/ 4495800 w 4495800"/>
              <a:gd name="connsiteY2" fmla="*/ 2803803 h 2803803"/>
              <a:gd name="connsiteX3" fmla="*/ 0 w 4495800"/>
              <a:gd name="connsiteY3" fmla="*/ 2803803 h 280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800" h="2803803">
                <a:moveTo>
                  <a:pt x="0" y="0"/>
                </a:moveTo>
                <a:lnTo>
                  <a:pt x="4495800" y="0"/>
                </a:lnTo>
                <a:lnTo>
                  <a:pt x="4495800" y="2803803"/>
                </a:lnTo>
                <a:lnTo>
                  <a:pt x="0" y="280380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4907264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B90671FC-48C7-47DA-CB0B-734EED2E49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99001" y="2300"/>
            <a:ext cx="2893003" cy="6855703"/>
          </a:xfrm>
          <a:custGeom>
            <a:avLst/>
            <a:gdLst>
              <a:gd name="connsiteX0" fmla="*/ 0 w 2893003"/>
              <a:gd name="connsiteY0" fmla="*/ 0 h 6855703"/>
              <a:gd name="connsiteX1" fmla="*/ 2893003 w 2893003"/>
              <a:gd name="connsiteY1" fmla="*/ 0 h 6855703"/>
              <a:gd name="connsiteX2" fmla="*/ 2893003 w 2893003"/>
              <a:gd name="connsiteY2" fmla="*/ 6855703 h 6855703"/>
              <a:gd name="connsiteX3" fmla="*/ 0 w 2893003"/>
              <a:gd name="connsiteY3" fmla="*/ 6855703 h 6855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3003" h="6855703">
                <a:moveTo>
                  <a:pt x="0" y="0"/>
                </a:moveTo>
                <a:lnTo>
                  <a:pt x="2893003" y="0"/>
                </a:lnTo>
                <a:lnTo>
                  <a:pt x="2893003" y="6855703"/>
                </a:lnTo>
                <a:lnTo>
                  <a:pt x="0" y="685570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05233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EA7139C9-A06F-B7F8-9D5E-AD31529AB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7064"/>
            <a:ext cx="3334512" cy="6840939"/>
          </a:xfrm>
          <a:custGeom>
            <a:avLst/>
            <a:gdLst>
              <a:gd name="connsiteX0" fmla="*/ 0 w 3334512"/>
              <a:gd name="connsiteY0" fmla="*/ 0 h 6840939"/>
              <a:gd name="connsiteX1" fmla="*/ 3334512 w 3334512"/>
              <a:gd name="connsiteY1" fmla="*/ 0 h 6840939"/>
              <a:gd name="connsiteX2" fmla="*/ 3334512 w 3334512"/>
              <a:gd name="connsiteY2" fmla="*/ 6840939 h 6840939"/>
              <a:gd name="connsiteX3" fmla="*/ 0 w 3334512"/>
              <a:gd name="connsiteY3" fmla="*/ 6840939 h 6840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4512" h="6840939">
                <a:moveTo>
                  <a:pt x="0" y="0"/>
                </a:moveTo>
                <a:lnTo>
                  <a:pt x="3334512" y="0"/>
                </a:lnTo>
                <a:lnTo>
                  <a:pt x="3334512" y="6840939"/>
                </a:lnTo>
                <a:lnTo>
                  <a:pt x="0" y="68409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4709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6C3D198D-0693-C4D2-3DA0-31BDB2BE6E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26479" y="3523452"/>
            <a:ext cx="1519266" cy="1200405"/>
          </a:xfrm>
          <a:custGeom>
            <a:avLst/>
            <a:gdLst>
              <a:gd name="connsiteX0" fmla="*/ 0 w 1519266"/>
              <a:gd name="connsiteY0" fmla="*/ 0 h 1200405"/>
              <a:gd name="connsiteX1" fmla="*/ 1519266 w 1519266"/>
              <a:gd name="connsiteY1" fmla="*/ 0 h 1200405"/>
              <a:gd name="connsiteX2" fmla="*/ 1519266 w 1519266"/>
              <a:gd name="connsiteY2" fmla="*/ 1200405 h 1200405"/>
              <a:gd name="connsiteX3" fmla="*/ 0 w 1519266"/>
              <a:gd name="connsiteY3" fmla="*/ 1200405 h 1200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9266" h="1200405">
                <a:moveTo>
                  <a:pt x="0" y="0"/>
                </a:moveTo>
                <a:lnTo>
                  <a:pt x="1519266" y="0"/>
                </a:lnTo>
                <a:lnTo>
                  <a:pt x="1519266" y="1200405"/>
                </a:lnTo>
                <a:lnTo>
                  <a:pt x="0" y="120040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11090950-D873-F2D3-793E-EBC252C4AEA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94169" y="3523452"/>
            <a:ext cx="1519266" cy="1200405"/>
          </a:xfrm>
          <a:custGeom>
            <a:avLst/>
            <a:gdLst>
              <a:gd name="connsiteX0" fmla="*/ 0 w 1519266"/>
              <a:gd name="connsiteY0" fmla="*/ 0 h 1200405"/>
              <a:gd name="connsiteX1" fmla="*/ 1519266 w 1519266"/>
              <a:gd name="connsiteY1" fmla="*/ 0 h 1200405"/>
              <a:gd name="connsiteX2" fmla="*/ 1519266 w 1519266"/>
              <a:gd name="connsiteY2" fmla="*/ 1200405 h 1200405"/>
              <a:gd name="connsiteX3" fmla="*/ 0 w 1519266"/>
              <a:gd name="connsiteY3" fmla="*/ 1200405 h 1200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9266" h="1200405">
                <a:moveTo>
                  <a:pt x="0" y="0"/>
                </a:moveTo>
                <a:lnTo>
                  <a:pt x="1519266" y="0"/>
                </a:lnTo>
                <a:lnTo>
                  <a:pt x="1519266" y="1200405"/>
                </a:lnTo>
                <a:lnTo>
                  <a:pt x="0" y="120040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6D4BCA0E-E3C7-CB62-835A-CBD2F08F275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09136" y="1784200"/>
            <a:ext cx="3549399" cy="2092493"/>
          </a:xfrm>
          <a:custGeom>
            <a:avLst/>
            <a:gdLst>
              <a:gd name="connsiteX0" fmla="*/ 0 w 3549399"/>
              <a:gd name="connsiteY0" fmla="*/ 0 h 2092493"/>
              <a:gd name="connsiteX1" fmla="*/ 3549399 w 3549399"/>
              <a:gd name="connsiteY1" fmla="*/ 0 h 2092493"/>
              <a:gd name="connsiteX2" fmla="*/ 3549399 w 3549399"/>
              <a:gd name="connsiteY2" fmla="*/ 2092493 h 2092493"/>
              <a:gd name="connsiteX3" fmla="*/ 0 w 3549399"/>
              <a:gd name="connsiteY3" fmla="*/ 2092493 h 2092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9399" h="2092493">
                <a:moveTo>
                  <a:pt x="0" y="0"/>
                </a:moveTo>
                <a:lnTo>
                  <a:pt x="3549399" y="0"/>
                </a:lnTo>
                <a:lnTo>
                  <a:pt x="3549399" y="2092493"/>
                </a:lnTo>
                <a:lnTo>
                  <a:pt x="0" y="209249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5971009A-6E36-E5DB-50B2-7C1AA69CBB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8073" y="3523452"/>
            <a:ext cx="1519266" cy="1200405"/>
          </a:xfrm>
          <a:custGeom>
            <a:avLst/>
            <a:gdLst>
              <a:gd name="connsiteX0" fmla="*/ 0 w 1519266"/>
              <a:gd name="connsiteY0" fmla="*/ 0 h 1200405"/>
              <a:gd name="connsiteX1" fmla="*/ 1519266 w 1519266"/>
              <a:gd name="connsiteY1" fmla="*/ 0 h 1200405"/>
              <a:gd name="connsiteX2" fmla="*/ 1519266 w 1519266"/>
              <a:gd name="connsiteY2" fmla="*/ 1200405 h 1200405"/>
              <a:gd name="connsiteX3" fmla="*/ 0 w 1519266"/>
              <a:gd name="connsiteY3" fmla="*/ 1200405 h 1200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9266" h="1200405">
                <a:moveTo>
                  <a:pt x="0" y="0"/>
                </a:moveTo>
                <a:lnTo>
                  <a:pt x="1519266" y="0"/>
                </a:lnTo>
                <a:lnTo>
                  <a:pt x="1519266" y="1200405"/>
                </a:lnTo>
                <a:lnTo>
                  <a:pt x="0" y="120040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7770291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961E7D4C-B1DF-1C1B-374F-586889176E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3" y="2022058"/>
            <a:ext cx="2047101" cy="3702459"/>
          </a:xfrm>
          <a:custGeom>
            <a:avLst/>
            <a:gdLst>
              <a:gd name="connsiteX0" fmla="*/ 0 w 2047101"/>
              <a:gd name="connsiteY0" fmla="*/ 0 h 3702459"/>
              <a:gd name="connsiteX1" fmla="*/ 2047101 w 2047101"/>
              <a:gd name="connsiteY1" fmla="*/ 0 h 3702459"/>
              <a:gd name="connsiteX2" fmla="*/ 2047101 w 2047101"/>
              <a:gd name="connsiteY2" fmla="*/ 3702459 h 3702459"/>
              <a:gd name="connsiteX3" fmla="*/ 0 w 2047101"/>
              <a:gd name="connsiteY3" fmla="*/ 3702459 h 3702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7101" h="3702459">
                <a:moveTo>
                  <a:pt x="0" y="0"/>
                </a:moveTo>
                <a:lnTo>
                  <a:pt x="2047101" y="0"/>
                </a:lnTo>
                <a:lnTo>
                  <a:pt x="2047101" y="3702459"/>
                </a:lnTo>
                <a:lnTo>
                  <a:pt x="0" y="370245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4772341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8">
            <a:extLst>
              <a:ext uri="{FF2B5EF4-FFF2-40B4-BE49-F238E27FC236}">
                <a16:creationId xmlns:a16="http://schemas.microsoft.com/office/drawing/2014/main" id="{7FBBD2D9-9638-697E-3ECE-D3FCBB544CC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90490" y="3762595"/>
            <a:ext cx="2187488" cy="1733339"/>
          </a:xfrm>
          <a:custGeom>
            <a:avLst/>
            <a:gdLst>
              <a:gd name="connsiteX0" fmla="*/ 0 w 2187488"/>
              <a:gd name="connsiteY0" fmla="*/ 0 h 1733339"/>
              <a:gd name="connsiteX1" fmla="*/ 2187488 w 2187488"/>
              <a:gd name="connsiteY1" fmla="*/ 0 h 1733339"/>
              <a:gd name="connsiteX2" fmla="*/ 2187488 w 2187488"/>
              <a:gd name="connsiteY2" fmla="*/ 1733339 h 1733339"/>
              <a:gd name="connsiteX3" fmla="*/ 0 w 2187488"/>
              <a:gd name="connsiteY3" fmla="*/ 1733339 h 173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7488" h="1733339">
                <a:moveTo>
                  <a:pt x="0" y="0"/>
                </a:moveTo>
                <a:lnTo>
                  <a:pt x="2187488" y="0"/>
                </a:lnTo>
                <a:lnTo>
                  <a:pt x="2187488" y="1733339"/>
                </a:lnTo>
                <a:lnTo>
                  <a:pt x="0" y="1733339"/>
                </a:ln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7" name="그림 개체 틀 8">
            <a:extLst>
              <a:ext uri="{FF2B5EF4-FFF2-40B4-BE49-F238E27FC236}">
                <a16:creationId xmlns:a16="http://schemas.microsoft.com/office/drawing/2014/main" id="{7C6048E5-FCBD-A1A3-7024-79749107DD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09107" y="2270117"/>
            <a:ext cx="2187488" cy="1733339"/>
          </a:xfrm>
          <a:custGeom>
            <a:avLst/>
            <a:gdLst>
              <a:gd name="connsiteX0" fmla="*/ 0 w 2187488"/>
              <a:gd name="connsiteY0" fmla="*/ 0 h 1733339"/>
              <a:gd name="connsiteX1" fmla="*/ 2187488 w 2187488"/>
              <a:gd name="connsiteY1" fmla="*/ 0 h 1733339"/>
              <a:gd name="connsiteX2" fmla="*/ 2187488 w 2187488"/>
              <a:gd name="connsiteY2" fmla="*/ 1733339 h 1733339"/>
              <a:gd name="connsiteX3" fmla="*/ 0 w 2187488"/>
              <a:gd name="connsiteY3" fmla="*/ 1733339 h 173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7488" h="1733339">
                <a:moveTo>
                  <a:pt x="0" y="0"/>
                </a:moveTo>
                <a:lnTo>
                  <a:pt x="2187488" y="0"/>
                </a:lnTo>
                <a:lnTo>
                  <a:pt x="2187488" y="1733339"/>
                </a:lnTo>
                <a:lnTo>
                  <a:pt x="0" y="1733339"/>
                </a:ln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8" name="그림 개체 틀 8">
            <a:extLst>
              <a:ext uri="{FF2B5EF4-FFF2-40B4-BE49-F238E27FC236}">
                <a16:creationId xmlns:a16="http://schemas.microsoft.com/office/drawing/2014/main" id="{C35D13B4-912C-C7AA-E4BC-892F46CC0BD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37394" y="3762590"/>
            <a:ext cx="2187488" cy="1733339"/>
          </a:xfrm>
          <a:custGeom>
            <a:avLst/>
            <a:gdLst>
              <a:gd name="connsiteX0" fmla="*/ 0 w 2187488"/>
              <a:gd name="connsiteY0" fmla="*/ 0 h 1733339"/>
              <a:gd name="connsiteX1" fmla="*/ 2187488 w 2187488"/>
              <a:gd name="connsiteY1" fmla="*/ 0 h 1733339"/>
              <a:gd name="connsiteX2" fmla="*/ 2187488 w 2187488"/>
              <a:gd name="connsiteY2" fmla="*/ 1733339 h 1733339"/>
              <a:gd name="connsiteX3" fmla="*/ 0 w 2187488"/>
              <a:gd name="connsiteY3" fmla="*/ 1733339 h 173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7488" h="1733339">
                <a:moveTo>
                  <a:pt x="0" y="0"/>
                </a:moveTo>
                <a:lnTo>
                  <a:pt x="2187488" y="0"/>
                </a:lnTo>
                <a:lnTo>
                  <a:pt x="2187488" y="1733339"/>
                </a:lnTo>
                <a:lnTo>
                  <a:pt x="0" y="1733339"/>
                </a:ln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6B8179A0-C4AF-E692-393A-A5381BD0C6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9899" y="2270121"/>
            <a:ext cx="2187488" cy="1733339"/>
          </a:xfrm>
          <a:custGeom>
            <a:avLst/>
            <a:gdLst>
              <a:gd name="connsiteX0" fmla="*/ 0 w 2187488"/>
              <a:gd name="connsiteY0" fmla="*/ 0 h 1733339"/>
              <a:gd name="connsiteX1" fmla="*/ 2187488 w 2187488"/>
              <a:gd name="connsiteY1" fmla="*/ 0 h 1733339"/>
              <a:gd name="connsiteX2" fmla="*/ 2187488 w 2187488"/>
              <a:gd name="connsiteY2" fmla="*/ 1733339 h 1733339"/>
              <a:gd name="connsiteX3" fmla="*/ 0 w 2187488"/>
              <a:gd name="connsiteY3" fmla="*/ 1733339 h 173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7488" h="1733339">
                <a:moveTo>
                  <a:pt x="0" y="0"/>
                </a:moveTo>
                <a:lnTo>
                  <a:pt x="2187488" y="0"/>
                </a:lnTo>
                <a:lnTo>
                  <a:pt x="2187488" y="1733339"/>
                </a:lnTo>
                <a:lnTo>
                  <a:pt x="0" y="1733339"/>
                </a:ln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5709141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337C827F-863F-8256-53E5-BDC52D86A7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21734" y="0"/>
            <a:ext cx="4470269" cy="6858000"/>
          </a:xfrm>
          <a:custGeom>
            <a:avLst/>
            <a:gdLst>
              <a:gd name="connsiteX0" fmla="*/ 0 w 4470269"/>
              <a:gd name="connsiteY0" fmla="*/ 0 h 6858000"/>
              <a:gd name="connsiteX1" fmla="*/ 4470269 w 4470269"/>
              <a:gd name="connsiteY1" fmla="*/ 0 h 6858000"/>
              <a:gd name="connsiteX2" fmla="*/ 4470269 w 4470269"/>
              <a:gd name="connsiteY2" fmla="*/ 6858000 h 6858000"/>
              <a:gd name="connsiteX3" fmla="*/ 0 w 447026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0269" h="6858000">
                <a:moveTo>
                  <a:pt x="0" y="0"/>
                </a:moveTo>
                <a:lnTo>
                  <a:pt x="4470269" y="0"/>
                </a:lnTo>
                <a:lnTo>
                  <a:pt x="447026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71854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7282DE5D-035B-4D37-43A2-26E698631A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66488" y="0"/>
            <a:ext cx="5392038" cy="2987874"/>
          </a:xfrm>
          <a:custGeom>
            <a:avLst/>
            <a:gdLst>
              <a:gd name="connsiteX0" fmla="*/ 0 w 5392038"/>
              <a:gd name="connsiteY0" fmla="*/ 0 h 2987874"/>
              <a:gd name="connsiteX1" fmla="*/ 5392038 w 5392038"/>
              <a:gd name="connsiteY1" fmla="*/ 0 h 2987874"/>
              <a:gd name="connsiteX2" fmla="*/ 5392038 w 5392038"/>
              <a:gd name="connsiteY2" fmla="*/ 2987874 h 2987874"/>
              <a:gd name="connsiteX3" fmla="*/ 0 w 5392038"/>
              <a:gd name="connsiteY3" fmla="*/ 2987874 h 2987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2038" h="2987874">
                <a:moveTo>
                  <a:pt x="0" y="0"/>
                </a:moveTo>
                <a:lnTo>
                  <a:pt x="5392038" y="0"/>
                </a:lnTo>
                <a:lnTo>
                  <a:pt x="5392038" y="2987874"/>
                </a:lnTo>
                <a:lnTo>
                  <a:pt x="0" y="298787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507544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1206AFAD-00D0-04AE-FDE0-AD5AD4BF9B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007430" cy="6858000"/>
          </a:xfrm>
          <a:custGeom>
            <a:avLst/>
            <a:gdLst>
              <a:gd name="connsiteX0" fmla="*/ 0 w 5007430"/>
              <a:gd name="connsiteY0" fmla="*/ 0 h 6858000"/>
              <a:gd name="connsiteX1" fmla="*/ 5007430 w 5007430"/>
              <a:gd name="connsiteY1" fmla="*/ 0 h 6858000"/>
              <a:gd name="connsiteX2" fmla="*/ 5007430 w 5007430"/>
              <a:gd name="connsiteY2" fmla="*/ 6858000 h 6858000"/>
              <a:gd name="connsiteX3" fmla="*/ 0 w 500743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7430" h="6858000">
                <a:moveTo>
                  <a:pt x="0" y="0"/>
                </a:moveTo>
                <a:lnTo>
                  <a:pt x="5007430" y="0"/>
                </a:lnTo>
                <a:lnTo>
                  <a:pt x="500743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980697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CBE9E8DB-B56F-AFD3-8120-A111F306BE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19978" y="608343"/>
            <a:ext cx="4005263" cy="2987875"/>
          </a:xfrm>
          <a:custGeom>
            <a:avLst/>
            <a:gdLst>
              <a:gd name="connsiteX0" fmla="*/ 0 w 4005263"/>
              <a:gd name="connsiteY0" fmla="*/ 0 h 2987875"/>
              <a:gd name="connsiteX1" fmla="*/ 4005263 w 4005263"/>
              <a:gd name="connsiteY1" fmla="*/ 0 h 2987875"/>
              <a:gd name="connsiteX2" fmla="*/ 4005263 w 4005263"/>
              <a:gd name="connsiteY2" fmla="*/ 2987875 h 2987875"/>
              <a:gd name="connsiteX3" fmla="*/ 0 w 4005263"/>
              <a:gd name="connsiteY3" fmla="*/ 2987875 h 298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5263" h="2987875">
                <a:moveTo>
                  <a:pt x="0" y="0"/>
                </a:moveTo>
                <a:lnTo>
                  <a:pt x="4005263" y="0"/>
                </a:lnTo>
                <a:lnTo>
                  <a:pt x="4005263" y="2987875"/>
                </a:lnTo>
                <a:lnTo>
                  <a:pt x="0" y="29878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8401228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09BB25B9-232C-A7E5-53D2-0E461D0E5E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77167" y="2446333"/>
            <a:ext cx="3505200" cy="1737633"/>
          </a:xfrm>
          <a:custGeom>
            <a:avLst/>
            <a:gdLst>
              <a:gd name="connsiteX0" fmla="*/ 0 w 3505200"/>
              <a:gd name="connsiteY0" fmla="*/ 0 h 1737633"/>
              <a:gd name="connsiteX1" fmla="*/ 3505200 w 3505200"/>
              <a:gd name="connsiteY1" fmla="*/ 0 h 1737633"/>
              <a:gd name="connsiteX2" fmla="*/ 3505200 w 3505200"/>
              <a:gd name="connsiteY2" fmla="*/ 1737633 h 1737633"/>
              <a:gd name="connsiteX3" fmla="*/ 0 w 3505200"/>
              <a:gd name="connsiteY3" fmla="*/ 1737633 h 1737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0" h="1737633">
                <a:moveTo>
                  <a:pt x="0" y="0"/>
                </a:moveTo>
                <a:lnTo>
                  <a:pt x="3505200" y="0"/>
                </a:lnTo>
                <a:lnTo>
                  <a:pt x="3505200" y="1737633"/>
                </a:lnTo>
                <a:lnTo>
                  <a:pt x="0" y="17376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D5EC124D-AC2C-D984-F22F-DD7DDE5D6C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09633" y="4410361"/>
            <a:ext cx="3505200" cy="1737633"/>
          </a:xfrm>
          <a:custGeom>
            <a:avLst/>
            <a:gdLst>
              <a:gd name="connsiteX0" fmla="*/ 0 w 3505200"/>
              <a:gd name="connsiteY0" fmla="*/ 0 h 1737633"/>
              <a:gd name="connsiteX1" fmla="*/ 3505200 w 3505200"/>
              <a:gd name="connsiteY1" fmla="*/ 0 h 1737633"/>
              <a:gd name="connsiteX2" fmla="*/ 3505200 w 3505200"/>
              <a:gd name="connsiteY2" fmla="*/ 1737633 h 1737633"/>
              <a:gd name="connsiteX3" fmla="*/ 0 w 3505200"/>
              <a:gd name="connsiteY3" fmla="*/ 1737633 h 1737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0" h="1737633">
                <a:moveTo>
                  <a:pt x="0" y="0"/>
                </a:moveTo>
                <a:lnTo>
                  <a:pt x="3505200" y="0"/>
                </a:lnTo>
                <a:lnTo>
                  <a:pt x="3505200" y="1737633"/>
                </a:lnTo>
                <a:lnTo>
                  <a:pt x="0" y="17376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3CBDEF45-DBEB-D3A0-A336-4A9E8C9EA6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77167" y="4410361"/>
            <a:ext cx="3505200" cy="1737633"/>
          </a:xfrm>
          <a:custGeom>
            <a:avLst/>
            <a:gdLst>
              <a:gd name="connsiteX0" fmla="*/ 0 w 3505200"/>
              <a:gd name="connsiteY0" fmla="*/ 0 h 1737633"/>
              <a:gd name="connsiteX1" fmla="*/ 3505200 w 3505200"/>
              <a:gd name="connsiteY1" fmla="*/ 0 h 1737633"/>
              <a:gd name="connsiteX2" fmla="*/ 3505200 w 3505200"/>
              <a:gd name="connsiteY2" fmla="*/ 1737633 h 1737633"/>
              <a:gd name="connsiteX3" fmla="*/ 0 w 3505200"/>
              <a:gd name="connsiteY3" fmla="*/ 1737633 h 1737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0" h="1737633">
                <a:moveTo>
                  <a:pt x="0" y="0"/>
                </a:moveTo>
                <a:lnTo>
                  <a:pt x="3505200" y="0"/>
                </a:lnTo>
                <a:lnTo>
                  <a:pt x="3505200" y="1737633"/>
                </a:lnTo>
                <a:lnTo>
                  <a:pt x="0" y="17376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B9D50F28-B786-8E62-895A-C20F5F35BC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09633" y="2446333"/>
            <a:ext cx="3505200" cy="1737633"/>
          </a:xfrm>
          <a:custGeom>
            <a:avLst/>
            <a:gdLst>
              <a:gd name="connsiteX0" fmla="*/ 0 w 3505200"/>
              <a:gd name="connsiteY0" fmla="*/ 0 h 1737633"/>
              <a:gd name="connsiteX1" fmla="*/ 3505200 w 3505200"/>
              <a:gd name="connsiteY1" fmla="*/ 0 h 1737633"/>
              <a:gd name="connsiteX2" fmla="*/ 3505200 w 3505200"/>
              <a:gd name="connsiteY2" fmla="*/ 1737633 h 1737633"/>
              <a:gd name="connsiteX3" fmla="*/ 0 w 3505200"/>
              <a:gd name="connsiteY3" fmla="*/ 1737633 h 1737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0" h="1737633">
                <a:moveTo>
                  <a:pt x="0" y="0"/>
                </a:moveTo>
                <a:lnTo>
                  <a:pt x="3505200" y="0"/>
                </a:lnTo>
                <a:lnTo>
                  <a:pt x="3505200" y="1737633"/>
                </a:lnTo>
                <a:lnTo>
                  <a:pt x="0" y="17376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685620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67B96D57-AE7A-0EC2-A98B-E32DA5E893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41900" y="0"/>
            <a:ext cx="7150100" cy="6858000"/>
          </a:xfrm>
          <a:custGeom>
            <a:avLst/>
            <a:gdLst>
              <a:gd name="connsiteX0" fmla="*/ 0 w 7150100"/>
              <a:gd name="connsiteY0" fmla="*/ 0 h 6858000"/>
              <a:gd name="connsiteX1" fmla="*/ 7150100 w 7150100"/>
              <a:gd name="connsiteY1" fmla="*/ 0 h 6858000"/>
              <a:gd name="connsiteX2" fmla="*/ 7150100 w 7150100"/>
              <a:gd name="connsiteY2" fmla="*/ 6858000 h 6858000"/>
              <a:gd name="connsiteX3" fmla="*/ 0 w 71501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0100" h="6858000">
                <a:moveTo>
                  <a:pt x="0" y="0"/>
                </a:moveTo>
                <a:lnTo>
                  <a:pt x="7150100" y="0"/>
                </a:lnTo>
                <a:lnTo>
                  <a:pt x="71501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82C8B164-1F67-2753-29DD-079BF2F882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9586" y="1398063"/>
            <a:ext cx="1981818" cy="2972411"/>
          </a:xfrm>
          <a:custGeom>
            <a:avLst/>
            <a:gdLst>
              <a:gd name="connsiteX0" fmla="*/ 0 w 1981818"/>
              <a:gd name="connsiteY0" fmla="*/ 0 h 2972411"/>
              <a:gd name="connsiteX1" fmla="*/ 1981818 w 1981818"/>
              <a:gd name="connsiteY1" fmla="*/ 0 h 2972411"/>
              <a:gd name="connsiteX2" fmla="*/ 1981818 w 1981818"/>
              <a:gd name="connsiteY2" fmla="*/ 2972411 h 2972411"/>
              <a:gd name="connsiteX3" fmla="*/ 0 w 1981818"/>
              <a:gd name="connsiteY3" fmla="*/ 2972411 h 2972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1818" h="2972411">
                <a:moveTo>
                  <a:pt x="0" y="0"/>
                </a:moveTo>
                <a:lnTo>
                  <a:pt x="1981818" y="0"/>
                </a:lnTo>
                <a:lnTo>
                  <a:pt x="1981818" y="2972411"/>
                </a:lnTo>
                <a:lnTo>
                  <a:pt x="0" y="29724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146371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3F68280F-D804-103C-44FB-06DD202627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22296" y="1878275"/>
            <a:ext cx="3556947" cy="4979727"/>
          </a:xfrm>
          <a:custGeom>
            <a:avLst/>
            <a:gdLst>
              <a:gd name="connsiteX0" fmla="*/ 0 w 3556947"/>
              <a:gd name="connsiteY0" fmla="*/ 0 h 4979727"/>
              <a:gd name="connsiteX1" fmla="*/ 3556947 w 3556947"/>
              <a:gd name="connsiteY1" fmla="*/ 0 h 4979727"/>
              <a:gd name="connsiteX2" fmla="*/ 3556947 w 3556947"/>
              <a:gd name="connsiteY2" fmla="*/ 4979727 h 4979727"/>
              <a:gd name="connsiteX3" fmla="*/ 0 w 3556947"/>
              <a:gd name="connsiteY3" fmla="*/ 4979727 h 4979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56947" h="4979727">
                <a:moveTo>
                  <a:pt x="0" y="0"/>
                </a:moveTo>
                <a:lnTo>
                  <a:pt x="3556947" y="0"/>
                </a:lnTo>
                <a:lnTo>
                  <a:pt x="3556947" y="4979727"/>
                </a:lnTo>
                <a:lnTo>
                  <a:pt x="0" y="497972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859129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A083C58E-78EE-C7DC-9BFD-3B2122337D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04517"/>
            <a:ext cx="12192000" cy="1508319"/>
          </a:xfrm>
          <a:custGeom>
            <a:avLst/>
            <a:gdLst>
              <a:gd name="connsiteX0" fmla="*/ 0 w 12192000"/>
              <a:gd name="connsiteY0" fmla="*/ 0 h 1508319"/>
              <a:gd name="connsiteX1" fmla="*/ 12192000 w 12192000"/>
              <a:gd name="connsiteY1" fmla="*/ 0 h 1508319"/>
              <a:gd name="connsiteX2" fmla="*/ 12192000 w 12192000"/>
              <a:gd name="connsiteY2" fmla="*/ 1508319 h 1508319"/>
              <a:gd name="connsiteX3" fmla="*/ 0 w 12192000"/>
              <a:gd name="connsiteY3" fmla="*/ 1508319 h 1508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508319">
                <a:moveTo>
                  <a:pt x="0" y="0"/>
                </a:moveTo>
                <a:lnTo>
                  <a:pt x="12192000" y="0"/>
                </a:lnTo>
                <a:lnTo>
                  <a:pt x="12192000" y="1508319"/>
                </a:lnTo>
                <a:lnTo>
                  <a:pt x="0" y="150831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2481777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CE56BA3E-B7B1-AB81-BDBE-7CBCC95A61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67064" y="2773200"/>
            <a:ext cx="4662100" cy="3194996"/>
          </a:xfrm>
          <a:custGeom>
            <a:avLst/>
            <a:gdLst>
              <a:gd name="connsiteX0" fmla="*/ 303013 w 4662100"/>
              <a:gd name="connsiteY0" fmla="*/ 0 h 3194996"/>
              <a:gd name="connsiteX1" fmla="*/ 4359087 w 4662100"/>
              <a:gd name="connsiteY1" fmla="*/ 0 h 3194996"/>
              <a:gd name="connsiteX2" fmla="*/ 4662100 w 4662100"/>
              <a:gd name="connsiteY2" fmla="*/ 303013 h 3194996"/>
              <a:gd name="connsiteX3" fmla="*/ 4662100 w 4662100"/>
              <a:gd name="connsiteY3" fmla="*/ 2891983 h 3194996"/>
              <a:gd name="connsiteX4" fmla="*/ 4359087 w 4662100"/>
              <a:gd name="connsiteY4" fmla="*/ 3194996 h 3194996"/>
              <a:gd name="connsiteX5" fmla="*/ 303013 w 4662100"/>
              <a:gd name="connsiteY5" fmla="*/ 3194996 h 3194996"/>
              <a:gd name="connsiteX6" fmla="*/ 0 w 4662100"/>
              <a:gd name="connsiteY6" fmla="*/ 2891983 h 3194996"/>
              <a:gd name="connsiteX7" fmla="*/ 0 w 4662100"/>
              <a:gd name="connsiteY7" fmla="*/ 303013 h 3194996"/>
              <a:gd name="connsiteX8" fmla="*/ 303013 w 4662100"/>
              <a:gd name="connsiteY8" fmla="*/ 0 h 3194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2100" h="3194996">
                <a:moveTo>
                  <a:pt x="303013" y="0"/>
                </a:moveTo>
                <a:lnTo>
                  <a:pt x="4359087" y="0"/>
                </a:lnTo>
                <a:cubicBezTo>
                  <a:pt x="4526436" y="0"/>
                  <a:pt x="4662100" y="135664"/>
                  <a:pt x="4662100" y="303013"/>
                </a:cubicBezTo>
                <a:lnTo>
                  <a:pt x="4662100" y="2891983"/>
                </a:lnTo>
                <a:cubicBezTo>
                  <a:pt x="4662100" y="3059332"/>
                  <a:pt x="4526436" y="3194996"/>
                  <a:pt x="4359087" y="3194996"/>
                </a:cubicBezTo>
                <a:lnTo>
                  <a:pt x="303013" y="3194996"/>
                </a:lnTo>
                <a:cubicBezTo>
                  <a:pt x="135664" y="3194996"/>
                  <a:pt x="0" y="3059332"/>
                  <a:pt x="0" y="2891983"/>
                </a:cubicBezTo>
                <a:lnTo>
                  <a:pt x="0" y="303013"/>
                </a:lnTo>
                <a:cubicBezTo>
                  <a:pt x="0" y="135664"/>
                  <a:pt x="135664" y="0"/>
                  <a:pt x="30301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AF21F9B8-9406-2214-179A-AB804EB069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39029" y="2773200"/>
            <a:ext cx="4662100" cy="3194996"/>
          </a:xfrm>
          <a:custGeom>
            <a:avLst/>
            <a:gdLst>
              <a:gd name="connsiteX0" fmla="*/ 303013 w 4662100"/>
              <a:gd name="connsiteY0" fmla="*/ 0 h 3194996"/>
              <a:gd name="connsiteX1" fmla="*/ 4359087 w 4662100"/>
              <a:gd name="connsiteY1" fmla="*/ 0 h 3194996"/>
              <a:gd name="connsiteX2" fmla="*/ 4662100 w 4662100"/>
              <a:gd name="connsiteY2" fmla="*/ 303013 h 3194996"/>
              <a:gd name="connsiteX3" fmla="*/ 4662100 w 4662100"/>
              <a:gd name="connsiteY3" fmla="*/ 2891983 h 3194996"/>
              <a:gd name="connsiteX4" fmla="*/ 4359087 w 4662100"/>
              <a:gd name="connsiteY4" fmla="*/ 3194996 h 3194996"/>
              <a:gd name="connsiteX5" fmla="*/ 303013 w 4662100"/>
              <a:gd name="connsiteY5" fmla="*/ 3194996 h 3194996"/>
              <a:gd name="connsiteX6" fmla="*/ 0 w 4662100"/>
              <a:gd name="connsiteY6" fmla="*/ 2891983 h 3194996"/>
              <a:gd name="connsiteX7" fmla="*/ 0 w 4662100"/>
              <a:gd name="connsiteY7" fmla="*/ 303013 h 3194996"/>
              <a:gd name="connsiteX8" fmla="*/ 303013 w 4662100"/>
              <a:gd name="connsiteY8" fmla="*/ 0 h 3194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2100" h="3194996">
                <a:moveTo>
                  <a:pt x="303013" y="0"/>
                </a:moveTo>
                <a:lnTo>
                  <a:pt x="4359087" y="0"/>
                </a:lnTo>
                <a:cubicBezTo>
                  <a:pt x="4526436" y="0"/>
                  <a:pt x="4662100" y="135664"/>
                  <a:pt x="4662100" y="303013"/>
                </a:cubicBezTo>
                <a:lnTo>
                  <a:pt x="4662100" y="2891983"/>
                </a:lnTo>
                <a:cubicBezTo>
                  <a:pt x="4662100" y="3059332"/>
                  <a:pt x="4526436" y="3194996"/>
                  <a:pt x="4359087" y="3194996"/>
                </a:cubicBezTo>
                <a:lnTo>
                  <a:pt x="303013" y="3194996"/>
                </a:lnTo>
                <a:cubicBezTo>
                  <a:pt x="135664" y="3194996"/>
                  <a:pt x="0" y="3059332"/>
                  <a:pt x="0" y="2891983"/>
                </a:cubicBezTo>
                <a:lnTo>
                  <a:pt x="0" y="303013"/>
                </a:lnTo>
                <a:cubicBezTo>
                  <a:pt x="0" y="135664"/>
                  <a:pt x="135664" y="0"/>
                  <a:pt x="30301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37053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098D3F59-51CD-1FFE-8E75-86599EAC5C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723011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90CDD885-AB3D-8FD8-0E40-755A5AF715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09187" y="2273398"/>
            <a:ext cx="1555686" cy="1536696"/>
          </a:xfrm>
          <a:custGeom>
            <a:avLst/>
            <a:gdLst>
              <a:gd name="connsiteX0" fmla="*/ 0 w 1555686"/>
              <a:gd name="connsiteY0" fmla="*/ 0 h 1536696"/>
              <a:gd name="connsiteX1" fmla="*/ 1555686 w 1555686"/>
              <a:gd name="connsiteY1" fmla="*/ 0 h 1536696"/>
              <a:gd name="connsiteX2" fmla="*/ 1555686 w 1555686"/>
              <a:gd name="connsiteY2" fmla="*/ 1536696 h 1536696"/>
              <a:gd name="connsiteX3" fmla="*/ 0 w 1555686"/>
              <a:gd name="connsiteY3" fmla="*/ 1536696 h 153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5686" h="1536696">
                <a:moveTo>
                  <a:pt x="0" y="0"/>
                </a:moveTo>
                <a:lnTo>
                  <a:pt x="1555686" y="0"/>
                </a:lnTo>
                <a:lnTo>
                  <a:pt x="1555686" y="1536696"/>
                </a:lnTo>
                <a:lnTo>
                  <a:pt x="0" y="153669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374E2E3A-7C23-CF95-62E6-D43880EF91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93456" y="4071387"/>
            <a:ext cx="3427599" cy="1536696"/>
          </a:xfrm>
          <a:custGeom>
            <a:avLst/>
            <a:gdLst>
              <a:gd name="connsiteX0" fmla="*/ 0 w 3427599"/>
              <a:gd name="connsiteY0" fmla="*/ 0 h 1536696"/>
              <a:gd name="connsiteX1" fmla="*/ 3427599 w 3427599"/>
              <a:gd name="connsiteY1" fmla="*/ 0 h 1536696"/>
              <a:gd name="connsiteX2" fmla="*/ 3427599 w 3427599"/>
              <a:gd name="connsiteY2" fmla="*/ 1536696 h 1536696"/>
              <a:gd name="connsiteX3" fmla="*/ 0 w 3427599"/>
              <a:gd name="connsiteY3" fmla="*/ 1536696 h 153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7599" h="1536696">
                <a:moveTo>
                  <a:pt x="0" y="0"/>
                </a:moveTo>
                <a:lnTo>
                  <a:pt x="3427599" y="0"/>
                </a:lnTo>
                <a:lnTo>
                  <a:pt x="3427599" y="1536696"/>
                </a:lnTo>
                <a:lnTo>
                  <a:pt x="0" y="153669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059585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C426EF93-37B3-85D6-2AE6-7408AB097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6760" y="2024063"/>
            <a:ext cx="1661650" cy="3378372"/>
          </a:xfrm>
          <a:custGeom>
            <a:avLst/>
            <a:gdLst>
              <a:gd name="connsiteX0" fmla="*/ 0 w 1661650"/>
              <a:gd name="connsiteY0" fmla="*/ 0 h 3378372"/>
              <a:gd name="connsiteX1" fmla="*/ 1661650 w 1661650"/>
              <a:gd name="connsiteY1" fmla="*/ 0 h 3378372"/>
              <a:gd name="connsiteX2" fmla="*/ 1661650 w 1661650"/>
              <a:gd name="connsiteY2" fmla="*/ 3378372 h 3378372"/>
              <a:gd name="connsiteX3" fmla="*/ 0 w 1661650"/>
              <a:gd name="connsiteY3" fmla="*/ 3378372 h 3378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1650" h="3378372">
                <a:moveTo>
                  <a:pt x="0" y="0"/>
                </a:moveTo>
                <a:lnTo>
                  <a:pt x="1661650" y="0"/>
                </a:lnTo>
                <a:lnTo>
                  <a:pt x="1661650" y="3378372"/>
                </a:lnTo>
                <a:lnTo>
                  <a:pt x="0" y="337837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119718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A51FEAB5-4D3D-5310-5E66-1795894DDA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7125" y="1682762"/>
            <a:ext cx="9937750" cy="2419338"/>
          </a:xfrm>
          <a:custGeom>
            <a:avLst/>
            <a:gdLst>
              <a:gd name="connsiteX0" fmla="*/ 0 w 9937750"/>
              <a:gd name="connsiteY0" fmla="*/ 0 h 2419338"/>
              <a:gd name="connsiteX1" fmla="*/ 9937750 w 9937750"/>
              <a:gd name="connsiteY1" fmla="*/ 0 h 2419338"/>
              <a:gd name="connsiteX2" fmla="*/ 9937750 w 9937750"/>
              <a:gd name="connsiteY2" fmla="*/ 2419338 h 2419338"/>
              <a:gd name="connsiteX3" fmla="*/ 0 w 9937750"/>
              <a:gd name="connsiteY3" fmla="*/ 2419338 h 2419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37750" h="2419338">
                <a:moveTo>
                  <a:pt x="0" y="0"/>
                </a:moveTo>
                <a:lnTo>
                  <a:pt x="9937750" y="0"/>
                </a:lnTo>
                <a:lnTo>
                  <a:pt x="9937750" y="2419338"/>
                </a:lnTo>
                <a:lnTo>
                  <a:pt x="0" y="24193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919600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5BB59F2E-1D30-4071-E993-947D1842FC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3206" y="2378941"/>
            <a:ext cx="4432589" cy="2955059"/>
          </a:xfrm>
          <a:custGeom>
            <a:avLst/>
            <a:gdLst>
              <a:gd name="connsiteX0" fmla="*/ 0 w 4432589"/>
              <a:gd name="connsiteY0" fmla="*/ 0 h 2955059"/>
              <a:gd name="connsiteX1" fmla="*/ 4432589 w 4432589"/>
              <a:gd name="connsiteY1" fmla="*/ 0 h 2955059"/>
              <a:gd name="connsiteX2" fmla="*/ 4432589 w 4432589"/>
              <a:gd name="connsiteY2" fmla="*/ 2955059 h 2955059"/>
              <a:gd name="connsiteX3" fmla="*/ 0 w 4432589"/>
              <a:gd name="connsiteY3" fmla="*/ 2955059 h 2955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32589" h="2955059">
                <a:moveTo>
                  <a:pt x="0" y="0"/>
                </a:moveTo>
                <a:lnTo>
                  <a:pt x="4432589" y="0"/>
                </a:lnTo>
                <a:lnTo>
                  <a:pt x="4432589" y="2955059"/>
                </a:lnTo>
                <a:lnTo>
                  <a:pt x="0" y="295505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4426318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CA122077-0220-284E-34E9-C93E028906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6764" y="1740660"/>
            <a:ext cx="3196037" cy="4496629"/>
          </a:xfrm>
          <a:custGeom>
            <a:avLst/>
            <a:gdLst>
              <a:gd name="connsiteX0" fmla="*/ 0 w 3196037"/>
              <a:gd name="connsiteY0" fmla="*/ 0 h 4496629"/>
              <a:gd name="connsiteX1" fmla="*/ 3196037 w 3196037"/>
              <a:gd name="connsiteY1" fmla="*/ 0 h 4496629"/>
              <a:gd name="connsiteX2" fmla="*/ 3196037 w 3196037"/>
              <a:gd name="connsiteY2" fmla="*/ 4496629 h 4496629"/>
              <a:gd name="connsiteX3" fmla="*/ 0 w 3196037"/>
              <a:gd name="connsiteY3" fmla="*/ 4496629 h 449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6037" h="4496629">
                <a:moveTo>
                  <a:pt x="0" y="0"/>
                </a:moveTo>
                <a:lnTo>
                  <a:pt x="3196037" y="0"/>
                </a:lnTo>
                <a:lnTo>
                  <a:pt x="3196037" y="4496629"/>
                </a:lnTo>
                <a:lnTo>
                  <a:pt x="0" y="449662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3909471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3D9B5685-65E4-7CA4-7E69-4A159A4CDB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13613" y="-1"/>
            <a:ext cx="4278389" cy="6858000"/>
          </a:xfrm>
          <a:custGeom>
            <a:avLst/>
            <a:gdLst>
              <a:gd name="connsiteX0" fmla="*/ 0 w 4278389"/>
              <a:gd name="connsiteY0" fmla="*/ 0 h 6858000"/>
              <a:gd name="connsiteX1" fmla="*/ 4278389 w 4278389"/>
              <a:gd name="connsiteY1" fmla="*/ 0 h 6858000"/>
              <a:gd name="connsiteX2" fmla="*/ 4278389 w 4278389"/>
              <a:gd name="connsiteY2" fmla="*/ 6858000 h 6858000"/>
              <a:gd name="connsiteX3" fmla="*/ 0 w 427838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78389" h="6858000">
                <a:moveTo>
                  <a:pt x="0" y="0"/>
                </a:moveTo>
                <a:lnTo>
                  <a:pt x="4278389" y="0"/>
                </a:lnTo>
                <a:lnTo>
                  <a:pt x="427838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864791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095F9D99-6747-0EB9-15AE-9A53FA94C1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6761" y="2226105"/>
            <a:ext cx="4341779" cy="2596195"/>
          </a:xfrm>
          <a:custGeom>
            <a:avLst/>
            <a:gdLst>
              <a:gd name="connsiteX0" fmla="*/ 0 w 4341779"/>
              <a:gd name="connsiteY0" fmla="*/ 0 h 2596195"/>
              <a:gd name="connsiteX1" fmla="*/ 4341779 w 4341779"/>
              <a:gd name="connsiteY1" fmla="*/ 0 h 2596195"/>
              <a:gd name="connsiteX2" fmla="*/ 4341779 w 4341779"/>
              <a:gd name="connsiteY2" fmla="*/ 2596195 h 2596195"/>
              <a:gd name="connsiteX3" fmla="*/ 0 w 4341779"/>
              <a:gd name="connsiteY3" fmla="*/ 2596195 h 2596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1779" h="2596195">
                <a:moveTo>
                  <a:pt x="0" y="0"/>
                </a:moveTo>
                <a:lnTo>
                  <a:pt x="4341779" y="0"/>
                </a:lnTo>
                <a:lnTo>
                  <a:pt x="4341779" y="2596195"/>
                </a:lnTo>
                <a:lnTo>
                  <a:pt x="0" y="259619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719969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6A2D39BE-8597-4363-3CAD-EDFFFFD45E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00291" y="2712798"/>
            <a:ext cx="2791412" cy="1669143"/>
          </a:xfrm>
          <a:custGeom>
            <a:avLst/>
            <a:gdLst>
              <a:gd name="connsiteX0" fmla="*/ 0 w 2791412"/>
              <a:gd name="connsiteY0" fmla="*/ 0 h 1669143"/>
              <a:gd name="connsiteX1" fmla="*/ 2791412 w 2791412"/>
              <a:gd name="connsiteY1" fmla="*/ 0 h 1669143"/>
              <a:gd name="connsiteX2" fmla="*/ 2791412 w 2791412"/>
              <a:gd name="connsiteY2" fmla="*/ 1669143 h 1669143"/>
              <a:gd name="connsiteX3" fmla="*/ 0 w 2791412"/>
              <a:gd name="connsiteY3" fmla="*/ 1669143 h 1669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1412" h="1669143">
                <a:moveTo>
                  <a:pt x="0" y="0"/>
                </a:moveTo>
                <a:lnTo>
                  <a:pt x="2791412" y="0"/>
                </a:lnTo>
                <a:lnTo>
                  <a:pt x="2791412" y="1669143"/>
                </a:lnTo>
                <a:lnTo>
                  <a:pt x="0" y="16691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DBF4B523-D90A-11E5-0A25-5AC8F343B1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73457" y="2712798"/>
            <a:ext cx="2791412" cy="1669143"/>
          </a:xfrm>
          <a:custGeom>
            <a:avLst/>
            <a:gdLst>
              <a:gd name="connsiteX0" fmla="*/ 0 w 2791412"/>
              <a:gd name="connsiteY0" fmla="*/ 0 h 1669143"/>
              <a:gd name="connsiteX1" fmla="*/ 2791412 w 2791412"/>
              <a:gd name="connsiteY1" fmla="*/ 0 h 1669143"/>
              <a:gd name="connsiteX2" fmla="*/ 2791412 w 2791412"/>
              <a:gd name="connsiteY2" fmla="*/ 1669143 h 1669143"/>
              <a:gd name="connsiteX3" fmla="*/ 0 w 2791412"/>
              <a:gd name="connsiteY3" fmla="*/ 1669143 h 1669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1412" h="1669143">
                <a:moveTo>
                  <a:pt x="0" y="0"/>
                </a:moveTo>
                <a:lnTo>
                  <a:pt x="2791412" y="0"/>
                </a:lnTo>
                <a:lnTo>
                  <a:pt x="2791412" y="1669143"/>
                </a:lnTo>
                <a:lnTo>
                  <a:pt x="0" y="16691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4324702D-15EC-59D1-D85D-B1DA432124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7125" y="2712798"/>
            <a:ext cx="2791412" cy="1669143"/>
          </a:xfrm>
          <a:custGeom>
            <a:avLst/>
            <a:gdLst>
              <a:gd name="connsiteX0" fmla="*/ 0 w 2791412"/>
              <a:gd name="connsiteY0" fmla="*/ 0 h 1669143"/>
              <a:gd name="connsiteX1" fmla="*/ 2791412 w 2791412"/>
              <a:gd name="connsiteY1" fmla="*/ 0 h 1669143"/>
              <a:gd name="connsiteX2" fmla="*/ 2791412 w 2791412"/>
              <a:gd name="connsiteY2" fmla="*/ 1669143 h 1669143"/>
              <a:gd name="connsiteX3" fmla="*/ 0 w 2791412"/>
              <a:gd name="connsiteY3" fmla="*/ 1669143 h 1669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1412" h="1669143">
                <a:moveTo>
                  <a:pt x="0" y="0"/>
                </a:moveTo>
                <a:lnTo>
                  <a:pt x="2791412" y="0"/>
                </a:lnTo>
                <a:lnTo>
                  <a:pt x="2791412" y="1669143"/>
                </a:lnTo>
                <a:lnTo>
                  <a:pt x="0" y="16691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74026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3FFBBC56-7099-1D18-0C8C-A05A0F83BA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7215" y="-4647"/>
            <a:ext cx="2168020" cy="4862696"/>
          </a:xfrm>
          <a:custGeom>
            <a:avLst/>
            <a:gdLst>
              <a:gd name="connsiteX0" fmla="*/ 0 w 2168020"/>
              <a:gd name="connsiteY0" fmla="*/ 0 h 4862696"/>
              <a:gd name="connsiteX1" fmla="*/ 2168020 w 2168020"/>
              <a:gd name="connsiteY1" fmla="*/ 0 h 4862696"/>
              <a:gd name="connsiteX2" fmla="*/ 2168020 w 2168020"/>
              <a:gd name="connsiteY2" fmla="*/ 3778686 h 4862696"/>
              <a:gd name="connsiteX3" fmla="*/ 1084010 w 2168020"/>
              <a:gd name="connsiteY3" fmla="*/ 4862696 h 4862696"/>
              <a:gd name="connsiteX4" fmla="*/ 0 w 2168020"/>
              <a:gd name="connsiteY4" fmla="*/ 3778686 h 486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8020" h="4862696">
                <a:moveTo>
                  <a:pt x="0" y="0"/>
                </a:moveTo>
                <a:lnTo>
                  <a:pt x="2168020" y="0"/>
                </a:lnTo>
                <a:lnTo>
                  <a:pt x="2168020" y="3778686"/>
                </a:lnTo>
                <a:cubicBezTo>
                  <a:pt x="2168020" y="4377368"/>
                  <a:pt x="1682692" y="4862696"/>
                  <a:pt x="1084010" y="4862696"/>
                </a:cubicBezTo>
                <a:cubicBezTo>
                  <a:pt x="485328" y="4862696"/>
                  <a:pt x="0" y="4377368"/>
                  <a:pt x="0" y="377868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4769106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B788D8A-62CB-3398-9DC9-7F5F806DC60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16901" y="4589313"/>
            <a:ext cx="1491426" cy="1193140"/>
          </a:xfrm>
          <a:custGeom>
            <a:avLst/>
            <a:gdLst>
              <a:gd name="connsiteX0" fmla="*/ 0 w 1491426"/>
              <a:gd name="connsiteY0" fmla="*/ 0 h 1193140"/>
              <a:gd name="connsiteX1" fmla="*/ 1491426 w 1491426"/>
              <a:gd name="connsiteY1" fmla="*/ 0 h 1193140"/>
              <a:gd name="connsiteX2" fmla="*/ 1491426 w 1491426"/>
              <a:gd name="connsiteY2" fmla="*/ 1193140 h 1193140"/>
              <a:gd name="connsiteX3" fmla="*/ 0 w 1491426"/>
              <a:gd name="connsiteY3" fmla="*/ 1193140 h 119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1426" h="1193140">
                <a:moveTo>
                  <a:pt x="0" y="0"/>
                </a:moveTo>
                <a:lnTo>
                  <a:pt x="1491426" y="0"/>
                </a:lnTo>
                <a:lnTo>
                  <a:pt x="1491426" y="1193140"/>
                </a:lnTo>
                <a:lnTo>
                  <a:pt x="0" y="11931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4" name="그림 개체 틀 3">
            <a:extLst>
              <a:ext uri="{FF2B5EF4-FFF2-40B4-BE49-F238E27FC236}">
                <a16:creationId xmlns:a16="http://schemas.microsoft.com/office/drawing/2014/main" id="{75ED984B-F217-638E-58A9-D466422DA4C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757469" y="4589313"/>
            <a:ext cx="1491426" cy="1193140"/>
          </a:xfrm>
          <a:custGeom>
            <a:avLst/>
            <a:gdLst>
              <a:gd name="connsiteX0" fmla="*/ 0 w 1491426"/>
              <a:gd name="connsiteY0" fmla="*/ 0 h 1193140"/>
              <a:gd name="connsiteX1" fmla="*/ 1491426 w 1491426"/>
              <a:gd name="connsiteY1" fmla="*/ 0 h 1193140"/>
              <a:gd name="connsiteX2" fmla="*/ 1491426 w 1491426"/>
              <a:gd name="connsiteY2" fmla="*/ 1193140 h 1193140"/>
              <a:gd name="connsiteX3" fmla="*/ 0 w 1491426"/>
              <a:gd name="connsiteY3" fmla="*/ 1193140 h 119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1426" h="1193140">
                <a:moveTo>
                  <a:pt x="0" y="0"/>
                </a:moveTo>
                <a:lnTo>
                  <a:pt x="1491426" y="0"/>
                </a:lnTo>
                <a:lnTo>
                  <a:pt x="1491426" y="1193140"/>
                </a:lnTo>
                <a:lnTo>
                  <a:pt x="0" y="11931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545DB551-FC70-84A4-FA02-450F2508D4F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398038" y="4589313"/>
            <a:ext cx="1491426" cy="1193140"/>
          </a:xfrm>
          <a:custGeom>
            <a:avLst/>
            <a:gdLst>
              <a:gd name="connsiteX0" fmla="*/ 0 w 1491426"/>
              <a:gd name="connsiteY0" fmla="*/ 0 h 1193140"/>
              <a:gd name="connsiteX1" fmla="*/ 1491426 w 1491426"/>
              <a:gd name="connsiteY1" fmla="*/ 0 h 1193140"/>
              <a:gd name="connsiteX2" fmla="*/ 1491426 w 1491426"/>
              <a:gd name="connsiteY2" fmla="*/ 1193140 h 1193140"/>
              <a:gd name="connsiteX3" fmla="*/ 0 w 1491426"/>
              <a:gd name="connsiteY3" fmla="*/ 1193140 h 119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1426" h="1193140">
                <a:moveTo>
                  <a:pt x="0" y="0"/>
                </a:moveTo>
                <a:lnTo>
                  <a:pt x="1491426" y="0"/>
                </a:lnTo>
                <a:lnTo>
                  <a:pt x="1491426" y="1193140"/>
                </a:lnTo>
                <a:lnTo>
                  <a:pt x="0" y="11931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37A39C44-2AFC-D512-99FA-89F28E2458E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038607" y="4589313"/>
            <a:ext cx="1491426" cy="1193140"/>
          </a:xfrm>
          <a:custGeom>
            <a:avLst/>
            <a:gdLst>
              <a:gd name="connsiteX0" fmla="*/ 0 w 1491426"/>
              <a:gd name="connsiteY0" fmla="*/ 0 h 1193140"/>
              <a:gd name="connsiteX1" fmla="*/ 1491426 w 1491426"/>
              <a:gd name="connsiteY1" fmla="*/ 0 h 1193140"/>
              <a:gd name="connsiteX2" fmla="*/ 1491426 w 1491426"/>
              <a:gd name="connsiteY2" fmla="*/ 1193140 h 1193140"/>
              <a:gd name="connsiteX3" fmla="*/ 0 w 1491426"/>
              <a:gd name="connsiteY3" fmla="*/ 1193140 h 119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1426" h="1193140">
                <a:moveTo>
                  <a:pt x="0" y="0"/>
                </a:moveTo>
                <a:lnTo>
                  <a:pt x="1491426" y="0"/>
                </a:lnTo>
                <a:lnTo>
                  <a:pt x="1491426" y="1193140"/>
                </a:lnTo>
                <a:lnTo>
                  <a:pt x="0" y="11931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03FC7854-3AFE-1733-8379-B832C0D637D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679175" y="4589313"/>
            <a:ext cx="1491426" cy="1193140"/>
          </a:xfrm>
          <a:custGeom>
            <a:avLst/>
            <a:gdLst>
              <a:gd name="connsiteX0" fmla="*/ 0 w 1491426"/>
              <a:gd name="connsiteY0" fmla="*/ 0 h 1193140"/>
              <a:gd name="connsiteX1" fmla="*/ 1491426 w 1491426"/>
              <a:gd name="connsiteY1" fmla="*/ 0 h 1193140"/>
              <a:gd name="connsiteX2" fmla="*/ 1491426 w 1491426"/>
              <a:gd name="connsiteY2" fmla="*/ 1193140 h 1193140"/>
              <a:gd name="connsiteX3" fmla="*/ 0 w 1491426"/>
              <a:gd name="connsiteY3" fmla="*/ 1193140 h 119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1426" h="1193140">
                <a:moveTo>
                  <a:pt x="0" y="0"/>
                </a:moveTo>
                <a:lnTo>
                  <a:pt x="1491426" y="0"/>
                </a:lnTo>
                <a:lnTo>
                  <a:pt x="1491426" y="1193140"/>
                </a:lnTo>
                <a:lnTo>
                  <a:pt x="0" y="11931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4A6F9F29-20F7-1810-5EEA-0966996ED12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116901" y="2948744"/>
            <a:ext cx="1491426" cy="1193140"/>
          </a:xfrm>
          <a:custGeom>
            <a:avLst/>
            <a:gdLst>
              <a:gd name="connsiteX0" fmla="*/ 0 w 1491426"/>
              <a:gd name="connsiteY0" fmla="*/ 0 h 1193140"/>
              <a:gd name="connsiteX1" fmla="*/ 1491426 w 1491426"/>
              <a:gd name="connsiteY1" fmla="*/ 0 h 1193140"/>
              <a:gd name="connsiteX2" fmla="*/ 1491426 w 1491426"/>
              <a:gd name="connsiteY2" fmla="*/ 1193140 h 1193140"/>
              <a:gd name="connsiteX3" fmla="*/ 0 w 1491426"/>
              <a:gd name="connsiteY3" fmla="*/ 1193140 h 119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1426" h="1193140">
                <a:moveTo>
                  <a:pt x="0" y="0"/>
                </a:moveTo>
                <a:lnTo>
                  <a:pt x="1491426" y="0"/>
                </a:lnTo>
                <a:lnTo>
                  <a:pt x="1491426" y="1193140"/>
                </a:lnTo>
                <a:lnTo>
                  <a:pt x="0" y="11931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2F38B2DC-C7D7-1C04-E1A8-32D970A956D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757469" y="2948744"/>
            <a:ext cx="1491426" cy="1193140"/>
          </a:xfrm>
          <a:custGeom>
            <a:avLst/>
            <a:gdLst>
              <a:gd name="connsiteX0" fmla="*/ 0 w 1491426"/>
              <a:gd name="connsiteY0" fmla="*/ 0 h 1193140"/>
              <a:gd name="connsiteX1" fmla="*/ 1491426 w 1491426"/>
              <a:gd name="connsiteY1" fmla="*/ 0 h 1193140"/>
              <a:gd name="connsiteX2" fmla="*/ 1491426 w 1491426"/>
              <a:gd name="connsiteY2" fmla="*/ 1193140 h 1193140"/>
              <a:gd name="connsiteX3" fmla="*/ 0 w 1491426"/>
              <a:gd name="connsiteY3" fmla="*/ 1193140 h 119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1426" h="1193140">
                <a:moveTo>
                  <a:pt x="0" y="0"/>
                </a:moveTo>
                <a:lnTo>
                  <a:pt x="1491426" y="0"/>
                </a:lnTo>
                <a:lnTo>
                  <a:pt x="1491426" y="1193140"/>
                </a:lnTo>
                <a:lnTo>
                  <a:pt x="0" y="11931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1ADECA10-ABDF-EF70-66BA-35B5C60B3A2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98038" y="2948744"/>
            <a:ext cx="1491426" cy="1193140"/>
          </a:xfrm>
          <a:custGeom>
            <a:avLst/>
            <a:gdLst>
              <a:gd name="connsiteX0" fmla="*/ 0 w 1491426"/>
              <a:gd name="connsiteY0" fmla="*/ 0 h 1193140"/>
              <a:gd name="connsiteX1" fmla="*/ 1491426 w 1491426"/>
              <a:gd name="connsiteY1" fmla="*/ 0 h 1193140"/>
              <a:gd name="connsiteX2" fmla="*/ 1491426 w 1491426"/>
              <a:gd name="connsiteY2" fmla="*/ 1193140 h 1193140"/>
              <a:gd name="connsiteX3" fmla="*/ 0 w 1491426"/>
              <a:gd name="connsiteY3" fmla="*/ 1193140 h 119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1426" h="1193140">
                <a:moveTo>
                  <a:pt x="0" y="0"/>
                </a:moveTo>
                <a:lnTo>
                  <a:pt x="1491426" y="0"/>
                </a:lnTo>
                <a:lnTo>
                  <a:pt x="1491426" y="1193140"/>
                </a:lnTo>
                <a:lnTo>
                  <a:pt x="0" y="11931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F016EE96-17AF-42A2-72C5-CF889B56DB3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038607" y="2948744"/>
            <a:ext cx="1491426" cy="1193140"/>
          </a:xfrm>
          <a:custGeom>
            <a:avLst/>
            <a:gdLst>
              <a:gd name="connsiteX0" fmla="*/ 0 w 1491426"/>
              <a:gd name="connsiteY0" fmla="*/ 0 h 1193140"/>
              <a:gd name="connsiteX1" fmla="*/ 1491426 w 1491426"/>
              <a:gd name="connsiteY1" fmla="*/ 0 h 1193140"/>
              <a:gd name="connsiteX2" fmla="*/ 1491426 w 1491426"/>
              <a:gd name="connsiteY2" fmla="*/ 1193140 h 1193140"/>
              <a:gd name="connsiteX3" fmla="*/ 0 w 1491426"/>
              <a:gd name="connsiteY3" fmla="*/ 1193140 h 119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1426" h="1193140">
                <a:moveTo>
                  <a:pt x="0" y="0"/>
                </a:moveTo>
                <a:lnTo>
                  <a:pt x="1491426" y="0"/>
                </a:lnTo>
                <a:lnTo>
                  <a:pt x="1491426" y="1193140"/>
                </a:lnTo>
                <a:lnTo>
                  <a:pt x="0" y="11931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3985C108-61A8-B9A1-BC29-7413BAADDE1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79175" y="2948744"/>
            <a:ext cx="1491426" cy="1193140"/>
          </a:xfrm>
          <a:custGeom>
            <a:avLst/>
            <a:gdLst>
              <a:gd name="connsiteX0" fmla="*/ 0 w 1491426"/>
              <a:gd name="connsiteY0" fmla="*/ 0 h 1193140"/>
              <a:gd name="connsiteX1" fmla="*/ 1491426 w 1491426"/>
              <a:gd name="connsiteY1" fmla="*/ 0 h 1193140"/>
              <a:gd name="connsiteX2" fmla="*/ 1491426 w 1491426"/>
              <a:gd name="connsiteY2" fmla="*/ 1193140 h 1193140"/>
              <a:gd name="connsiteX3" fmla="*/ 0 w 1491426"/>
              <a:gd name="connsiteY3" fmla="*/ 1193140 h 119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1426" h="1193140">
                <a:moveTo>
                  <a:pt x="0" y="0"/>
                </a:moveTo>
                <a:lnTo>
                  <a:pt x="1491426" y="0"/>
                </a:lnTo>
                <a:lnTo>
                  <a:pt x="1491426" y="1193140"/>
                </a:lnTo>
                <a:lnTo>
                  <a:pt x="0" y="11931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509465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그림 개체 틀 13">
            <a:extLst>
              <a:ext uri="{FF2B5EF4-FFF2-40B4-BE49-F238E27FC236}">
                <a16:creationId xmlns:a16="http://schemas.microsoft.com/office/drawing/2014/main" id="{731552BD-A4F8-92C9-1542-9AF11D296C4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69692" y="2921203"/>
            <a:ext cx="3555549" cy="3946267"/>
          </a:xfrm>
          <a:custGeom>
            <a:avLst/>
            <a:gdLst>
              <a:gd name="connsiteX0" fmla="*/ 811508 w 3555549"/>
              <a:gd name="connsiteY0" fmla="*/ 0 h 3946267"/>
              <a:gd name="connsiteX1" fmla="*/ 989715 w 3555549"/>
              <a:gd name="connsiteY1" fmla="*/ 86769 h 3946267"/>
              <a:gd name="connsiteX2" fmla="*/ 3555549 w 3555549"/>
              <a:gd name="connsiteY2" fmla="*/ 3946267 h 3946267"/>
              <a:gd name="connsiteX3" fmla="*/ 1935260 w 3555549"/>
              <a:gd name="connsiteY3" fmla="*/ 3946267 h 3946267"/>
              <a:gd name="connsiteX4" fmla="*/ 300020 w 3555549"/>
              <a:gd name="connsiteY4" fmla="*/ 1547721 h 3946267"/>
              <a:gd name="connsiteX5" fmla="*/ 0 w 3555549"/>
              <a:gd name="connsiteY5" fmla="*/ 1405575 h 394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55549" h="3946267">
                <a:moveTo>
                  <a:pt x="811508" y="0"/>
                </a:moveTo>
                <a:lnTo>
                  <a:pt x="989715" y="86769"/>
                </a:lnTo>
                <a:cubicBezTo>
                  <a:pt x="2527993" y="878263"/>
                  <a:pt x="3555549" y="2310649"/>
                  <a:pt x="3555549" y="3946267"/>
                </a:cubicBezTo>
                <a:lnTo>
                  <a:pt x="1935260" y="3946267"/>
                </a:lnTo>
                <a:cubicBezTo>
                  <a:pt x="1935260" y="2947823"/>
                  <a:pt x="1286606" y="2067533"/>
                  <a:pt x="300020" y="1547721"/>
                </a:cubicBezTo>
                <a:lnTo>
                  <a:pt x="0" y="14055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23664807-B45D-00A4-0608-6BF478469A6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90756" y="2354633"/>
            <a:ext cx="4616195" cy="1865384"/>
          </a:xfrm>
          <a:custGeom>
            <a:avLst/>
            <a:gdLst>
              <a:gd name="connsiteX0" fmla="*/ 2305246 w 4616195"/>
              <a:gd name="connsiteY0" fmla="*/ 0 h 1865384"/>
              <a:gd name="connsiteX1" fmla="*/ 4615691 w 4616195"/>
              <a:gd name="connsiteY1" fmla="*/ 445015 h 1865384"/>
              <a:gd name="connsiteX2" fmla="*/ 4616195 w 4616195"/>
              <a:gd name="connsiteY2" fmla="*/ 445234 h 1865384"/>
              <a:gd name="connsiteX3" fmla="*/ 3796271 w 4616195"/>
              <a:gd name="connsiteY3" fmla="*/ 1865384 h 1865384"/>
              <a:gd name="connsiteX4" fmla="*/ 3748936 w 4616195"/>
              <a:gd name="connsiteY4" fmla="*/ 1847600 h 1865384"/>
              <a:gd name="connsiteX5" fmla="*/ 2305246 w 4616195"/>
              <a:gd name="connsiteY5" fmla="*/ 1620289 h 1865384"/>
              <a:gd name="connsiteX6" fmla="*/ 861556 w 4616195"/>
              <a:gd name="connsiteY6" fmla="*/ 1847600 h 1865384"/>
              <a:gd name="connsiteX7" fmla="*/ 819955 w 4616195"/>
              <a:gd name="connsiteY7" fmla="*/ 1863229 h 1865384"/>
              <a:gd name="connsiteX8" fmla="*/ 0 w 4616195"/>
              <a:gd name="connsiteY8" fmla="*/ 443025 h 1865384"/>
              <a:gd name="connsiteX9" fmla="*/ 230866 w 4616195"/>
              <a:gd name="connsiteY9" fmla="*/ 354641 h 1865384"/>
              <a:gd name="connsiteX10" fmla="*/ 2305246 w 4616195"/>
              <a:gd name="connsiteY10" fmla="*/ 0 h 186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16195" h="1865384">
                <a:moveTo>
                  <a:pt x="2305246" y="0"/>
                </a:moveTo>
                <a:cubicBezTo>
                  <a:pt x="3133037" y="0"/>
                  <a:pt x="3916747" y="159822"/>
                  <a:pt x="4615691" y="445015"/>
                </a:cubicBezTo>
                <a:lnTo>
                  <a:pt x="4616195" y="445234"/>
                </a:lnTo>
                <a:lnTo>
                  <a:pt x="3796271" y="1865384"/>
                </a:lnTo>
                <a:lnTo>
                  <a:pt x="3748936" y="1847600"/>
                </a:lnTo>
                <a:cubicBezTo>
                  <a:pt x="3305204" y="1701229"/>
                  <a:pt x="2817345" y="1620289"/>
                  <a:pt x="2305246" y="1620289"/>
                </a:cubicBezTo>
                <a:cubicBezTo>
                  <a:pt x="1793147" y="1620289"/>
                  <a:pt x="1305288" y="1701229"/>
                  <a:pt x="861556" y="1847600"/>
                </a:cubicBezTo>
                <a:lnTo>
                  <a:pt x="819955" y="1863229"/>
                </a:lnTo>
                <a:lnTo>
                  <a:pt x="0" y="443025"/>
                </a:lnTo>
                <a:lnTo>
                  <a:pt x="230866" y="354641"/>
                </a:lnTo>
                <a:cubicBezTo>
                  <a:pt x="868447" y="126279"/>
                  <a:pt x="1569432" y="0"/>
                  <a:pt x="23052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0AC1FAF7-A455-A46C-819A-AF891223C4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6765" y="2918552"/>
            <a:ext cx="3561029" cy="3948919"/>
          </a:xfrm>
          <a:custGeom>
            <a:avLst/>
            <a:gdLst>
              <a:gd name="connsiteX0" fmla="*/ 2749488 w 3561029"/>
              <a:gd name="connsiteY0" fmla="*/ 0 h 3948919"/>
              <a:gd name="connsiteX1" fmla="*/ 3561029 w 3561029"/>
              <a:gd name="connsiteY1" fmla="*/ 1405631 h 3948919"/>
              <a:gd name="connsiteX2" fmla="*/ 3255529 w 3561029"/>
              <a:gd name="connsiteY2" fmla="*/ 1550373 h 3948919"/>
              <a:gd name="connsiteX3" fmla="*/ 1620289 w 3561029"/>
              <a:gd name="connsiteY3" fmla="*/ 3948919 h 3948919"/>
              <a:gd name="connsiteX4" fmla="*/ 0 w 3561029"/>
              <a:gd name="connsiteY4" fmla="*/ 3948919 h 3948919"/>
              <a:gd name="connsiteX5" fmla="*/ 2565834 w 3561029"/>
              <a:gd name="connsiteY5" fmla="*/ 89421 h 3948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61029" h="3948919">
                <a:moveTo>
                  <a:pt x="2749488" y="0"/>
                </a:moveTo>
                <a:lnTo>
                  <a:pt x="3561029" y="1405631"/>
                </a:lnTo>
                <a:lnTo>
                  <a:pt x="3255529" y="1550373"/>
                </a:lnTo>
                <a:cubicBezTo>
                  <a:pt x="2268943" y="2070185"/>
                  <a:pt x="1620289" y="2950475"/>
                  <a:pt x="1620289" y="3948919"/>
                </a:cubicBezTo>
                <a:lnTo>
                  <a:pt x="0" y="3948919"/>
                </a:lnTo>
                <a:cubicBezTo>
                  <a:pt x="0" y="2313301"/>
                  <a:pt x="1027556" y="880915"/>
                  <a:pt x="2565834" y="8942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678796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5387CA80-522E-40AB-154D-C14C07513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43440" y="2098142"/>
            <a:ext cx="1792157" cy="4139146"/>
          </a:xfrm>
          <a:custGeom>
            <a:avLst/>
            <a:gdLst>
              <a:gd name="connsiteX0" fmla="*/ 0 w 1792157"/>
              <a:gd name="connsiteY0" fmla="*/ 0 h 4139146"/>
              <a:gd name="connsiteX1" fmla="*/ 1792157 w 1792157"/>
              <a:gd name="connsiteY1" fmla="*/ 0 h 4139146"/>
              <a:gd name="connsiteX2" fmla="*/ 1792157 w 1792157"/>
              <a:gd name="connsiteY2" fmla="*/ 4139146 h 4139146"/>
              <a:gd name="connsiteX3" fmla="*/ 0 w 1792157"/>
              <a:gd name="connsiteY3" fmla="*/ 4139146 h 4139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2157" h="4139146">
                <a:moveTo>
                  <a:pt x="0" y="0"/>
                </a:moveTo>
                <a:lnTo>
                  <a:pt x="1792157" y="0"/>
                </a:lnTo>
                <a:lnTo>
                  <a:pt x="1792157" y="4139146"/>
                </a:lnTo>
                <a:lnTo>
                  <a:pt x="0" y="41391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B77E406A-0C8E-2DA2-7DAA-2007F9E235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228805" y="2098142"/>
            <a:ext cx="1792157" cy="4139146"/>
          </a:xfrm>
          <a:custGeom>
            <a:avLst/>
            <a:gdLst>
              <a:gd name="connsiteX0" fmla="*/ 0 w 1792157"/>
              <a:gd name="connsiteY0" fmla="*/ 0 h 4139146"/>
              <a:gd name="connsiteX1" fmla="*/ 1792157 w 1792157"/>
              <a:gd name="connsiteY1" fmla="*/ 0 h 4139146"/>
              <a:gd name="connsiteX2" fmla="*/ 1792157 w 1792157"/>
              <a:gd name="connsiteY2" fmla="*/ 4139146 h 4139146"/>
              <a:gd name="connsiteX3" fmla="*/ 0 w 1792157"/>
              <a:gd name="connsiteY3" fmla="*/ 4139146 h 4139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2157" h="4139146">
                <a:moveTo>
                  <a:pt x="0" y="0"/>
                </a:moveTo>
                <a:lnTo>
                  <a:pt x="1792157" y="0"/>
                </a:lnTo>
                <a:lnTo>
                  <a:pt x="1792157" y="4139146"/>
                </a:lnTo>
                <a:lnTo>
                  <a:pt x="0" y="41391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A87D69FE-87B0-F79B-E524-3E34102B224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4169" y="2098142"/>
            <a:ext cx="1792157" cy="4139146"/>
          </a:xfrm>
          <a:custGeom>
            <a:avLst/>
            <a:gdLst>
              <a:gd name="connsiteX0" fmla="*/ 0 w 1792157"/>
              <a:gd name="connsiteY0" fmla="*/ 0 h 4139146"/>
              <a:gd name="connsiteX1" fmla="*/ 1792157 w 1792157"/>
              <a:gd name="connsiteY1" fmla="*/ 0 h 4139146"/>
              <a:gd name="connsiteX2" fmla="*/ 1792157 w 1792157"/>
              <a:gd name="connsiteY2" fmla="*/ 4139146 h 4139146"/>
              <a:gd name="connsiteX3" fmla="*/ 0 w 1792157"/>
              <a:gd name="connsiteY3" fmla="*/ 4139146 h 4139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2157" h="4139146">
                <a:moveTo>
                  <a:pt x="0" y="0"/>
                </a:moveTo>
                <a:lnTo>
                  <a:pt x="1792157" y="0"/>
                </a:lnTo>
                <a:lnTo>
                  <a:pt x="1792157" y="4139146"/>
                </a:lnTo>
                <a:lnTo>
                  <a:pt x="0" y="41391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4" name="그림 개체 틀 13">
            <a:extLst>
              <a:ext uri="{FF2B5EF4-FFF2-40B4-BE49-F238E27FC236}">
                <a16:creationId xmlns:a16="http://schemas.microsoft.com/office/drawing/2014/main" id="{A6C1D12E-E427-308A-57B1-0EFD767CBAB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9533" y="2098142"/>
            <a:ext cx="1792157" cy="4139146"/>
          </a:xfrm>
          <a:custGeom>
            <a:avLst/>
            <a:gdLst>
              <a:gd name="connsiteX0" fmla="*/ 0 w 1792157"/>
              <a:gd name="connsiteY0" fmla="*/ 0 h 4139146"/>
              <a:gd name="connsiteX1" fmla="*/ 1792157 w 1792157"/>
              <a:gd name="connsiteY1" fmla="*/ 0 h 4139146"/>
              <a:gd name="connsiteX2" fmla="*/ 1792157 w 1792157"/>
              <a:gd name="connsiteY2" fmla="*/ 4139146 h 4139146"/>
              <a:gd name="connsiteX3" fmla="*/ 0 w 1792157"/>
              <a:gd name="connsiteY3" fmla="*/ 4139146 h 4139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2157" h="4139146">
                <a:moveTo>
                  <a:pt x="0" y="0"/>
                </a:moveTo>
                <a:lnTo>
                  <a:pt x="1792157" y="0"/>
                </a:lnTo>
                <a:lnTo>
                  <a:pt x="1792157" y="4139146"/>
                </a:lnTo>
                <a:lnTo>
                  <a:pt x="0" y="41391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0A739B87-CAC8-EE28-A68C-3E939858B2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8075" y="2098142"/>
            <a:ext cx="1792157" cy="4139146"/>
          </a:xfrm>
          <a:custGeom>
            <a:avLst/>
            <a:gdLst>
              <a:gd name="connsiteX0" fmla="*/ 0 w 1792157"/>
              <a:gd name="connsiteY0" fmla="*/ 0 h 4139146"/>
              <a:gd name="connsiteX1" fmla="*/ 1792157 w 1792157"/>
              <a:gd name="connsiteY1" fmla="*/ 0 h 4139146"/>
              <a:gd name="connsiteX2" fmla="*/ 1792157 w 1792157"/>
              <a:gd name="connsiteY2" fmla="*/ 4139146 h 4139146"/>
              <a:gd name="connsiteX3" fmla="*/ 0 w 1792157"/>
              <a:gd name="connsiteY3" fmla="*/ 4139146 h 4139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2157" h="4139146">
                <a:moveTo>
                  <a:pt x="0" y="0"/>
                </a:moveTo>
                <a:lnTo>
                  <a:pt x="1792157" y="0"/>
                </a:lnTo>
                <a:lnTo>
                  <a:pt x="1792157" y="4139146"/>
                </a:lnTo>
                <a:lnTo>
                  <a:pt x="0" y="41391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187828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97179960-DCA2-AF19-B875-B051E22E06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2500" y="1683644"/>
            <a:ext cx="10287000" cy="4250262"/>
          </a:xfrm>
          <a:custGeom>
            <a:avLst/>
            <a:gdLst>
              <a:gd name="connsiteX0" fmla="*/ 0 w 10287000"/>
              <a:gd name="connsiteY0" fmla="*/ 0 h 4250262"/>
              <a:gd name="connsiteX1" fmla="*/ 10287000 w 10287000"/>
              <a:gd name="connsiteY1" fmla="*/ 0 h 4250262"/>
              <a:gd name="connsiteX2" fmla="*/ 10287000 w 10287000"/>
              <a:gd name="connsiteY2" fmla="*/ 4250262 h 4250262"/>
              <a:gd name="connsiteX3" fmla="*/ 0 w 10287000"/>
              <a:gd name="connsiteY3" fmla="*/ 4250262 h 4250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87000" h="4250262">
                <a:moveTo>
                  <a:pt x="0" y="0"/>
                </a:moveTo>
                <a:lnTo>
                  <a:pt x="10287000" y="0"/>
                </a:lnTo>
                <a:lnTo>
                  <a:pt x="10287000" y="4250262"/>
                </a:lnTo>
                <a:lnTo>
                  <a:pt x="0" y="425026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1282348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AF53C55B-369A-1F78-0F22-D4FB3B3568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3429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570883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937C5103-D718-8D05-D178-2FE2C7FE36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00376" y="1453765"/>
            <a:ext cx="1970550" cy="4205786"/>
          </a:xfrm>
          <a:custGeom>
            <a:avLst/>
            <a:gdLst>
              <a:gd name="connsiteX0" fmla="*/ 328432 w 1970550"/>
              <a:gd name="connsiteY0" fmla="*/ 0 h 4205786"/>
              <a:gd name="connsiteX1" fmla="*/ 1642118 w 1970550"/>
              <a:gd name="connsiteY1" fmla="*/ 0 h 4205786"/>
              <a:gd name="connsiteX2" fmla="*/ 1970550 w 1970550"/>
              <a:gd name="connsiteY2" fmla="*/ 328432 h 4205786"/>
              <a:gd name="connsiteX3" fmla="*/ 1970550 w 1970550"/>
              <a:gd name="connsiteY3" fmla="*/ 3877354 h 4205786"/>
              <a:gd name="connsiteX4" fmla="*/ 1642118 w 1970550"/>
              <a:gd name="connsiteY4" fmla="*/ 4205786 h 4205786"/>
              <a:gd name="connsiteX5" fmla="*/ 328432 w 1970550"/>
              <a:gd name="connsiteY5" fmla="*/ 4205786 h 4205786"/>
              <a:gd name="connsiteX6" fmla="*/ 0 w 1970550"/>
              <a:gd name="connsiteY6" fmla="*/ 3877354 h 4205786"/>
              <a:gd name="connsiteX7" fmla="*/ 0 w 1970550"/>
              <a:gd name="connsiteY7" fmla="*/ 328432 h 4205786"/>
              <a:gd name="connsiteX8" fmla="*/ 328432 w 1970550"/>
              <a:gd name="connsiteY8" fmla="*/ 0 h 4205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70550" h="4205786">
                <a:moveTo>
                  <a:pt x="328432" y="0"/>
                </a:moveTo>
                <a:lnTo>
                  <a:pt x="1642118" y="0"/>
                </a:lnTo>
                <a:cubicBezTo>
                  <a:pt x="1823506" y="0"/>
                  <a:pt x="1970550" y="147044"/>
                  <a:pt x="1970550" y="328432"/>
                </a:cubicBezTo>
                <a:lnTo>
                  <a:pt x="1970550" y="3877354"/>
                </a:lnTo>
                <a:cubicBezTo>
                  <a:pt x="1970550" y="4058742"/>
                  <a:pt x="1823506" y="4205786"/>
                  <a:pt x="1642118" y="4205786"/>
                </a:cubicBezTo>
                <a:lnTo>
                  <a:pt x="328432" y="4205786"/>
                </a:lnTo>
                <a:cubicBezTo>
                  <a:pt x="147044" y="4205786"/>
                  <a:pt x="0" y="4058742"/>
                  <a:pt x="0" y="3877354"/>
                </a:cubicBezTo>
                <a:lnTo>
                  <a:pt x="0" y="328432"/>
                </a:lnTo>
                <a:cubicBezTo>
                  <a:pt x="0" y="147044"/>
                  <a:pt x="147044" y="0"/>
                  <a:pt x="3284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6296960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E8CB0982-94A0-984A-11D2-5B916AFDB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34974" y="0"/>
            <a:ext cx="5257026" cy="6858000"/>
          </a:xfrm>
          <a:custGeom>
            <a:avLst/>
            <a:gdLst>
              <a:gd name="connsiteX0" fmla="*/ 0 w 5257026"/>
              <a:gd name="connsiteY0" fmla="*/ 0 h 6858000"/>
              <a:gd name="connsiteX1" fmla="*/ 5257026 w 5257026"/>
              <a:gd name="connsiteY1" fmla="*/ 0 h 6858000"/>
              <a:gd name="connsiteX2" fmla="*/ 5257026 w 5257026"/>
              <a:gd name="connsiteY2" fmla="*/ 6858000 h 6858000"/>
              <a:gd name="connsiteX3" fmla="*/ 0 w 525702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026" h="6858000">
                <a:moveTo>
                  <a:pt x="0" y="0"/>
                </a:moveTo>
                <a:lnTo>
                  <a:pt x="5257026" y="0"/>
                </a:lnTo>
                <a:lnTo>
                  <a:pt x="525702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908264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C80D7B44-0745-C2AB-A64A-0DABEAADA5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0230" y="3252373"/>
            <a:ext cx="1104898" cy="1104899"/>
          </a:xfrm>
          <a:custGeom>
            <a:avLst/>
            <a:gdLst>
              <a:gd name="connsiteX0" fmla="*/ 0 w 1104898"/>
              <a:gd name="connsiteY0" fmla="*/ 0 h 1104899"/>
              <a:gd name="connsiteX1" fmla="*/ 1104898 w 1104898"/>
              <a:gd name="connsiteY1" fmla="*/ 0 h 1104899"/>
              <a:gd name="connsiteX2" fmla="*/ 1104898 w 1104898"/>
              <a:gd name="connsiteY2" fmla="*/ 1104899 h 1104899"/>
              <a:gd name="connsiteX3" fmla="*/ 0 w 1104898"/>
              <a:gd name="connsiteY3" fmla="*/ 1104899 h 1104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4898" h="1104899">
                <a:moveTo>
                  <a:pt x="0" y="0"/>
                </a:moveTo>
                <a:lnTo>
                  <a:pt x="1104898" y="0"/>
                </a:lnTo>
                <a:lnTo>
                  <a:pt x="1104898" y="1104899"/>
                </a:lnTo>
                <a:lnTo>
                  <a:pt x="0" y="11048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3F29AAE1-9451-C667-B013-AAA9F1C3856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50230" y="4498089"/>
            <a:ext cx="1104898" cy="1104899"/>
          </a:xfrm>
          <a:custGeom>
            <a:avLst/>
            <a:gdLst>
              <a:gd name="connsiteX0" fmla="*/ 0 w 1104898"/>
              <a:gd name="connsiteY0" fmla="*/ 0 h 1104899"/>
              <a:gd name="connsiteX1" fmla="*/ 1104898 w 1104898"/>
              <a:gd name="connsiteY1" fmla="*/ 0 h 1104899"/>
              <a:gd name="connsiteX2" fmla="*/ 1104898 w 1104898"/>
              <a:gd name="connsiteY2" fmla="*/ 1104899 h 1104899"/>
              <a:gd name="connsiteX3" fmla="*/ 0 w 1104898"/>
              <a:gd name="connsiteY3" fmla="*/ 1104899 h 1104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4898" h="1104899">
                <a:moveTo>
                  <a:pt x="0" y="0"/>
                </a:moveTo>
                <a:lnTo>
                  <a:pt x="1104898" y="0"/>
                </a:lnTo>
                <a:lnTo>
                  <a:pt x="1104898" y="1104899"/>
                </a:lnTo>
                <a:lnTo>
                  <a:pt x="0" y="11048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FDC34291-0C9D-027A-C14D-EDF097E5F6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0230" y="2006660"/>
            <a:ext cx="1104898" cy="1104899"/>
          </a:xfrm>
          <a:custGeom>
            <a:avLst/>
            <a:gdLst>
              <a:gd name="connsiteX0" fmla="*/ 0 w 1104898"/>
              <a:gd name="connsiteY0" fmla="*/ 0 h 1104899"/>
              <a:gd name="connsiteX1" fmla="*/ 1104898 w 1104898"/>
              <a:gd name="connsiteY1" fmla="*/ 0 h 1104899"/>
              <a:gd name="connsiteX2" fmla="*/ 1104898 w 1104898"/>
              <a:gd name="connsiteY2" fmla="*/ 1104899 h 1104899"/>
              <a:gd name="connsiteX3" fmla="*/ 0 w 1104898"/>
              <a:gd name="connsiteY3" fmla="*/ 1104899 h 1104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4898" h="1104899">
                <a:moveTo>
                  <a:pt x="0" y="0"/>
                </a:moveTo>
                <a:lnTo>
                  <a:pt x="1104898" y="0"/>
                </a:lnTo>
                <a:lnTo>
                  <a:pt x="1104898" y="1104899"/>
                </a:lnTo>
                <a:lnTo>
                  <a:pt x="0" y="11048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87623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695A625B-CF92-2626-EE3E-58F92F7AE3A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14783" y="2063295"/>
            <a:ext cx="3119114" cy="897620"/>
          </a:xfrm>
          <a:custGeom>
            <a:avLst/>
            <a:gdLst>
              <a:gd name="connsiteX0" fmla="*/ 0 w 3119114"/>
              <a:gd name="connsiteY0" fmla="*/ 0 h 897620"/>
              <a:gd name="connsiteX1" fmla="*/ 3119114 w 3119114"/>
              <a:gd name="connsiteY1" fmla="*/ 0 h 897620"/>
              <a:gd name="connsiteX2" fmla="*/ 3119114 w 3119114"/>
              <a:gd name="connsiteY2" fmla="*/ 897620 h 897620"/>
              <a:gd name="connsiteX3" fmla="*/ 0 w 3119114"/>
              <a:gd name="connsiteY3" fmla="*/ 897620 h 89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9114" h="897620">
                <a:moveTo>
                  <a:pt x="0" y="0"/>
                </a:moveTo>
                <a:lnTo>
                  <a:pt x="3119114" y="0"/>
                </a:lnTo>
                <a:lnTo>
                  <a:pt x="3119114" y="897620"/>
                </a:lnTo>
                <a:lnTo>
                  <a:pt x="0" y="8976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25078A92-52FA-A757-B487-E024D2DB391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45761" y="2063295"/>
            <a:ext cx="3119114" cy="897620"/>
          </a:xfrm>
          <a:custGeom>
            <a:avLst/>
            <a:gdLst>
              <a:gd name="connsiteX0" fmla="*/ 0 w 3119114"/>
              <a:gd name="connsiteY0" fmla="*/ 0 h 897620"/>
              <a:gd name="connsiteX1" fmla="*/ 3119114 w 3119114"/>
              <a:gd name="connsiteY1" fmla="*/ 0 h 897620"/>
              <a:gd name="connsiteX2" fmla="*/ 3119114 w 3119114"/>
              <a:gd name="connsiteY2" fmla="*/ 897620 h 897620"/>
              <a:gd name="connsiteX3" fmla="*/ 0 w 3119114"/>
              <a:gd name="connsiteY3" fmla="*/ 897620 h 89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9114" h="897620">
                <a:moveTo>
                  <a:pt x="0" y="0"/>
                </a:moveTo>
                <a:lnTo>
                  <a:pt x="3119114" y="0"/>
                </a:lnTo>
                <a:lnTo>
                  <a:pt x="3119114" y="897620"/>
                </a:lnTo>
                <a:lnTo>
                  <a:pt x="0" y="8976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5D467214-5F1F-1A6D-5F93-C73A9D8861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7125" y="2063295"/>
            <a:ext cx="3119114" cy="897620"/>
          </a:xfrm>
          <a:custGeom>
            <a:avLst/>
            <a:gdLst>
              <a:gd name="connsiteX0" fmla="*/ 0 w 3119114"/>
              <a:gd name="connsiteY0" fmla="*/ 0 h 897620"/>
              <a:gd name="connsiteX1" fmla="*/ 3119114 w 3119114"/>
              <a:gd name="connsiteY1" fmla="*/ 0 h 897620"/>
              <a:gd name="connsiteX2" fmla="*/ 3119114 w 3119114"/>
              <a:gd name="connsiteY2" fmla="*/ 897620 h 897620"/>
              <a:gd name="connsiteX3" fmla="*/ 0 w 3119114"/>
              <a:gd name="connsiteY3" fmla="*/ 897620 h 89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9114" h="897620">
                <a:moveTo>
                  <a:pt x="0" y="0"/>
                </a:moveTo>
                <a:lnTo>
                  <a:pt x="3119114" y="0"/>
                </a:lnTo>
                <a:lnTo>
                  <a:pt x="3119114" y="897620"/>
                </a:lnTo>
                <a:lnTo>
                  <a:pt x="0" y="8976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0438023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6A871BB1-8ECC-A663-BF76-43D76E8140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78999" y="2019294"/>
            <a:ext cx="2321886" cy="1015984"/>
          </a:xfrm>
          <a:custGeom>
            <a:avLst/>
            <a:gdLst>
              <a:gd name="connsiteX0" fmla="*/ 0 w 2321886"/>
              <a:gd name="connsiteY0" fmla="*/ 0 h 1015984"/>
              <a:gd name="connsiteX1" fmla="*/ 2321886 w 2321886"/>
              <a:gd name="connsiteY1" fmla="*/ 0 h 1015984"/>
              <a:gd name="connsiteX2" fmla="*/ 2321886 w 2321886"/>
              <a:gd name="connsiteY2" fmla="*/ 1015984 h 1015984"/>
              <a:gd name="connsiteX3" fmla="*/ 0 w 2321886"/>
              <a:gd name="connsiteY3" fmla="*/ 1015984 h 101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886" h="1015984">
                <a:moveTo>
                  <a:pt x="0" y="0"/>
                </a:moveTo>
                <a:lnTo>
                  <a:pt x="2321886" y="0"/>
                </a:lnTo>
                <a:lnTo>
                  <a:pt x="2321886" y="1015984"/>
                </a:lnTo>
                <a:lnTo>
                  <a:pt x="0" y="10159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A99B9E21-F71F-8B84-3B4C-ADD7E72655B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61253" y="2019294"/>
            <a:ext cx="2321886" cy="1015984"/>
          </a:xfrm>
          <a:custGeom>
            <a:avLst/>
            <a:gdLst>
              <a:gd name="connsiteX0" fmla="*/ 0 w 2321886"/>
              <a:gd name="connsiteY0" fmla="*/ 0 h 1015984"/>
              <a:gd name="connsiteX1" fmla="*/ 2321886 w 2321886"/>
              <a:gd name="connsiteY1" fmla="*/ 0 h 1015984"/>
              <a:gd name="connsiteX2" fmla="*/ 2321886 w 2321886"/>
              <a:gd name="connsiteY2" fmla="*/ 1015984 h 1015984"/>
              <a:gd name="connsiteX3" fmla="*/ 0 w 2321886"/>
              <a:gd name="connsiteY3" fmla="*/ 1015984 h 101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886" h="1015984">
                <a:moveTo>
                  <a:pt x="0" y="0"/>
                </a:moveTo>
                <a:lnTo>
                  <a:pt x="2321886" y="0"/>
                </a:lnTo>
                <a:lnTo>
                  <a:pt x="2321886" y="1015984"/>
                </a:lnTo>
                <a:lnTo>
                  <a:pt x="0" y="10159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068D8668-DF0E-AB81-E9CC-7AD8B5321D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81831" y="2019294"/>
            <a:ext cx="2321886" cy="1015984"/>
          </a:xfrm>
          <a:custGeom>
            <a:avLst/>
            <a:gdLst>
              <a:gd name="connsiteX0" fmla="*/ 0 w 2321886"/>
              <a:gd name="connsiteY0" fmla="*/ 0 h 1015984"/>
              <a:gd name="connsiteX1" fmla="*/ 2321886 w 2321886"/>
              <a:gd name="connsiteY1" fmla="*/ 0 h 1015984"/>
              <a:gd name="connsiteX2" fmla="*/ 2321886 w 2321886"/>
              <a:gd name="connsiteY2" fmla="*/ 1015984 h 1015984"/>
              <a:gd name="connsiteX3" fmla="*/ 0 w 2321886"/>
              <a:gd name="connsiteY3" fmla="*/ 1015984 h 101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886" h="1015984">
                <a:moveTo>
                  <a:pt x="0" y="0"/>
                </a:moveTo>
                <a:lnTo>
                  <a:pt x="2321886" y="0"/>
                </a:lnTo>
                <a:lnTo>
                  <a:pt x="2321886" y="1015984"/>
                </a:lnTo>
                <a:lnTo>
                  <a:pt x="0" y="10159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344241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30481232-72B1-775A-B6F4-F83A87C8FB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80345" y="2189323"/>
            <a:ext cx="1684531" cy="3229257"/>
          </a:xfrm>
          <a:custGeom>
            <a:avLst/>
            <a:gdLst>
              <a:gd name="connsiteX0" fmla="*/ 0 w 1684531"/>
              <a:gd name="connsiteY0" fmla="*/ 0 h 3229257"/>
              <a:gd name="connsiteX1" fmla="*/ 1684531 w 1684531"/>
              <a:gd name="connsiteY1" fmla="*/ 0 h 3229257"/>
              <a:gd name="connsiteX2" fmla="*/ 1684531 w 1684531"/>
              <a:gd name="connsiteY2" fmla="*/ 3229257 h 3229257"/>
              <a:gd name="connsiteX3" fmla="*/ 0 w 1684531"/>
              <a:gd name="connsiteY3" fmla="*/ 3229257 h 3229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4531" h="3229257">
                <a:moveTo>
                  <a:pt x="0" y="0"/>
                </a:moveTo>
                <a:lnTo>
                  <a:pt x="1684531" y="0"/>
                </a:lnTo>
                <a:lnTo>
                  <a:pt x="1684531" y="3229257"/>
                </a:lnTo>
                <a:lnTo>
                  <a:pt x="0" y="322925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14670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B282431A-C5F7-C804-2FAC-FFD2BE7FB9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31562" y="0"/>
            <a:ext cx="4093676" cy="6858000"/>
          </a:xfrm>
          <a:custGeom>
            <a:avLst/>
            <a:gdLst>
              <a:gd name="connsiteX0" fmla="*/ 994229 w 4093676"/>
              <a:gd name="connsiteY0" fmla="*/ 633806 h 6858000"/>
              <a:gd name="connsiteX1" fmla="*/ 1988458 w 4093676"/>
              <a:gd name="connsiteY1" fmla="*/ 1628035 h 6858000"/>
              <a:gd name="connsiteX2" fmla="*/ 1988457 w 4093676"/>
              <a:gd name="connsiteY2" fmla="*/ 6620948 h 6858000"/>
              <a:gd name="connsiteX3" fmla="*/ 1968258 w 4093676"/>
              <a:gd name="connsiteY3" fmla="*/ 6821320 h 6858000"/>
              <a:gd name="connsiteX4" fmla="*/ 1958827 w 4093676"/>
              <a:gd name="connsiteY4" fmla="*/ 6858000 h 6858000"/>
              <a:gd name="connsiteX5" fmla="*/ 29631 w 4093676"/>
              <a:gd name="connsiteY5" fmla="*/ 6858000 h 6858000"/>
              <a:gd name="connsiteX6" fmla="*/ 20200 w 4093676"/>
              <a:gd name="connsiteY6" fmla="*/ 6821319 h 6858000"/>
              <a:gd name="connsiteX7" fmla="*/ 0 w 4093676"/>
              <a:gd name="connsiteY7" fmla="*/ 6620947 h 6858000"/>
              <a:gd name="connsiteX8" fmla="*/ 0 w 4093676"/>
              <a:gd name="connsiteY8" fmla="*/ 1628035 h 6858000"/>
              <a:gd name="connsiteX9" fmla="*/ 994229 w 4093676"/>
              <a:gd name="connsiteY9" fmla="*/ 633806 h 6858000"/>
              <a:gd name="connsiteX10" fmla="*/ 2140490 w 4093676"/>
              <a:gd name="connsiteY10" fmla="*/ 0 h 6858000"/>
              <a:gd name="connsiteX11" fmla="*/ 4058405 w 4093676"/>
              <a:gd name="connsiteY11" fmla="*/ 0 h 6858000"/>
              <a:gd name="connsiteX12" fmla="*/ 4073477 w 4093676"/>
              <a:gd name="connsiteY12" fmla="*/ 58618 h 6858000"/>
              <a:gd name="connsiteX13" fmla="*/ 4093676 w 4093676"/>
              <a:gd name="connsiteY13" fmla="*/ 258990 h 6858000"/>
              <a:gd name="connsiteX14" fmla="*/ 4093675 w 4093676"/>
              <a:gd name="connsiteY14" fmla="*/ 4680854 h 6858000"/>
              <a:gd name="connsiteX15" fmla="*/ 3099446 w 4093676"/>
              <a:gd name="connsiteY15" fmla="*/ 5675083 h 6858000"/>
              <a:gd name="connsiteX16" fmla="*/ 3099447 w 4093676"/>
              <a:gd name="connsiteY16" fmla="*/ 5675082 h 6858000"/>
              <a:gd name="connsiteX17" fmla="*/ 2105218 w 4093676"/>
              <a:gd name="connsiteY17" fmla="*/ 4680853 h 6858000"/>
              <a:gd name="connsiteX18" fmla="*/ 2105218 w 4093676"/>
              <a:gd name="connsiteY18" fmla="*/ 258990 h 6858000"/>
              <a:gd name="connsiteX19" fmla="*/ 2125417 w 4093676"/>
              <a:gd name="connsiteY19" fmla="*/ 5861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093676" h="6858000">
                <a:moveTo>
                  <a:pt x="994229" y="633806"/>
                </a:moveTo>
                <a:cubicBezTo>
                  <a:pt x="1543327" y="633806"/>
                  <a:pt x="1988458" y="1078937"/>
                  <a:pt x="1988458" y="1628035"/>
                </a:cubicBezTo>
                <a:cubicBezTo>
                  <a:pt x="1988458" y="3292339"/>
                  <a:pt x="1988457" y="4956644"/>
                  <a:pt x="1988457" y="6620948"/>
                </a:cubicBezTo>
                <a:cubicBezTo>
                  <a:pt x="1988457" y="6689586"/>
                  <a:pt x="1981502" y="6756598"/>
                  <a:pt x="1968258" y="6821320"/>
                </a:cubicBezTo>
                <a:lnTo>
                  <a:pt x="1958827" y="6858000"/>
                </a:lnTo>
                <a:lnTo>
                  <a:pt x="29631" y="6858000"/>
                </a:lnTo>
                <a:lnTo>
                  <a:pt x="20200" y="6821319"/>
                </a:lnTo>
                <a:cubicBezTo>
                  <a:pt x="6956" y="6756597"/>
                  <a:pt x="0" y="6689585"/>
                  <a:pt x="0" y="6620947"/>
                </a:cubicBezTo>
                <a:lnTo>
                  <a:pt x="0" y="1628035"/>
                </a:lnTo>
                <a:cubicBezTo>
                  <a:pt x="0" y="1078937"/>
                  <a:pt x="445131" y="633806"/>
                  <a:pt x="994229" y="633806"/>
                </a:cubicBezTo>
                <a:close/>
                <a:moveTo>
                  <a:pt x="2140490" y="0"/>
                </a:moveTo>
                <a:lnTo>
                  <a:pt x="4058405" y="0"/>
                </a:lnTo>
                <a:lnTo>
                  <a:pt x="4073477" y="58618"/>
                </a:lnTo>
                <a:cubicBezTo>
                  <a:pt x="4086721" y="123340"/>
                  <a:pt x="4093676" y="190353"/>
                  <a:pt x="4093676" y="258990"/>
                </a:cubicBezTo>
                <a:cubicBezTo>
                  <a:pt x="4093676" y="1732945"/>
                  <a:pt x="4093675" y="3206899"/>
                  <a:pt x="4093675" y="4680854"/>
                </a:cubicBezTo>
                <a:cubicBezTo>
                  <a:pt x="4093675" y="5229952"/>
                  <a:pt x="3648544" y="5675083"/>
                  <a:pt x="3099446" y="5675083"/>
                </a:cubicBezTo>
                <a:lnTo>
                  <a:pt x="3099447" y="5675082"/>
                </a:lnTo>
                <a:cubicBezTo>
                  <a:pt x="2550349" y="5675082"/>
                  <a:pt x="2105218" y="5229951"/>
                  <a:pt x="2105218" y="4680853"/>
                </a:cubicBezTo>
                <a:lnTo>
                  <a:pt x="2105218" y="258990"/>
                </a:lnTo>
                <a:cubicBezTo>
                  <a:pt x="2105218" y="190353"/>
                  <a:pt x="2112173" y="123340"/>
                  <a:pt x="2125417" y="5861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1712767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9C41676F-0E9C-7A3F-5131-ED7452CB1D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64200" y="620711"/>
            <a:ext cx="3759200" cy="5616578"/>
          </a:xfrm>
          <a:custGeom>
            <a:avLst/>
            <a:gdLst>
              <a:gd name="connsiteX0" fmla="*/ 0 w 3759200"/>
              <a:gd name="connsiteY0" fmla="*/ 0 h 5616578"/>
              <a:gd name="connsiteX1" fmla="*/ 3759200 w 3759200"/>
              <a:gd name="connsiteY1" fmla="*/ 0 h 5616578"/>
              <a:gd name="connsiteX2" fmla="*/ 3759200 w 3759200"/>
              <a:gd name="connsiteY2" fmla="*/ 5616578 h 5616578"/>
              <a:gd name="connsiteX3" fmla="*/ 0 w 3759200"/>
              <a:gd name="connsiteY3" fmla="*/ 5616578 h 561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9200" h="5616578">
                <a:moveTo>
                  <a:pt x="0" y="0"/>
                </a:moveTo>
                <a:lnTo>
                  <a:pt x="3759200" y="0"/>
                </a:lnTo>
                <a:lnTo>
                  <a:pt x="3759200" y="5616578"/>
                </a:lnTo>
                <a:lnTo>
                  <a:pt x="0" y="561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436290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0D49BEFD-0D6E-E9BD-9668-D68032BAF8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23902" y="3560596"/>
            <a:ext cx="2188421" cy="2396489"/>
          </a:xfrm>
          <a:custGeom>
            <a:avLst/>
            <a:gdLst>
              <a:gd name="connsiteX0" fmla="*/ 0 w 2188421"/>
              <a:gd name="connsiteY0" fmla="*/ 0 h 2396489"/>
              <a:gd name="connsiteX1" fmla="*/ 2188421 w 2188421"/>
              <a:gd name="connsiteY1" fmla="*/ 0 h 2396489"/>
              <a:gd name="connsiteX2" fmla="*/ 2188421 w 2188421"/>
              <a:gd name="connsiteY2" fmla="*/ 2396489 h 2396489"/>
              <a:gd name="connsiteX3" fmla="*/ 0 w 2188421"/>
              <a:gd name="connsiteY3" fmla="*/ 2396489 h 2396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8421" h="2396489">
                <a:moveTo>
                  <a:pt x="0" y="0"/>
                </a:moveTo>
                <a:lnTo>
                  <a:pt x="2188421" y="0"/>
                </a:lnTo>
                <a:lnTo>
                  <a:pt x="2188421" y="2396489"/>
                </a:lnTo>
                <a:lnTo>
                  <a:pt x="0" y="239648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4992665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7DFE3FB6-AD87-D6B2-BDBA-6A6C33E85C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2900" y="1955805"/>
            <a:ext cx="1839269" cy="947781"/>
          </a:xfrm>
          <a:custGeom>
            <a:avLst/>
            <a:gdLst>
              <a:gd name="connsiteX0" fmla="*/ 0 w 1839269"/>
              <a:gd name="connsiteY0" fmla="*/ 0 h 947781"/>
              <a:gd name="connsiteX1" fmla="*/ 1839269 w 1839269"/>
              <a:gd name="connsiteY1" fmla="*/ 0 h 947781"/>
              <a:gd name="connsiteX2" fmla="*/ 1839269 w 1839269"/>
              <a:gd name="connsiteY2" fmla="*/ 947781 h 947781"/>
              <a:gd name="connsiteX3" fmla="*/ 0 w 1839269"/>
              <a:gd name="connsiteY3" fmla="*/ 947781 h 947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39269" h="947781">
                <a:moveTo>
                  <a:pt x="0" y="0"/>
                </a:moveTo>
                <a:lnTo>
                  <a:pt x="1839269" y="0"/>
                </a:lnTo>
                <a:lnTo>
                  <a:pt x="1839269" y="947781"/>
                </a:lnTo>
                <a:lnTo>
                  <a:pt x="0" y="94778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030461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A0486B00-CF90-20F2-2554-B422F3AF0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3826" y="2293198"/>
            <a:ext cx="2996434" cy="1759495"/>
          </a:xfrm>
          <a:custGeom>
            <a:avLst/>
            <a:gdLst>
              <a:gd name="connsiteX0" fmla="*/ 0 w 2996434"/>
              <a:gd name="connsiteY0" fmla="*/ 0 h 1759495"/>
              <a:gd name="connsiteX1" fmla="*/ 2996434 w 2996434"/>
              <a:gd name="connsiteY1" fmla="*/ 0 h 1759495"/>
              <a:gd name="connsiteX2" fmla="*/ 2996434 w 2996434"/>
              <a:gd name="connsiteY2" fmla="*/ 1759495 h 1759495"/>
              <a:gd name="connsiteX3" fmla="*/ 0 w 2996434"/>
              <a:gd name="connsiteY3" fmla="*/ 1759495 h 175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6434" h="1759495">
                <a:moveTo>
                  <a:pt x="0" y="0"/>
                </a:moveTo>
                <a:lnTo>
                  <a:pt x="2996434" y="0"/>
                </a:lnTo>
                <a:lnTo>
                  <a:pt x="2996434" y="1759495"/>
                </a:lnTo>
                <a:lnTo>
                  <a:pt x="0" y="175949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82B6FD79-E1FE-6CB5-8356-7CAF4E9478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57673" y="4130999"/>
            <a:ext cx="2996434" cy="1759495"/>
          </a:xfrm>
          <a:custGeom>
            <a:avLst/>
            <a:gdLst>
              <a:gd name="connsiteX0" fmla="*/ 0 w 2996434"/>
              <a:gd name="connsiteY0" fmla="*/ 0 h 1759495"/>
              <a:gd name="connsiteX1" fmla="*/ 2996434 w 2996434"/>
              <a:gd name="connsiteY1" fmla="*/ 0 h 1759495"/>
              <a:gd name="connsiteX2" fmla="*/ 2996434 w 2996434"/>
              <a:gd name="connsiteY2" fmla="*/ 1759495 h 1759495"/>
              <a:gd name="connsiteX3" fmla="*/ 0 w 2996434"/>
              <a:gd name="connsiteY3" fmla="*/ 1759495 h 175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6434" h="1759495">
                <a:moveTo>
                  <a:pt x="0" y="0"/>
                </a:moveTo>
                <a:lnTo>
                  <a:pt x="2996434" y="0"/>
                </a:lnTo>
                <a:lnTo>
                  <a:pt x="2996434" y="1759495"/>
                </a:lnTo>
                <a:lnTo>
                  <a:pt x="0" y="175949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48626444-86AD-CB23-2512-D2372308AA8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28804" y="4130999"/>
            <a:ext cx="2996434" cy="1759495"/>
          </a:xfrm>
          <a:custGeom>
            <a:avLst/>
            <a:gdLst>
              <a:gd name="connsiteX0" fmla="*/ 0 w 2996434"/>
              <a:gd name="connsiteY0" fmla="*/ 0 h 1759495"/>
              <a:gd name="connsiteX1" fmla="*/ 2996434 w 2996434"/>
              <a:gd name="connsiteY1" fmla="*/ 0 h 1759495"/>
              <a:gd name="connsiteX2" fmla="*/ 2996434 w 2996434"/>
              <a:gd name="connsiteY2" fmla="*/ 1759495 h 1759495"/>
              <a:gd name="connsiteX3" fmla="*/ 0 w 2996434"/>
              <a:gd name="connsiteY3" fmla="*/ 1759495 h 175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6434" h="1759495">
                <a:moveTo>
                  <a:pt x="0" y="0"/>
                </a:moveTo>
                <a:lnTo>
                  <a:pt x="2996434" y="0"/>
                </a:lnTo>
                <a:lnTo>
                  <a:pt x="2996434" y="1759495"/>
                </a:lnTo>
                <a:lnTo>
                  <a:pt x="0" y="175949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B000DEE4-7EE1-CC1A-37B5-3AA161B3B3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6763" y="2293198"/>
            <a:ext cx="2996434" cy="1759495"/>
          </a:xfrm>
          <a:custGeom>
            <a:avLst/>
            <a:gdLst>
              <a:gd name="connsiteX0" fmla="*/ 0 w 2996434"/>
              <a:gd name="connsiteY0" fmla="*/ 0 h 1759495"/>
              <a:gd name="connsiteX1" fmla="*/ 2996434 w 2996434"/>
              <a:gd name="connsiteY1" fmla="*/ 0 h 1759495"/>
              <a:gd name="connsiteX2" fmla="*/ 2996434 w 2996434"/>
              <a:gd name="connsiteY2" fmla="*/ 1759495 h 1759495"/>
              <a:gd name="connsiteX3" fmla="*/ 0 w 2996434"/>
              <a:gd name="connsiteY3" fmla="*/ 1759495 h 175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6434" h="1759495">
                <a:moveTo>
                  <a:pt x="0" y="0"/>
                </a:moveTo>
                <a:lnTo>
                  <a:pt x="2996434" y="0"/>
                </a:lnTo>
                <a:lnTo>
                  <a:pt x="2996434" y="1759495"/>
                </a:lnTo>
                <a:lnTo>
                  <a:pt x="0" y="175949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2141561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DD7C4AC0-8265-D80F-B17C-FDD67C7536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90773" y="3638516"/>
            <a:ext cx="2977393" cy="2977393"/>
          </a:xfrm>
          <a:custGeom>
            <a:avLst/>
            <a:gdLst>
              <a:gd name="connsiteX0" fmla="*/ 1488697 w 2977393"/>
              <a:gd name="connsiteY0" fmla="*/ 0 h 2977393"/>
              <a:gd name="connsiteX1" fmla="*/ 2977393 w 2977393"/>
              <a:gd name="connsiteY1" fmla="*/ 1488697 h 2977393"/>
              <a:gd name="connsiteX2" fmla="*/ 1488697 w 2977393"/>
              <a:gd name="connsiteY2" fmla="*/ 2977393 h 2977393"/>
              <a:gd name="connsiteX3" fmla="*/ 0 w 2977393"/>
              <a:gd name="connsiteY3" fmla="*/ 1488697 h 2977393"/>
              <a:gd name="connsiteX4" fmla="*/ 1488697 w 2977393"/>
              <a:gd name="connsiteY4" fmla="*/ 0 h 2977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7393" h="2977393">
                <a:moveTo>
                  <a:pt x="1488697" y="0"/>
                </a:moveTo>
                <a:cubicBezTo>
                  <a:pt x="2310881" y="0"/>
                  <a:pt x="2977393" y="666512"/>
                  <a:pt x="2977393" y="1488697"/>
                </a:cubicBezTo>
                <a:cubicBezTo>
                  <a:pt x="2977393" y="2310881"/>
                  <a:pt x="2310881" y="2977393"/>
                  <a:pt x="1488697" y="2977393"/>
                </a:cubicBezTo>
                <a:cubicBezTo>
                  <a:pt x="666512" y="2977393"/>
                  <a:pt x="0" y="2310881"/>
                  <a:pt x="0" y="1488697"/>
                </a:cubicBezTo>
                <a:cubicBezTo>
                  <a:pt x="0" y="666512"/>
                  <a:pt x="666512" y="0"/>
                  <a:pt x="148869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13407AC6-07DC-FEFD-D7C7-FE9F3A53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90773" y="212417"/>
            <a:ext cx="2977393" cy="2977393"/>
          </a:xfrm>
          <a:custGeom>
            <a:avLst/>
            <a:gdLst>
              <a:gd name="connsiteX0" fmla="*/ 1488697 w 2977393"/>
              <a:gd name="connsiteY0" fmla="*/ 0 h 2977393"/>
              <a:gd name="connsiteX1" fmla="*/ 2977393 w 2977393"/>
              <a:gd name="connsiteY1" fmla="*/ 1488697 h 2977393"/>
              <a:gd name="connsiteX2" fmla="*/ 1488697 w 2977393"/>
              <a:gd name="connsiteY2" fmla="*/ 2977393 h 2977393"/>
              <a:gd name="connsiteX3" fmla="*/ 0 w 2977393"/>
              <a:gd name="connsiteY3" fmla="*/ 1488697 h 2977393"/>
              <a:gd name="connsiteX4" fmla="*/ 1488697 w 2977393"/>
              <a:gd name="connsiteY4" fmla="*/ 0 h 2977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7393" h="2977393">
                <a:moveTo>
                  <a:pt x="1488697" y="0"/>
                </a:moveTo>
                <a:cubicBezTo>
                  <a:pt x="2310881" y="0"/>
                  <a:pt x="2977393" y="666512"/>
                  <a:pt x="2977393" y="1488697"/>
                </a:cubicBezTo>
                <a:cubicBezTo>
                  <a:pt x="2977393" y="2310881"/>
                  <a:pt x="2310881" y="2977393"/>
                  <a:pt x="1488697" y="2977393"/>
                </a:cubicBezTo>
                <a:cubicBezTo>
                  <a:pt x="666512" y="2977393"/>
                  <a:pt x="0" y="2310881"/>
                  <a:pt x="0" y="1488697"/>
                </a:cubicBezTo>
                <a:cubicBezTo>
                  <a:pt x="0" y="666512"/>
                  <a:pt x="666512" y="0"/>
                  <a:pt x="148869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0646053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851C8199-A725-304C-0818-861A1108DC2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94450" y="2474843"/>
            <a:ext cx="4003371" cy="1167036"/>
          </a:xfrm>
          <a:custGeom>
            <a:avLst/>
            <a:gdLst>
              <a:gd name="connsiteX0" fmla="*/ 0 w 4003371"/>
              <a:gd name="connsiteY0" fmla="*/ 0 h 1167036"/>
              <a:gd name="connsiteX1" fmla="*/ 4003371 w 4003371"/>
              <a:gd name="connsiteY1" fmla="*/ 0 h 1167036"/>
              <a:gd name="connsiteX2" fmla="*/ 4003371 w 4003371"/>
              <a:gd name="connsiteY2" fmla="*/ 1167036 h 1167036"/>
              <a:gd name="connsiteX3" fmla="*/ 0 w 4003371"/>
              <a:gd name="connsiteY3" fmla="*/ 1167036 h 1167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3371" h="1167036">
                <a:moveTo>
                  <a:pt x="0" y="0"/>
                </a:moveTo>
                <a:lnTo>
                  <a:pt x="4003371" y="0"/>
                </a:lnTo>
                <a:lnTo>
                  <a:pt x="4003371" y="1167036"/>
                </a:lnTo>
                <a:lnTo>
                  <a:pt x="0" y="116703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99A13C65-27DE-FADF-61FD-83E6F6B75B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94184" y="2474843"/>
            <a:ext cx="4003371" cy="1167036"/>
          </a:xfrm>
          <a:custGeom>
            <a:avLst/>
            <a:gdLst>
              <a:gd name="connsiteX0" fmla="*/ 0 w 4003371"/>
              <a:gd name="connsiteY0" fmla="*/ 0 h 1167036"/>
              <a:gd name="connsiteX1" fmla="*/ 4003371 w 4003371"/>
              <a:gd name="connsiteY1" fmla="*/ 0 h 1167036"/>
              <a:gd name="connsiteX2" fmla="*/ 4003371 w 4003371"/>
              <a:gd name="connsiteY2" fmla="*/ 1167036 h 1167036"/>
              <a:gd name="connsiteX3" fmla="*/ 0 w 4003371"/>
              <a:gd name="connsiteY3" fmla="*/ 1167036 h 1167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3371" h="1167036">
                <a:moveTo>
                  <a:pt x="0" y="0"/>
                </a:moveTo>
                <a:lnTo>
                  <a:pt x="4003371" y="0"/>
                </a:lnTo>
                <a:lnTo>
                  <a:pt x="4003371" y="1167036"/>
                </a:lnTo>
                <a:lnTo>
                  <a:pt x="0" y="116703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083531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68C1F016-AE0A-CFBF-F51B-1151DB36F6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2483" y="2072640"/>
            <a:ext cx="2652397" cy="2184058"/>
          </a:xfrm>
          <a:custGeom>
            <a:avLst/>
            <a:gdLst>
              <a:gd name="connsiteX0" fmla="*/ 364017 w 2652397"/>
              <a:gd name="connsiteY0" fmla="*/ 0 h 2184058"/>
              <a:gd name="connsiteX1" fmla="*/ 2288380 w 2652397"/>
              <a:gd name="connsiteY1" fmla="*/ 0 h 2184058"/>
              <a:gd name="connsiteX2" fmla="*/ 2652397 w 2652397"/>
              <a:gd name="connsiteY2" fmla="*/ 364017 h 2184058"/>
              <a:gd name="connsiteX3" fmla="*/ 2652397 w 2652397"/>
              <a:gd name="connsiteY3" fmla="*/ 1820041 h 2184058"/>
              <a:gd name="connsiteX4" fmla="*/ 2288380 w 2652397"/>
              <a:gd name="connsiteY4" fmla="*/ 2184058 h 2184058"/>
              <a:gd name="connsiteX5" fmla="*/ 364017 w 2652397"/>
              <a:gd name="connsiteY5" fmla="*/ 2184058 h 2184058"/>
              <a:gd name="connsiteX6" fmla="*/ 0 w 2652397"/>
              <a:gd name="connsiteY6" fmla="*/ 1820041 h 2184058"/>
              <a:gd name="connsiteX7" fmla="*/ 0 w 2652397"/>
              <a:gd name="connsiteY7" fmla="*/ 364017 h 2184058"/>
              <a:gd name="connsiteX8" fmla="*/ 364017 w 2652397"/>
              <a:gd name="connsiteY8" fmla="*/ 0 h 218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2397" h="2184058">
                <a:moveTo>
                  <a:pt x="364017" y="0"/>
                </a:moveTo>
                <a:lnTo>
                  <a:pt x="2288380" y="0"/>
                </a:lnTo>
                <a:cubicBezTo>
                  <a:pt x="2489421" y="0"/>
                  <a:pt x="2652397" y="162976"/>
                  <a:pt x="2652397" y="364017"/>
                </a:cubicBezTo>
                <a:lnTo>
                  <a:pt x="2652397" y="1820041"/>
                </a:lnTo>
                <a:cubicBezTo>
                  <a:pt x="2652397" y="2021082"/>
                  <a:pt x="2489421" y="2184058"/>
                  <a:pt x="2288380" y="2184058"/>
                </a:cubicBezTo>
                <a:lnTo>
                  <a:pt x="364017" y="2184058"/>
                </a:lnTo>
                <a:cubicBezTo>
                  <a:pt x="162976" y="2184058"/>
                  <a:pt x="0" y="2021082"/>
                  <a:pt x="0" y="1820041"/>
                </a:cubicBezTo>
                <a:lnTo>
                  <a:pt x="0" y="364017"/>
                </a:lnTo>
                <a:cubicBezTo>
                  <a:pt x="0" y="162976"/>
                  <a:pt x="162976" y="0"/>
                  <a:pt x="36401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B5D17425-D98C-C97B-42FC-B53C08CB3F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7125" y="2072640"/>
            <a:ext cx="2652397" cy="2184058"/>
          </a:xfrm>
          <a:custGeom>
            <a:avLst/>
            <a:gdLst>
              <a:gd name="connsiteX0" fmla="*/ 364017 w 2652397"/>
              <a:gd name="connsiteY0" fmla="*/ 0 h 2184058"/>
              <a:gd name="connsiteX1" fmla="*/ 2288380 w 2652397"/>
              <a:gd name="connsiteY1" fmla="*/ 0 h 2184058"/>
              <a:gd name="connsiteX2" fmla="*/ 2652397 w 2652397"/>
              <a:gd name="connsiteY2" fmla="*/ 364017 h 2184058"/>
              <a:gd name="connsiteX3" fmla="*/ 2652397 w 2652397"/>
              <a:gd name="connsiteY3" fmla="*/ 1820041 h 2184058"/>
              <a:gd name="connsiteX4" fmla="*/ 2288380 w 2652397"/>
              <a:gd name="connsiteY4" fmla="*/ 2184058 h 2184058"/>
              <a:gd name="connsiteX5" fmla="*/ 364017 w 2652397"/>
              <a:gd name="connsiteY5" fmla="*/ 2184058 h 2184058"/>
              <a:gd name="connsiteX6" fmla="*/ 0 w 2652397"/>
              <a:gd name="connsiteY6" fmla="*/ 1820041 h 2184058"/>
              <a:gd name="connsiteX7" fmla="*/ 0 w 2652397"/>
              <a:gd name="connsiteY7" fmla="*/ 364017 h 2184058"/>
              <a:gd name="connsiteX8" fmla="*/ 364017 w 2652397"/>
              <a:gd name="connsiteY8" fmla="*/ 0 h 218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2397" h="2184058">
                <a:moveTo>
                  <a:pt x="364017" y="0"/>
                </a:moveTo>
                <a:lnTo>
                  <a:pt x="2288380" y="0"/>
                </a:lnTo>
                <a:cubicBezTo>
                  <a:pt x="2489421" y="0"/>
                  <a:pt x="2652397" y="162976"/>
                  <a:pt x="2652397" y="364017"/>
                </a:cubicBezTo>
                <a:lnTo>
                  <a:pt x="2652397" y="1820041"/>
                </a:lnTo>
                <a:cubicBezTo>
                  <a:pt x="2652397" y="2021082"/>
                  <a:pt x="2489421" y="2184058"/>
                  <a:pt x="2288380" y="2184058"/>
                </a:cubicBezTo>
                <a:lnTo>
                  <a:pt x="364017" y="2184058"/>
                </a:lnTo>
                <a:cubicBezTo>
                  <a:pt x="162976" y="2184058"/>
                  <a:pt x="0" y="2021082"/>
                  <a:pt x="0" y="1820041"/>
                </a:cubicBezTo>
                <a:lnTo>
                  <a:pt x="0" y="364017"/>
                </a:lnTo>
                <a:cubicBezTo>
                  <a:pt x="0" y="162976"/>
                  <a:pt x="162976" y="0"/>
                  <a:pt x="36401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1620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4DC0DBFA-31BF-89E8-6F57-004DE54B3F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70439" y="3965819"/>
            <a:ext cx="2785669" cy="1515508"/>
          </a:xfrm>
          <a:custGeom>
            <a:avLst/>
            <a:gdLst>
              <a:gd name="connsiteX0" fmla="*/ 0 w 2785669"/>
              <a:gd name="connsiteY0" fmla="*/ 0 h 1515508"/>
              <a:gd name="connsiteX1" fmla="*/ 2785669 w 2785669"/>
              <a:gd name="connsiteY1" fmla="*/ 0 h 1515508"/>
              <a:gd name="connsiteX2" fmla="*/ 2785669 w 2785669"/>
              <a:gd name="connsiteY2" fmla="*/ 1515508 h 1515508"/>
              <a:gd name="connsiteX3" fmla="*/ 0 w 2785669"/>
              <a:gd name="connsiteY3" fmla="*/ 1515508 h 1515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669" h="1515508">
                <a:moveTo>
                  <a:pt x="0" y="0"/>
                </a:moveTo>
                <a:lnTo>
                  <a:pt x="2785669" y="0"/>
                </a:lnTo>
                <a:lnTo>
                  <a:pt x="2785669" y="1515508"/>
                </a:lnTo>
                <a:lnTo>
                  <a:pt x="0" y="15155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652DF7A4-FDF8-889D-84A6-EB8B9E1860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5895" y="3965819"/>
            <a:ext cx="2785669" cy="1515508"/>
          </a:xfrm>
          <a:custGeom>
            <a:avLst/>
            <a:gdLst>
              <a:gd name="connsiteX0" fmla="*/ 0 w 2785669"/>
              <a:gd name="connsiteY0" fmla="*/ 0 h 1515508"/>
              <a:gd name="connsiteX1" fmla="*/ 2785669 w 2785669"/>
              <a:gd name="connsiteY1" fmla="*/ 0 h 1515508"/>
              <a:gd name="connsiteX2" fmla="*/ 2785669 w 2785669"/>
              <a:gd name="connsiteY2" fmla="*/ 1515508 h 1515508"/>
              <a:gd name="connsiteX3" fmla="*/ 0 w 2785669"/>
              <a:gd name="connsiteY3" fmla="*/ 1515508 h 1515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669" h="1515508">
                <a:moveTo>
                  <a:pt x="0" y="0"/>
                </a:moveTo>
                <a:lnTo>
                  <a:pt x="2785669" y="0"/>
                </a:lnTo>
                <a:lnTo>
                  <a:pt x="2785669" y="1515508"/>
                </a:lnTo>
                <a:lnTo>
                  <a:pt x="0" y="15155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2054324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A99C5196-E3EF-36B2-1773-AD345A68BB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20000" y="0"/>
            <a:ext cx="4572000" cy="6858000"/>
          </a:xfrm>
          <a:custGeom>
            <a:avLst/>
            <a:gdLst>
              <a:gd name="connsiteX0" fmla="*/ 0 w 4572000"/>
              <a:gd name="connsiteY0" fmla="*/ 0 h 6858000"/>
              <a:gd name="connsiteX1" fmla="*/ 4572000 w 4572000"/>
              <a:gd name="connsiteY1" fmla="*/ 0 h 6858000"/>
              <a:gd name="connsiteX2" fmla="*/ 4572000 w 4572000"/>
              <a:gd name="connsiteY2" fmla="*/ 6858000 h 6858000"/>
              <a:gd name="connsiteX3" fmla="*/ 0 w 457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6858000">
                <a:moveTo>
                  <a:pt x="0" y="0"/>
                </a:moveTo>
                <a:lnTo>
                  <a:pt x="4572000" y="0"/>
                </a:lnTo>
                <a:lnTo>
                  <a:pt x="457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514279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0E224573-0A5B-2A80-A39F-78623C333A8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0570" y="3244759"/>
            <a:ext cx="1595871" cy="1519877"/>
          </a:xfrm>
          <a:custGeom>
            <a:avLst/>
            <a:gdLst>
              <a:gd name="connsiteX0" fmla="*/ 797936 w 1595871"/>
              <a:gd name="connsiteY0" fmla="*/ 0 h 1519877"/>
              <a:gd name="connsiteX1" fmla="*/ 1595871 w 1595871"/>
              <a:gd name="connsiteY1" fmla="*/ 580541 h 1519877"/>
              <a:gd name="connsiteX2" fmla="*/ 1291087 w 1595871"/>
              <a:gd name="connsiteY2" fmla="*/ 1519877 h 1519877"/>
              <a:gd name="connsiteX3" fmla="*/ 304784 w 1595871"/>
              <a:gd name="connsiteY3" fmla="*/ 1519877 h 1519877"/>
              <a:gd name="connsiteX4" fmla="*/ 0 w 1595871"/>
              <a:gd name="connsiteY4" fmla="*/ 580541 h 1519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5871" h="1519877">
                <a:moveTo>
                  <a:pt x="797936" y="0"/>
                </a:moveTo>
                <a:lnTo>
                  <a:pt x="1595871" y="580541"/>
                </a:lnTo>
                <a:lnTo>
                  <a:pt x="1291087" y="1519877"/>
                </a:lnTo>
                <a:lnTo>
                  <a:pt x="304784" y="1519877"/>
                </a:lnTo>
                <a:lnTo>
                  <a:pt x="0" y="580541"/>
                </a:lnTo>
                <a:close/>
              </a:path>
            </a:pathLst>
          </a:custGeom>
          <a:ln w="5080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158623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9D5E0615-4DA9-6FE9-78D6-18407E9B98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08462" y="633807"/>
            <a:ext cx="2826894" cy="5603480"/>
          </a:xfrm>
          <a:custGeom>
            <a:avLst/>
            <a:gdLst>
              <a:gd name="connsiteX0" fmla="*/ 2816773 w 2826894"/>
              <a:gd name="connsiteY0" fmla="*/ 0 h 5603480"/>
              <a:gd name="connsiteX1" fmla="*/ 2826894 w 2826894"/>
              <a:gd name="connsiteY1" fmla="*/ 508 h 5603480"/>
              <a:gd name="connsiteX2" fmla="*/ 2826894 w 2826894"/>
              <a:gd name="connsiteY2" fmla="*/ 5602972 h 5603480"/>
              <a:gd name="connsiteX3" fmla="*/ 2816773 w 2826894"/>
              <a:gd name="connsiteY3" fmla="*/ 5603480 h 5603480"/>
              <a:gd name="connsiteX4" fmla="*/ 0 w 2826894"/>
              <a:gd name="connsiteY4" fmla="*/ 2801740 h 5603480"/>
              <a:gd name="connsiteX5" fmla="*/ 2816773 w 2826894"/>
              <a:gd name="connsiteY5" fmla="*/ 0 h 5603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26894" h="5603480">
                <a:moveTo>
                  <a:pt x="2816773" y="0"/>
                </a:moveTo>
                <a:lnTo>
                  <a:pt x="2826894" y="508"/>
                </a:lnTo>
                <a:lnTo>
                  <a:pt x="2826894" y="5602972"/>
                </a:lnTo>
                <a:lnTo>
                  <a:pt x="2816773" y="5603480"/>
                </a:lnTo>
                <a:cubicBezTo>
                  <a:pt x="1261112" y="5603480"/>
                  <a:pt x="0" y="4349099"/>
                  <a:pt x="0" y="2801740"/>
                </a:cubicBezTo>
                <a:cubicBezTo>
                  <a:pt x="0" y="1254382"/>
                  <a:pt x="1261112" y="0"/>
                  <a:pt x="281677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98695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0951ACD-F82B-560A-D881-38C697F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319" y="6331129"/>
            <a:ext cx="169919" cy="15388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ko-KR" altLang="en-US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9CB01BD-A329-4C55-8D6A-341E07341A8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7778014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및 부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/>
          </p:nvPr>
        </p:nvSpPr>
        <p:spPr>
          <a:xfrm>
            <a:off x="2416969" y="1151930"/>
            <a:ext cx="7358063" cy="2321719"/>
          </a:xfrm>
          <a:prstGeom prst="rect">
            <a:avLst/>
          </a:prstGeom>
        </p:spPr>
        <p:txBody>
          <a:bodyPr anchor="b"/>
          <a:lstStyle/>
          <a:p>
            <a:r>
              <a:t>제목 텍스트</a:t>
            </a:r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2416969" y="3545086"/>
            <a:ext cx="7358063" cy="794743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600"/>
            </a:lvl1pPr>
            <a:lvl2pPr marL="0" indent="0" algn="ctr">
              <a:spcBef>
                <a:spcPts val="0"/>
              </a:spcBef>
              <a:buSzTx/>
              <a:buNone/>
              <a:defRPr sz="2600"/>
            </a:lvl2pPr>
            <a:lvl3pPr marL="0" indent="0" algn="ctr">
              <a:spcBef>
                <a:spcPts val="0"/>
              </a:spcBef>
              <a:buSzTx/>
              <a:buNone/>
              <a:defRPr sz="2600"/>
            </a:lvl3pPr>
            <a:lvl4pPr marL="0" indent="0" algn="ctr">
              <a:spcBef>
                <a:spcPts val="0"/>
              </a:spcBef>
              <a:buSzTx/>
              <a:buNone/>
              <a:defRPr sz="2600"/>
            </a:lvl4pPr>
            <a:lvl5pPr marL="0" indent="0" algn="ctr">
              <a:spcBef>
                <a:spcPts val="0"/>
              </a:spcBef>
              <a:buSzTx/>
              <a:buNone/>
              <a:defRPr sz="26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KlavikaNX Light"/>
                <a:ea typeface="KlavikaNX Light"/>
                <a:cs typeface="KlavikaNX Light"/>
                <a:sym typeface="KlavikaNX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3869777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357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텍스트 개체 틀 17">
            <a:extLst>
              <a:ext uri="{FF2B5EF4-FFF2-40B4-BE49-F238E27FC236}">
                <a16:creationId xmlns:a16="http://schemas.microsoft.com/office/drawing/2014/main" id="{45DBF889-1687-6363-B099-33A2AC0B1B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89958" y="888142"/>
            <a:ext cx="1366080" cy="251607"/>
          </a:xfrm>
          <a:noFill/>
        </p:spPr>
        <p:txBody>
          <a:bodyPr wrap="none" rtlCol="0">
            <a:spAutoFit/>
          </a:bodyPr>
          <a:lstStyle>
            <a:lvl1pPr marL="0" indent="0">
              <a:buNone/>
              <a:def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2023.02 ~ 2023.12</a:t>
            </a:r>
            <a:endParaRPr lang="ko-KR" altLang="en-US" dirty="0"/>
          </a:p>
        </p:txBody>
      </p:sp>
      <p:sp>
        <p:nvSpPr>
          <p:cNvPr id="21" name="텍스트 개체 틀 17">
            <a:extLst>
              <a:ext uri="{FF2B5EF4-FFF2-40B4-BE49-F238E27FC236}">
                <a16:creationId xmlns:a16="http://schemas.microsoft.com/office/drawing/2014/main" id="{FD6D0AA1-0481-3BE9-C1CA-CF47CD9CF9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38" y="744666"/>
            <a:ext cx="1790875" cy="452432"/>
          </a:xfrm>
          <a:noFill/>
        </p:spPr>
        <p:txBody>
          <a:bodyPr wrap="none" rtlCol="0">
            <a:spAutoFit/>
          </a:bodyPr>
          <a:lstStyle>
            <a:lvl1pPr marL="0" indent="0">
              <a:buNone/>
              <a:defRPr lang="ko-KR" altLang="en-US" sz="2600" dirty="0" smtClean="0">
                <a:solidFill>
                  <a:schemeClr val="accent2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2600" dirty="0">
                <a:solidFill>
                  <a:schemeClr val="accent2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프로젝트 </a:t>
            </a:r>
            <a:r>
              <a:rPr lang="ko-KR" altLang="en-US" sz="26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이름</a:t>
            </a:r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0D212CD8-999D-B4BB-B212-689EDDB9B245}"/>
              </a:ext>
            </a:extLst>
          </p:cNvPr>
          <p:cNvSpPr/>
          <p:nvPr userDrawn="1"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EE44A2F2-0ABE-AA4C-5E15-5CDA55FFB5C1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5311" y="511402"/>
            <a:ext cx="2151551" cy="300082"/>
          </a:xfrm>
          <a:noFill/>
        </p:spPr>
        <p:txBody>
          <a:bodyPr wrap="none" rtlCol="0">
            <a:spAutoFit/>
          </a:bodyPr>
          <a:lstStyle>
            <a:lvl1pPr marL="0" indent="0">
              <a:buNone/>
              <a:defRPr lang="ko-KR" altLang="en-US" sz="1500" smtClean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프로젝트 부제를 입력해주세요</a:t>
            </a:r>
          </a:p>
        </p:txBody>
      </p:sp>
    </p:spTree>
    <p:extLst>
      <p:ext uri="{BB962C8B-B14F-4D97-AF65-F5344CB8AC3E}">
        <p14:creationId xmlns:p14="http://schemas.microsoft.com/office/powerpoint/2010/main" val="329178100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46BB7AA0-3920-223E-2B79-59EAD1CA8CD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72369" y="2486025"/>
            <a:ext cx="3439715" cy="4371975"/>
          </a:xfrm>
          <a:custGeom>
            <a:avLst/>
            <a:gdLst>
              <a:gd name="connsiteX0" fmla="*/ 0 w 3439715"/>
              <a:gd name="connsiteY0" fmla="*/ 0 h 4371975"/>
              <a:gd name="connsiteX1" fmla="*/ 3439715 w 3439715"/>
              <a:gd name="connsiteY1" fmla="*/ 0 h 4371975"/>
              <a:gd name="connsiteX2" fmla="*/ 3439715 w 3439715"/>
              <a:gd name="connsiteY2" fmla="*/ 4371975 h 4371975"/>
              <a:gd name="connsiteX3" fmla="*/ 0 w 3439715"/>
              <a:gd name="connsiteY3" fmla="*/ 4371975 h 437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9715" h="4371975">
                <a:moveTo>
                  <a:pt x="0" y="0"/>
                </a:moveTo>
                <a:lnTo>
                  <a:pt x="3439715" y="0"/>
                </a:lnTo>
                <a:lnTo>
                  <a:pt x="3439715" y="4371975"/>
                </a:lnTo>
                <a:lnTo>
                  <a:pt x="0" y="43719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096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2B70624B-E27A-457C-4512-46D87BB871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82125" y="745798"/>
            <a:ext cx="4825997" cy="6133978"/>
          </a:xfrm>
          <a:custGeom>
            <a:avLst/>
            <a:gdLst>
              <a:gd name="connsiteX0" fmla="*/ 0 w 4825997"/>
              <a:gd name="connsiteY0" fmla="*/ 0 h 6133978"/>
              <a:gd name="connsiteX1" fmla="*/ 4825997 w 4825997"/>
              <a:gd name="connsiteY1" fmla="*/ 0 h 6133978"/>
              <a:gd name="connsiteX2" fmla="*/ 4825997 w 4825997"/>
              <a:gd name="connsiteY2" fmla="*/ 6133978 h 6133978"/>
              <a:gd name="connsiteX3" fmla="*/ 0 w 4825997"/>
              <a:gd name="connsiteY3" fmla="*/ 6133978 h 6133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5997" h="6133978">
                <a:moveTo>
                  <a:pt x="0" y="0"/>
                </a:moveTo>
                <a:lnTo>
                  <a:pt x="4825997" y="0"/>
                </a:lnTo>
                <a:lnTo>
                  <a:pt x="4825997" y="6133978"/>
                </a:lnTo>
                <a:lnTo>
                  <a:pt x="0" y="61339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5C4965C4-2F35-D4ED-7B28-857B6E07A3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25488" y="745798"/>
            <a:ext cx="4825997" cy="6133978"/>
          </a:xfrm>
          <a:custGeom>
            <a:avLst/>
            <a:gdLst>
              <a:gd name="connsiteX0" fmla="*/ 0 w 4825997"/>
              <a:gd name="connsiteY0" fmla="*/ 0 h 6133978"/>
              <a:gd name="connsiteX1" fmla="*/ 4825997 w 4825997"/>
              <a:gd name="connsiteY1" fmla="*/ 0 h 6133978"/>
              <a:gd name="connsiteX2" fmla="*/ 4825997 w 4825997"/>
              <a:gd name="connsiteY2" fmla="*/ 6133978 h 6133978"/>
              <a:gd name="connsiteX3" fmla="*/ 0 w 4825997"/>
              <a:gd name="connsiteY3" fmla="*/ 6133978 h 6133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5997" h="6133978">
                <a:moveTo>
                  <a:pt x="0" y="0"/>
                </a:moveTo>
                <a:lnTo>
                  <a:pt x="4825997" y="0"/>
                </a:lnTo>
                <a:lnTo>
                  <a:pt x="4825997" y="6133978"/>
                </a:lnTo>
                <a:lnTo>
                  <a:pt x="0" y="61339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388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7F40C84D-BDDD-3244-CD9D-D8281C26CD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22134" y="2611510"/>
            <a:ext cx="1591624" cy="1434854"/>
          </a:xfrm>
          <a:custGeom>
            <a:avLst/>
            <a:gdLst>
              <a:gd name="connsiteX0" fmla="*/ 0 w 1591624"/>
              <a:gd name="connsiteY0" fmla="*/ 0 h 1434854"/>
              <a:gd name="connsiteX1" fmla="*/ 1591624 w 1591624"/>
              <a:gd name="connsiteY1" fmla="*/ 0 h 1434854"/>
              <a:gd name="connsiteX2" fmla="*/ 1591624 w 1591624"/>
              <a:gd name="connsiteY2" fmla="*/ 1434854 h 1434854"/>
              <a:gd name="connsiteX3" fmla="*/ 0 w 1591624"/>
              <a:gd name="connsiteY3" fmla="*/ 1434854 h 1434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1624" h="1434854">
                <a:moveTo>
                  <a:pt x="0" y="0"/>
                </a:moveTo>
                <a:lnTo>
                  <a:pt x="1591624" y="0"/>
                </a:lnTo>
                <a:lnTo>
                  <a:pt x="1591624" y="1434854"/>
                </a:lnTo>
                <a:lnTo>
                  <a:pt x="0" y="14348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955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1078AABA-58B6-CAF7-8715-29DDD1964F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4798" y="-95744"/>
            <a:ext cx="4635830" cy="6953745"/>
          </a:xfrm>
          <a:custGeom>
            <a:avLst/>
            <a:gdLst>
              <a:gd name="connsiteX0" fmla="*/ 0 w 4635830"/>
              <a:gd name="connsiteY0" fmla="*/ 0 h 6953745"/>
              <a:gd name="connsiteX1" fmla="*/ 4635830 w 4635830"/>
              <a:gd name="connsiteY1" fmla="*/ 0 h 6953745"/>
              <a:gd name="connsiteX2" fmla="*/ 4635830 w 4635830"/>
              <a:gd name="connsiteY2" fmla="*/ 6953745 h 6953745"/>
              <a:gd name="connsiteX3" fmla="*/ 0 w 4635830"/>
              <a:gd name="connsiteY3" fmla="*/ 6953745 h 6953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5830" h="6953745">
                <a:moveTo>
                  <a:pt x="0" y="0"/>
                </a:moveTo>
                <a:lnTo>
                  <a:pt x="4635830" y="0"/>
                </a:lnTo>
                <a:lnTo>
                  <a:pt x="4635830" y="6953745"/>
                </a:lnTo>
                <a:lnTo>
                  <a:pt x="0" y="69537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417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C132A2B2-AC00-D0F7-6B4C-2F6229E369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77419" y="-47075"/>
            <a:ext cx="2665871" cy="3171061"/>
          </a:xfrm>
          <a:custGeom>
            <a:avLst/>
            <a:gdLst>
              <a:gd name="connsiteX0" fmla="*/ 0 w 2665871"/>
              <a:gd name="connsiteY0" fmla="*/ 0 h 3171061"/>
              <a:gd name="connsiteX1" fmla="*/ 2665871 w 2665871"/>
              <a:gd name="connsiteY1" fmla="*/ 0 h 3171061"/>
              <a:gd name="connsiteX2" fmla="*/ 2665871 w 2665871"/>
              <a:gd name="connsiteY2" fmla="*/ 3171061 h 3171061"/>
              <a:gd name="connsiteX3" fmla="*/ 0 w 2665871"/>
              <a:gd name="connsiteY3" fmla="*/ 3171061 h 317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5871" h="3171061">
                <a:moveTo>
                  <a:pt x="0" y="0"/>
                </a:moveTo>
                <a:lnTo>
                  <a:pt x="2665871" y="0"/>
                </a:lnTo>
                <a:lnTo>
                  <a:pt x="2665871" y="3171061"/>
                </a:lnTo>
                <a:lnTo>
                  <a:pt x="0" y="317106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08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3CB4CEAA-74BA-AA0E-A47C-F19A13785A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7591" y="2663265"/>
            <a:ext cx="3060084" cy="2040056"/>
          </a:xfrm>
          <a:custGeom>
            <a:avLst/>
            <a:gdLst>
              <a:gd name="connsiteX0" fmla="*/ 0 w 3060084"/>
              <a:gd name="connsiteY0" fmla="*/ 0 h 2040056"/>
              <a:gd name="connsiteX1" fmla="*/ 3060084 w 3060084"/>
              <a:gd name="connsiteY1" fmla="*/ 0 h 2040056"/>
              <a:gd name="connsiteX2" fmla="*/ 3060084 w 3060084"/>
              <a:gd name="connsiteY2" fmla="*/ 2040056 h 2040056"/>
              <a:gd name="connsiteX3" fmla="*/ 0 w 3060084"/>
              <a:gd name="connsiteY3" fmla="*/ 2040056 h 204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0084" h="2040056">
                <a:moveTo>
                  <a:pt x="0" y="0"/>
                </a:moveTo>
                <a:lnTo>
                  <a:pt x="3060084" y="0"/>
                </a:lnTo>
                <a:lnTo>
                  <a:pt x="3060084" y="2040056"/>
                </a:lnTo>
                <a:lnTo>
                  <a:pt x="0" y="204005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770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EB58B291-2961-BCFF-F7CE-F104A3EDB1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8554" y="2660013"/>
            <a:ext cx="3060084" cy="2172111"/>
          </a:xfrm>
          <a:custGeom>
            <a:avLst/>
            <a:gdLst>
              <a:gd name="connsiteX0" fmla="*/ 0 w 3060084"/>
              <a:gd name="connsiteY0" fmla="*/ 0 h 2172111"/>
              <a:gd name="connsiteX1" fmla="*/ 3060084 w 3060084"/>
              <a:gd name="connsiteY1" fmla="*/ 0 h 2172111"/>
              <a:gd name="connsiteX2" fmla="*/ 3060084 w 3060084"/>
              <a:gd name="connsiteY2" fmla="*/ 2172111 h 2172111"/>
              <a:gd name="connsiteX3" fmla="*/ 0 w 3060084"/>
              <a:gd name="connsiteY3" fmla="*/ 2172111 h 217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0084" h="2172111">
                <a:moveTo>
                  <a:pt x="0" y="0"/>
                </a:moveTo>
                <a:lnTo>
                  <a:pt x="3060084" y="0"/>
                </a:lnTo>
                <a:lnTo>
                  <a:pt x="3060084" y="2172111"/>
                </a:lnTo>
                <a:lnTo>
                  <a:pt x="0" y="21721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667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F9D2AEFD-BAF0-1021-CBAA-3C6D69EBF9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76789" y="0"/>
            <a:ext cx="5315211" cy="6858000"/>
          </a:xfrm>
          <a:custGeom>
            <a:avLst/>
            <a:gdLst>
              <a:gd name="connsiteX0" fmla="*/ 0 w 5315211"/>
              <a:gd name="connsiteY0" fmla="*/ 0 h 6858000"/>
              <a:gd name="connsiteX1" fmla="*/ 5315211 w 5315211"/>
              <a:gd name="connsiteY1" fmla="*/ 0 h 6858000"/>
              <a:gd name="connsiteX2" fmla="*/ 5315211 w 5315211"/>
              <a:gd name="connsiteY2" fmla="*/ 6858000 h 6858000"/>
              <a:gd name="connsiteX3" fmla="*/ 0 w 53152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5211" h="6858000">
                <a:moveTo>
                  <a:pt x="0" y="0"/>
                </a:moveTo>
                <a:lnTo>
                  <a:pt x="5315211" y="0"/>
                </a:lnTo>
                <a:lnTo>
                  <a:pt x="531521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3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6B03E451-FE91-AEDD-AD96-E60EF72F0D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9490" y="1753310"/>
            <a:ext cx="3143232" cy="2095488"/>
          </a:xfrm>
          <a:custGeom>
            <a:avLst/>
            <a:gdLst>
              <a:gd name="connsiteX0" fmla="*/ 0 w 3143232"/>
              <a:gd name="connsiteY0" fmla="*/ 0 h 2095488"/>
              <a:gd name="connsiteX1" fmla="*/ 3143232 w 3143232"/>
              <a:gd name="connsiteY1" fmla="*/ 0 h 2095488"/>
              <a:gd name="connsiteX2" fmla="*/ 3143232 w 3143232"/>
              <a:gd name="connsiteY2" fmla="*/ 2095488 h 2095488"/>
              <a:gd name="connsiteX3" fmla="*/ 0 w 3143232"/>
              <a:gd name="connsiteY3" fmla="*/ 2095488 h 209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3232" h="2095488">
                <a:moveTo>
                  <a:pt x="0" y="0"/>
                </a:moveTo>
                <a:lnTo>
                  <a:pt x="3143232" y="0"/>
                </a:lnTo>
                <a:lnTo>
                  <a:pt x="3143232" y="2095488"/>
                </a:lnTo>
                <a:lnTo>
                  <a:pt x="0" y="20954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201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22DFD6A0-EA62-03D8-0F4E-C669C2A664B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89788" y="877849"/>
            <a:ext cx="1240528" cy="1275560"/>
          </a:xfrm>
          <a:custGeom>
            <a:avLst/>
            <a:gdLst>
              <a:gd name="connsiteX0" fmla="*/ 620264 w 1240528"/>
              <a:gd name="connsiteY0" fmla="*/ 0 h 1275560"/>
              <a:gd name="connsiteX1" fmla="*/ 1240528 w 1240528"/>
              <a:gd name="connsiteY1" fmla="*/ 637780 h 1275560"/>
              <a:gd name="connsiteX2" fmla="*/ 620264 w 1240528"/>
              <a:gd name="connsiteY2" fmla="*/ 1275560 h 1275560"/>
              <a:gd name="connsiteX3" fmla="*/ 0 w 1240528"/>
              <a:gd name="connsiteY3" fmla="*/ 637780 h 1275560"/>
              <a:gd name="connsiteX4" fmla="*/ 620264 w 1240528"/>
              <a:gd name="connsiteY4" fmla="*/ 0 h 1275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0528" h="1275560">
                <a:moveTo>
                  <a:pt x="620264" y="0"/>
                </a:moveTo>
                <a:cubicBezTo>
                  <a:pt x="962826" y="0"/>
                  <a:pt x="1240528" y="285544"/>
                  <a:pt x="1240528" y="637780"/>
                </a:cubicBezTo>
                <a:cubicBezTo>
                  <a:pt x="1240528" y="990016"/>
                  <a:pt x="962826" y="1275560"/>
                  <a:pt x="620264" y="1275560"/>
                </a:cubicBezTo>
                <a:cubicBezTo>
                  <a:pt x="277702" y="1275560"/>
                  <a:pt x="0" y="990016"/>
                  <a:pt x="0" y="637780"/>
                </a:cubicBezTo>
                <a:cubicBezTo>
                  <a:pt x="0" y="285544"/>
                  <a:pt x="277702" y="0"/>
                  <a:pt x="620264" y="0"/>
                </a:cubicBezTo>
                <a:close/>
              </a:path>
            </a:pathLst>
          </a:custGeom>
          <a:ln w="38100"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E158FF6A-D681-DEAA-D7DA-5B0969906B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6376" y="877851"/>
            <a:ext cx="4304335" cy="4646539"/>
          </a:xfrm>
          <a:custGeom>
            <a:avLst/>
            <a:gdLst>
              <a:gd name="connsiteX0" fmla="*/ 0 w 4304335"/>
              <a:gd name="connsiteY0" fmla="*/ 0 h 4646539"/>
              <a:gd name="connsiteX1" fmla="*/ 4304335 w 4304335"/>
              <a:gd name="connsiteY1" fmla="*/ 0 h 4646539"/>
              <a:gd name="connsiteX2" fmla="*/ 4304335 w 4304335"/>
              <a:gd name="connsiteY2" fmla="*/ 4646539 h 4646539"/>
              <a:gd name="connsiteX3" fmla="*/ 0 w 4304335"/>
              <a:gd name="connsiteY3" fmla="*/ 4646539 h 464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04335" h="4646539">
                <a:moveTo>
                  <a:pt x="0" y="0"/>
                </a:moveTo>
                <a:lnTo>
                  <a:pt x="4304335" y="0"/>
                </a:lnTo>
                <a:lnTo>
                  <a:pt x="4304335" y="4646539"/>
                </a:lnTo>
                <a:lnTo>
                  <a:pt x="0" y="464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668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D1110AEB-8784-1AC5-DB68-0DEC6F3F9C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1" y="1165560"/>
            <a:ext cx="3779083" cy="5179678"/>
          </a:xfrm>
          <a:custGeom>
            <a:avLst/>
            <a:gdLst>
              <a:gd name="connsiteX0" fmla="*/ 208908 w 3779083"/>
              <a:gd name="connsiteY0" fmla="*/ 0 h 5179678"/>
              <a:gd name="connsiteX1" fmla="*/ 3570175 w 3779083"/>
              <a:gd name="connsiteY1" fmla="*/ 0 h 5179678"/>
              <a:gd name="connsiteX2" fmla="*/ 3779083 w 3779083"/>
              <a:gd name="connsiteY2" fmla="*/ 208908 h 5179678"/>
              <a:gd name="connsiteX3" fmla="*/ 3779083 w 3779083"/>
              <a:gd name="connsiteY3" fmla="*/ 4970770 h 5179678"/>
              <a:gd name="connsiteX4" fmla="*/ 3570175 w 3779083"/>
              <a:gd name="connsiteY4" fmla="*/ 5179678 h 5179678"/>
              <a:gd name="connsiteX5" fmla="*/ 208908 w 3779083"/>
              <a:gd name="connsiteY5" fmla="*/ 5179678 h 5179678"/>
              <a:gd name="connsiteX6" fmla="*/ 0 w 3779083"/>
              <a:gd name="connsiteY6" fmla="*/ 4970770 h 5179678"/>
              <a:gd name="connsiteX7" fmla="*/ 0 w 3779083"/>
              <a:gd name="connsiteY7" fmla="*/ 208908 h 5179678"/>
              <a:gd name="connsiteX8" fmla="*/ 208908 w 3779083"/>
              <a:gd name="connsiteY8" fmla="*/ 0 h 5179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79083" h="5179678">
                <a:moveTo>
                  <a:pt x="208908" y="0"/>
                </a:moveTo>
                <a:lnTo>
                  <a:pt x="3570175" y="0"/>
                </a:lnTo>
                <a:cubicBezTo>
                  <a:pt x="3685552" y="0"/>
                  <a:pt x="3779083" y="93531"/>
                  <a:pt x="3779083" y="208908"/>
                </a:cubicBezTo>
                <a:lnTo>
                  <a:pt x="3779083" y="4970770"/>
                </a:lnTo>
                <a:cubicBezTo>
                  <a:pt x="3779083" y="5086147"/>
                  <a:pt x="3685552" y="5179678"/>
                  <a:pt x="3570175" y="5179678"/>
                </a:cubicBezTo>
                <a:lnTo>
                  <a:pt x="208908" y="5179678"/>
                </a:lnTo>
                <a:cubicBezTo>
                  <a:pt x="93531" y="5179678"/>
                  <a:pt x="0" y="5086147"/>
                  <a:pt x="0" y="4970770"/>
                </a:cubicBezTo>
                <a:lnTo>
                  <a:pt x="0" y="208908"/>
                </a:lnTo>
                <a:cubicBezTo>
                  <a:pt x="0" y="93531"/>
                  <a:pt x="93531" y="0"/>
                  <a:pt x="20890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800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7C0B17E7-2B27-9BC3-C71C-569B8B7C65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57852" y="2375209"/>
            <a:ext cx="2676295" cy="1745263"/>
          </a:xfrm>
          <a:custGeom>
            <a:avLst/>
            <a:gdLst>
              <a:gd name="connsiteX0" fmla="*/ 301226 w 2676295"/>
              <a:gd name="connsiteY0" fmla="*/ 0 h 1745263"/>
              <a:gd name="connsiteX1" fmla="*/ 2375069 w 2676295"/>
              <a:gd name="connsiteY1" fmla="*/ 0 h 1745263"/>
              <a:gd name="connsiteX2" fmla="*/ 2676295 w 2676295"/>
              <a:gd name="connsiteY2" fmla="*/ 301226 h 1745263"/>
              <a:gd name="connsiteX3" fmla="*/ 2676295 w 2676295"/>
              <a:gd name="connsiteY3" fmla="*/ 1745263 h 1745263"/>
              <a:gd name="connsiteX4" fmla="*/ 0 w 2676295"/>
              <a:gd name="connsiteY4" fmla="*/ 1745263 h 1745263"/>
              <a:gd name="connsiteX5" fmla="*/ 0 w 2676295"/>
              <a:gd name="connsiteY5" fmla="*/ 301226 h 1745263"/>
              <a:gd name="connsiteX6" fmla="*/ 301226 w 2676295"/>
              <a:gd name="connsiteY6" fmla="*/ 0 h 1745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6295" h="1745263">
                <a:moveTo>
                  <a:pt x="301226" y="0"/>
                </a:moveTo>
                <a:lnTo>
                  <a:pt x="2375069" y="0"/>
                </a:lnTo>
                <a:cubicBezTo>
                  <a:pt x="2541432" y="0"/>
                  <a:pt x="2676295" y="134863"/>
                  <a:pt x="2676295" y="301226"/>
                </a:cubicBezTo>
                <a:lnTo>
                  <a:pt x="2676295" y="1745263"/>
                </a:lnTo>
                <a:lnTo>
                  <a:pt x="0" y="1745263"/>
                </a:lnTo>
                <a:lnTo>
                  <a:pt x="0" y="301226"/>
                </a:lnTo>
                <a:cubicBezTo>
                  <a:pt x="0" y="134863"/>
                  <a:pt x="134863" y="0"/>
                  <a:pt x="30122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E9D61E45-8A53-C5CD-31B8-B8D3207B76A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448906" y="2375209"/>
            <a:ext cx="2676295" cy="1745263"/>
          </a:xfrm>
          <a:custGeom>
            <a:avLst/>
            <a:gdLst>
              <a:gd name="connsiteX0" fmla="*/ 301226 w 2676295"/>
              <a:gd name="connsiteY0" fmla="*/ 0 h 1745263"/>
              <a:gd name="connsiteX1" fmla="*/ 2375069 w 2676295"/>
              <a:gd name="connsiteY1" fmla="*/ 0 h 1745263"/>
              <a:gd name="connsiteX2" fmla="*/ 2676295 w 2676295"/>
              <a:gd name="connsiteY2" fmla="*/ 301226 h 1745263"/>
              <a:gd name="connsiteX3" fmla="*/ 2676295 w 2676295"/>
              <a:gd name="connsiteY3" fmla="*/ 1745263 h 1745263"/>
              <a:gd name="connsiteX4" fmla="*/ 0 w 2676295"/>
              <a:gd name="connsiteY4" fmla="*/ 1745263 h 1745263"/>
              <a:gd name="connsiteX5" fmla="*/ 0 w 2676295"/>
              <a:gd name="connsiteY5" fmla="*/ 301226 h 1745263"/>
              <a:gd name="connsiteX6" fmla="*/ 301226 w 2676295"/>
              <a:gd name="connsiteY6" fmla="*/ 0 h 1745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6295" h="1745263">
                <a:moveTo>
                  <a:pt x="301226" y="0"/>
                </a:moveTo>
                <a:lnTo>
                  <a:pt x="2375069" y="0"/>
                </a:lnTo>
                <a:cubicBezTo>
                  <a:pt x="2541432" y="0"/>
                  <a:pt x="2676295" y="134863"/>
                  <a:pt x="2676295" y="301226"/>
                </a:cubicBezTo>
                <a:lnTo>
                  <a:pt x="2676295" y="1745263"/>
                </a:lnTo>
                <a:lnTo>
                  <a:pt x="0" y="1745263"/>
                </a:lnTo>
                <a:lnTo>
                  <a:pt x="0" y="301226"/>
                </a:lnTo>
                <a:cubicBezTo>
                  <a:pt x="0" y="134863"/>
                  <a:pt x="134863" y="0"/>
                  <a:pt x="30122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7995058A-20CF-6B79-2744-210E17D0D6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7949" y="2375209"/>
            <a:ext cx="2676295" cy="1745263"/>
          </a:xfrm>
          <a:custGeom>
            <a:avLst/>
            <a:gdLst>
              <a:gd name="connsiteX0" fmla="*/ 301226 w 2676295"/>
              <a:gd name="connsiteY0" fmla="*/ 0 h 1745263"/>
              <a:gd name="connsiteX1" fmla="*/ 2375069 w 2676295"/>
              <a:gd name="connsiteY1" fmla="*/ 0 h 1745263"/>
              <a:gd name="connsiteX2" fmla="*/ 2676295 w 2676295"/>
              <a:gd name="connsiteY2" fmla="*/ 301226 h 1745263"/>
              <a:gd name="connsiteX3" fmla="*/ 2676295 w 2676295"/>
              <a:gd name="connsiteY3" fmla="*/ 1745263 h 1745263"/>
              <a:gd name="connsiteX4" fmla="*/ 0 w 2676295"/>
              <a:gd name="connsiteY4" fmla="*/ 1745263 h 1745263"/>
              <a:gd name="connsiteX5" fmla="*/ 0 w 2676295"/>
              <a:gd name="connsiteY5" fmla="*/ 301226 h 1745263"/>
              <a:gd name="connsiteX6" fmla="*/ 301226 w 2676295"/>
              <a:gd name="connsiteY6" fmla="*/ 0 h 1745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6295" h="1745263">
                <a:moveTo>
                  <a:pt x="301226" y="0"/>
                </a:moveTo>
                <a:lnTo>
                  <a:pt x="2375069" y="0"/>
                </a:lnTo>
                <a:cubicBezTo>
                  <a:pt x="2541432" y="0"/>
                  <a:pt x="2676295" y="134863"/>
                  <a:pt x="2676295" y="301226"/>
                </a:cubicBezTo>
                <a:lnTo>
                  <a:pt x="2676295" y="1745263"/>
                </a:lnTo>
                <a:lnTo>
                  <a:pt x="0" y="1745263"/>
                </a:lnTo>
                <a:lnTo>
                  <a:pt x="0" y="301226"/>
                </a:lnTo>
                <a:cubicBezTo>
                  <a:pt x="0" y="134863"/>
                  <a:pt x="134863" y="0"/>
                  <a:pt x="30122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763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3A76E206-8D91-DE45-9A10-32BF2F64A27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07856" y="4028688"/>
            <a:ext cx="4865175" cy="2319034"/>
          </a:xfrm>
          <a:custGeom>
            <a:avLst/>
            <a:gdLst>
              <a:gd name="connsiteX0" fmla="*/ 128196 w 4865175"/>
              <a:gd name="connsiteY0" fmla="*/ 0 h 2319034"/>
              <a:gd name="connsiteX1" fmla="*/ 4736979 w 4865175"/>
              <a:gd name="connsiteY1" fmla="*/ 0 h 2319034"/>
              <a:gd name="connsiteX2" fmla="*/ 4865175 w 4865175"/>
              <a:gd name="connsiteY2" fmla="*/ 128196 h 2319034"/>
              <a:gd name="connsiteX3" fmla="*/ 4865175 w 4865175"/>
              <a:gd name="connsiteY3" fmla="*/ 2190838 h 2319034"/>
              <a:gd name="connsiteX4" fmla="*/ 4736979 w 4865175"/>
              <a:gd name="connsiteY4" fmla="*/ 2319034 h 2319034"/>
              <a:gd name="connsiteX5" fmla="*/ 128196 w 4865175"/>
              <a:gd name="connsiteY5" fmla="*/ 2319034 h 2319034"/>
              <a:gd name="connsiteX6" fmla="*/ 0 w 4865175"/>
              <a:gd name="connsiteY6" fmla="*/ 2190838 h 2319034"/>
              <a:gd name="connsiteX7" fmla="*/ 0 w 4865175"/>
              <a:gd name="connsiteY7" fmla="*/ 128196 h 2319034"/>
              <a:gd name="connsiteX8" fmla="*/ 128196 w 4865175"/>
              <a:gd name="connsiteY8" fmla="*/ 0 h 231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65175" h="2319034">
                <a:moveTo>
                  <a:pt x="128196" y="0"/>
                </a:moveTo>
                <a:lnTo>
                  <a:pt x="4736979" y="0"/>
                </a:lnTo>
                <a:cubicBezTo>
                  <a:pt x="4807780" y="0"/>
                  <a:pt x="4865175" y="57395"/>
                  <a:pt x="4865175" y="128196"/>
                </a:cubicBezTo>
                <a:lnTo>
                  <a:pt x="4865175" y="2190838"/>
                </a:lnTo>
                <a:cubicBezTo>
                  <a:pt x="4865175" y="2261639"/>
                  <a:pt x="4807780" y="2319034"/>
                  <a:pt x="4736979" y="2319034"/>
                </a:cubicBezTo>
                <a:lnTo>
                  <a:pt x="128196" y="2319034"/>
                </a:lnTo>
                <a:cubicBezTo>
                  <a:pt x="57395" y="2319034"/>
                  <a:pt x="0" y="2261639"/>
                  <a:pt x="0" y="2190838"/>
                </a:cubicBezTo>
                <a:lnTo>
                  <a:pt x="0" y="128196"/>
                </a:lnTo>
                <a:cubicBezTo>
                  <a:pt x="0" y="57395"/>
                  <a:pt x="57395" y="0"/>
                  <a:pt x="1281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8A12AD73-4AE6-43EF-9D42-CFB37D17CC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28726" y="1109966"/>
            <a:ext cx="4865175" cy="2319034"/>
          </a:xfrm>
          <a:custGeom>
            <a:avLst/>
            <a:gdLst>
              <a:gd name="connsiteX0" fmla="*/ 128196 w 4865175"/>
              <a:gd name="connsiteY0" fmla="*/ 0 h 2319034"/>
              <a:gd name="connsiteX1" fmla="*/ 4736979 w 4865175"/>
              <a:gd name="connsiteY1" fmla="*/ 0 h 2319034"/>
              <a:gd name="connsiteX2" fmla="*/ 4865175 w 4865175"/>
              <a:gd name="connsiteY2" fmla="*/ 128196 h 2319034"/>
              <a:gd name="connsiteX3" fmla="*/ 4865175 w 4865175"/>
              <a:gd name="connsiteY3" fmla="*/ 2190838 h 2319034"/>
              <a:gd name="connsiteX4" fmla="*/ 4736979 w 4865175"/>
              <a:gd name="connsiteY4" fmla="*/ 2319034 h 2319034"/>
              <a:gd name="connsiteX5" fmla="*/ 128196 w 4865175"/>
              <a:gd name="connsiteY5" fmla="*/ 2319034 h 2319034"/>
              <a:gd name="connsiteX6" fmla="*/ 0 w 4865175"/>
              <a:gd name="connsiteY6" fmla="*/ 2190838 h 2319034"/>
              <a:gd name="connsiteX7" fmla="*/ 0 w 4865175"/>
              <a:gd name="connsiteY7" fmla="*/ 128196 h 2319034"/>
              <a:gd name="connsiteX8" fmla="*/ 128196 w 4865175"/>
              <a:gd name="connsiteY8" fmla="*/ 0 h 231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65175" h="2319034">
                <a:moveTo>
                  <a:pt x="128196" y="0"/>
                </a:moveTo>
                <a:lnTo>
                  <a:pt x="4736979" y="0"/>
                </a:lnTo>
                <a:cubicBezTo>
                  <a:pt x="4807780" y="0"/>
                  <a:pt x="4865175" y="57395"/>
                  <a:pt x="4865175" y="128196"/>
                </a:cubicBezTo>
                <a:lnTo>
                  <a:pt x="4865175" y="2190838"/>
                </a:lnTo>
                <a:cubicBezTo>
                  <a:pt x="4865175" y="2261639"/>
                  <a:pt x="4807780" y="2319034"/>
                  <a:pt x="4736979" y="2319034"/>
                </a:cubicBezTo>
                <a:lnTo>
                  <a:pt x="128196" y="2319034"/>
                </a:lnTo>
                <a:cubicBezTo>
                  <a:pt x="57395" y="2319034"/>
                  <a:pt x="0" y="2261639"/>
                  <a:pt x="0" y="2190838"/>
                </a:cubicBezTo>
                <a:lnTo>
                  <a:pt x="0" y="128196"/>
                </a:lnTo>
                <a:cubicBezTo>
                  <a:pt x="0" y="57395"/>
                  <a:pt x="57395" y="0"/>
                  <a:pt x="1281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649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그림 개체 틀 16">
            <a:extLst>
              <a:ext uri="{FF2B5EF4-FFF2-40B4-BE49-F238E27FC236}">
                <a16:creationId xmlns:a16="http://schemas.microsoft.com/office/drawing/2014/main" id="{CE167516-1610-39FD-2494-E1CB00AD0B3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63603" y="2229218"/>
            <a:ext cx="3618749" cy="5159570"/>
          </a:xfrm>
          <a:custGeom>
            <a:avLst/>
            <a:gdLst>
              <a:gd name="connsiteX0" fmla="*/ 1699470 w 3618749"/>
              <a:gd name="connsiteY0" fmla="*/ 780 h 5159570"/>
              <a:gd name="connsiteX1" fmla="*/ 1840286 w 3618749"/>
              <a:gd name="connsiteY1" fmla="*/ 20000 h 5159570"/>
              <a:gd name="connsiteX2" fmla="*/ 3379393 w 3618749"/>
              <a:gd name="connsiteY2" fmla="*/ 557781 h 5159570"/>
              <a:gd name="connsiteX3" fmla="*/ 3598367 w 3618749"/>
              <a:gd name="connsiteY3" fmla="*/ 1015827 h 5159570"/>
              <a:gd name="connsiteX4" fmla="*/ 2235053 w 3618749"/>
              <a:gd name="connsiteY4" fmla="*/ 4917576 h 5159570"/>
              <a:gd name="connsiteX5" fmla="*/ 1778464 w 3618749"/>
              <a:gd name="connsiteY5" fmla="*/ 5139571 h 5159570"/>
              <a:gd name="connsiteX6" fmla="*/ 239358 w 3618749"/>
              <a:gd name="connsiteY6" fmla="*/ 4601790 h 5159570"/>
              <a:gd name="connsiteX7" fmla="*/ 20383 w 3618749"/>
              <a:gd name="connsiteY7" fmla="*/ 4143745 h 5159570"/>
              <a:gd name="connsiteX8" fmla="*/ 1383697 w 3618749"/>
              <a:gd name="connsiteY8" fmla="*/ 241997 h 5159570"/>
              <a:gd name="connsiteX9" fmla="*/ 1699470 w 3618749"/>
              <a:gd name="connsiteY9" fmla="*/ 780 h 515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18749" h="5159570">
                <a:moveTo>
                  <a:pt x="1699470" y="780"/>
                </a:moveTo>
                <a:cubicBezTo>
                  <a:pt x="1745894" y="-2306"/>
                  <a:pt x="1793648" y="3704"/>
                  <a:pt x="1840286" y="20000"/>
                </a:cubicBezTo>
                <a:lnTo>
                  <a:pt x="3379393" y="557781"/>
                </a:lnTo>
                <a:cubicBezTo>
                  <a:pt x="3565944" y="622964"/>
                  <a:pt x="3663983" y="828039"/>
                  <a:pt x="3598367" y="1015827"/>
                </a:cubicBezTo>
                <a:lnTo>
                  <a:pt x="2235053" y="4917576"/>
                </a:lnTo>
                <a:cubicBezTo>
                  <a:pt x="2169437" y="5105364"/>
                  <a:pt x="1965016" y="5204754"/>
                  <a:pt x="1778464" y="5139571"/>
                </a:cubicBezTo>
                <a:lnTo>
                  <a:pt x="239358" y="4601790"/>
                </a:lnTo>
                <a:cubicBezTo>
                  <a:pt x="52806" y="4536607"/>
                  <a:pt x="-45232" y="4331534"/>
                  <a:pt x="20383" y="4143745"/>
                </a:cubicBezTo>
                <a:lnTo>
                  <a:pt x="1383697" y="241997"/>
                </a:lnTo>
                <a:cubicBezTo>
                  <a:pt x="1432909" y="101156"/>
                  <a:pt x="1560199" y="10037"/>
                  <a:pt x="1699470" y="78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B85D1CFA-9930-1A95-BA85-989CFDBF59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8500" y="711065"/>
            <a:ext cx="2435393" cy="5005242"/>
          </a:xfrm>
          <a:custGeom>
            <a:avLst/>
            <a:gdLst>
              <a:gd name="connsiteX0" fmla="*/ 371446 w 2435393"/>
              <a:gd name="connsiteY0" fmla="*/ 0 h 5005242"/>
              <a:gd name="connsiteX1" fmla="*/ 2063947 w 2435393"/>
              <a:gd name="connsiteY1" fmla="*/ 0 h 5005242"/>
              <a:gd name="connsiteX2" fmla="*/ 2435393 w 2435393"/>
              <a:gd name="connsiteY2" fmla="*/ 371446 h 5005242"/>
              <a:gd name="connsiteX3" fmla="*/ 2435393 w 2435393"/>
              <a:gd name="connsiteY3" fmla="*/ 4633796 h 5005242"/>
              <a:gd name="connsiteX4" fmla="*/ 2063947 w 2435393"/>
              <a:gd name="connsiteY4" fmla="*/ 5005242 h 5005242"/>
              <a:gd name="connsiteX5" fmla="*/ 371446 w 2435393"/>
              <a:gd name="connsiteY5" fmla="*/ 5005242 h 5005242"/>
              <a:gd name="connsiteX6" fmla="*/ 0 w 2435393"/>
              <a:gd name="connsiteY6" fmla="*/ 4633796 h 5005242"/>
              <a:gd name="connsiteX7" fmla="*/ 0 w 2435393"/>
              <a:gd name="connsiteY7" fmla="*/ 371446 h 5005242"/>
              <a:gd name="connsiteX8" fmla="*/ 371446 w 2435393"/>
              <a:gd name="connsiteY8" fmla="*/ 0 h 5005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5393" h="5005242">
                <a:moveTo>
                  <a:pt x="371446" y="0"/>
                </a:moveTo>
                <a:lnTo>
                  <a:pt x="2063947" y="0"/>
                </a:lnTo>
                <a:cubicBezTo>
                  <a:pt x="2269091" y="0"/>
                  <a:pt x="2435393" y="166302"/>
                  <a:pt x="2435393" y="371446"/>
                </a:cubicBezTo>
                <a:lnTo>
                  <a:pt x="2435393" y="4633796"/>
                </a:lnTo>
                <a:cubicBezTo>
                  <a:pt x="2435393" y="4838940"/>
                  <a:pt x="2269091" y="5005242"/>
                  <a:pt x="2063947" y="5005242"/>
                </a:cubicBezTo>
                <a:lnTo>
                  <a:pt x="371446" y="5005242"/>
                </a:lnTo>
                <a:cubicBezTo>
                  <a:pt x="166302" y="5005242"/>
                  <a:pt x="0" y="4838940"/>
                  <a:pt x="0" y="4633796"/>
                </a:cubicBezTo>
                <a:lnTo>
                  <a:pt x="0" y="371446"/>
                </a:lnTo>
                <a:cubicBezTo>
                  <a:pt x="0" y="166302"/>
                  <a:pt x="166302" y="0"/>
                  <a:pt x="3714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11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F2896FA2-D712-FC74-66E0-6E482D9DF7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10032" y="3084215"/>
            <a:ext cx="2880000" cy="2880000"/>
          </a:xfrm>
          <a:custGeom>
            <a:avLst/>
            <a:gdLst>
              <a:gd name="connsiteX0" fmla="*/ 159206 w 2880000"/>
              <a:gd name="connsiteY0" fmla="*/ 0 h 2880000"/>
              <a:gd name="connsiteX1" fmla="*/ 2720794 w 2880000"/>
              <a:gd name="connsiteY1" fmla="*/ 0 h 2880000"/>
              <a:gd name="connsiteX2" fmla="*/ 2880000 w 2880000"/>
              <a:gd name="connsiteY2" fmla="*/ 159206 h 2880000"/>
              <a:gd name="connsiteX3" fmla="*/ 2880000 w 2880000"/>
              <a:gd name="connsiteY3" fmla="*/ 2720794 h 2880000"/>
              <a:gd name="connsiteX4" fmla="*/ 2720794 w 2880000"/>
              <a:gd name="connsiteY4" fmla="*/ 2880000 h 2880000"/>
              <a:gd name="connsiteX5" fmla="*/ 159206 w 2880000"/>
              <a:gd name="connsiteY5" fmla="*/ 2880000 h 2880000"/>
              <a:gd name="connsiteX6" fmla="*/ 0 w 2880000"/>
              <a:gd name="connsiteY6" fmla="*/ 2720794 h 2880000"/>
              <a:gd name="connsiteX7" fmla="*/ 0 w 2880000"/>
              <a:gd name="connsiteY7" fmla="*/ 159206 h 2880000"/>
              <a:gd name="connsiteX8" fmla="*/ 159206 w 2880000"/>
              <a:gd name="connsiteY8" fmla="*/ 0 h 28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80000" h="2880000">
                <a:moveTo>
                  <a:pt x="159206" y="0"/>
                </a:moveTo>
                <a:lnTo>
                  <a:pt x="2720794" y="0"/>
                </a:lnTo>
                <a:cubicBezTo>
                  <a:pt x="2808721" y="0"/>
                  <a:pt x="2880000" y="71279"/>
                  <a:pt x="2880000" y="159206"/>
                </a:cubicBezTo>
                <a:lnTo>
                  <a:pt x="2880000" y="2720794"/>
                </a:lnTo>
                <a:cubicBezTo>
                  <a:pt x="2880000" y="2808721"/>
                  <a:pt x="2808721" y="2880000"/>
                  <a:pt x="2720794" y="2880000"/>
                </a:cubicBezTo>
                <a:lnTo>
                  <a:pt x="159206" y="2880000"/>
                </a:lnTo>
                <a:cubicBezTo>
                  <a:pt x="71279" y="2880000"/>
                  <a:pt x="0" y="2808721"/>
                  <a:pt x="0" y="2720794"/>
                </a:cubicBezTo>
                <a:lnTo>
                  <a:pt x="0" y="159206"/>
                </a:lnTo>
                <a:cubicBezTo>
                  <a:pt x="0" y="71279"/>
                  <a:pt x="71279" y="0"/>
                  <a:pt x="1592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B961E4B9-3361-1F30-C641-06E57EA09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858" y="490388"/>
            <a:ext cx="4865175" cy="2383403"/>
          </a:xfrm>
          <a:custGeom>
            <a:avLst/>
            <a:gdLst>
              <a:gd name="connsiteX0" fmla="*/ 131755 w 4865175"/>
              <a:gd name="connsiteY0" fmla="*/ 0 h 2383403"/>
              <a:gd name="connsiteX1" fmla="*/ 4733420 w 4865175"/>
              <a:gd name="connsiteY1" fmla="*/ 0 h 2383403"/>
              <a:gd name="connsiteX2" fmla="*/ 4865175 w 4865175"/>
              <a:gd name="connsiteY2" fmla="*/ 131755 h 2383403"/>
              <a:gd name="connsiteX3" fmla="*/ 4865175 w 4865175"/>
              <a:gd name="connsiteY3" fmla="*/ 2251648 h 2383403"/>
              <a:gd name="connsiteX4" fmla="*/ 4733420 w 4865175"/>
              <a:gd name="connsiteY4" fmla="*/ 2383403 h 2383403"/>
              <a:gd name="connsiteX5" fmla="*/ 131755 w 4865175"/>
              <a:gd name="connsiteY5" fmla="*/ 2383403 h 2383403"/>
              <a:gd name="connsiteX6" fmla="*/ 0 w 4865175"/>
              <a:gd name="connsiteY6" fmla="*/ 2251648 h 2383403"/>
              <a:gd name="connsiteX7" fmla="*/ 0 w 4865175"/>
              <a:gd name="connsiteY7" fmla="*/ 131755 h 2383403"/>
              <a:gd name="connsiteX8" fmla="*/ 131755 w 4865175"/>
              <a:gd name="connsiteY8" fmla="*/ 0 h 238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65175" h="2383403">
                <a:moveTo>
                  <a:pt x="131755" y="0"/>
                </a:moveTo>
                <a:lnTo>
                  <a:pt x="4733420" y="0"/>
                </a:lnTo>
                <a:cubicBezTo>
                  <a:pt x="4806186" y="0"/>
                  <a:pt x="4865175" y="58989"/>
                  <a:pt x="4865175" y="131755"/>
                </a:cubicBezTo>
                <a:lnTo>
                  <a:pt x="4865175" y="2251648"/>
                </a:lnTo>
                <a:cubicBezTo>
                  <a:pt x="4865175" y="2324414"/>
                  <a:pt x="4806186" y="2383403"/>
                  <a:pt x="4733420" y="2383403"/>
                </a:cubicBezTo>
                <a:lnTo>
                  <a:pt x="131755" y="2383403"/>
                </a:lnTo>
                <a:cubicBezTo>
                  <a:pt x="58989" y="2383403"/>
                  <a:pt x="0" y="2324414"/>
                  <a:pt x="0" y="2251648"/>
                </a:cubicBezTo>
                <a:lnTo>
                  <a:pt x="0" y="131755"/>
                </a:lnTo>
                <a:cubicBezTo>
                  <a:pt x="0" y="58989"/>
                  <a:pt x="58989" y="0"/>
                  <a:pt x="13175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104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3FEE216B-9E52-0605-8328-03C8B73454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70499" y="1392652"/>
            <a:ext cx="3883363" cy="4354043"/>
          </a:xfrm>
          <a:custGeom>
            <a:avLst/>
            <a:gdLst>
              <a:gd name="connsiteX0" fmla="*/ 647240 w 3883363"/>
              <a:gd name="connsiteY0" fmla="*/ 0 h 4354043"/>
              <a:gd name="connsiteX1" fmla="*/ 3236123 w 3883363"/>
              <a:gd name="connsiteY1" fmla="*/ 0 h 4354043"/>
              <a:gd name="connsiteX2" fmla="*/ 3883363 w 3883363"/>
              <a:gd name="connsiteY2" fmla="*/ 647240 h 4354043"/>
              <a:gd name="connsiteX3" fmla="*/ 3883363 w 3883363"/>
              <a:gd name="connsiteY3" fmla="*/ 3706803 h 4354043"/>
              <a:gd name="connsiteX4" fmla="*/ 3236123 w 3883363"/>
              <a:gd name="connsiteY4" fmla="*/ 4354043 h 4354043"/>
              <a:gd name="connsiteX5" fmla="*/ 647240 w 3883363"/>
              <a:gd name="connsiteY5" fmla="*/ 4354043 h 4354043"/>
              <a:gd name="connsiteX6" fmla="*/ 0 w 3883363"/>
              <a:gd name="connsiteY6" fmla="*/ 3706803 h 4354043"/>
              <a:gd name="connsiteX7" fmla="*/ 0 w 3883363"/>
              <a:gd name="connsiteY7" fmla="*/ 647240 h 4354043"/>
              <a:gd name="connsiteX8" fmla="*/ 647240 w 3883363"/>
              <a:gd name="connsiteY8" fmla="*/ 0 h 4354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3363" h="4354043">
                <a:moveTo>
                  <a:pt x="647240" y="0"/>
                </a:moveTo>
                <a:lnTo>
                  <a:pt x="3236123" y="0"/>
                </a:lnTo>
                <a:cubicBezTo>
                  <a:pt x="3593584" y="0"/>
                  <a:pt x="3883363" y="289779"/>
                  <a:pt x="3883363" y="647240"/>
                </a:cubicBezTo>
                <a:lnTo>
                  <a:pt x="3883363" y="3706803"/>
                </a:lnTo>
                <a:cubicBezTo>
                  <a:pt x="3883363" y="4064264"/>
                  <a:pt x="3593584" y="4354043"/>
                  <a:pt x="3236123" y="4354043"/>
                </a:cubicBezTo>
                <a:lnTo>
                  <a:pt x="647240" y="4354043"/>
                </a:lnTo>
                <a:cubicBezTo>
                  <a:pt x="289779" y="4354043"/>
                  <a:pt x="0" y="4064264"/>
                  <a:pt x="0" y="3706803"/>
                </a:cubicBezTo>
                <a:lnTo>
                  <a:pt x="0" y="647240"/>
                </a:lnTo>
                <a:cubicBezTo>
                  <a:pt x="0" y="289779"/>
                  <a:pt x="289779" y="0"/>
                  <a:pt x="64724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976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그림 개체 틀 15">
            <a:extLst>
              <a:ext uri="{FF2B5EF4-FFF2-40B4-BE49-F238E27FC236}">
                <a16:creationId xmlns:a16="http://schemas.microsoft.com/office/drawing/2014/main" id="{B116AF7E-9C24-6163-3630-E1F8FD09ACE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85269" y="5131333"/>
            <a:ext cx="2125395" cy="1211019"/>
          </a:xfrm>
          <a:custGeom>
            <a:avLst/>
            <a:gdLst>
              <a:gd name="connsiteX0" fmla="*/ 1087142 w 2125395"/>
              <a:gd name="connsiteY0" fmla="*/ 0 h 1211019"/>
              <a:gd name="connsiteX1" fmla="*/ 2125395 w 2125395"/>
              <a:gd name="connsiteY1" fmla="*/ 0 h 1211019"/>
              <a:gd name="connsiteX2" fmla="*/ 2125395 w 2125395"/>
              <a:gd name="connsiteY2" fmla="*/ 1211019 h 1211019"/>
              <a:gd name="connsiteX3" fmla="*/ 0 w 2125395"/>
              <a:gd name="connsiteY3" fmla="*/ 1211019 h 1211019"/>
              <a:gd name="connsiteX4" fmla="*/ 0 w 2125395"/>
              <a:gd name="connsiteY4" fmla="*/ 172766 h 1211019"/>
              <a:gd name="connsiteX5" fmla="*/ 1087142 w 2125395"/>
              <a:gd name="connsiteY5" fmla="*/ 172766 h 1211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25395" h="1211019">
                <a:moveTo>
                  <a:pt x="1087142" y="0"/>
                </a:moveTo>
                <a:lnTo>
                  <a:pt x="2125395" y="0"/>
                </a:lnTo>
                <a:lnTo>
                  <a:pt x="2125395" y="1211019"/>
                </a:lnTo>
                <a:lnTo>
                  <a:pt x="0" y="1211019"/>
                </a:lnTo>
                <a:lnTo>
                  <a:pt x="0" y="172766"/>
                </a:lnTo>
                <a:lnTo>
                  <a:pt x="1087142" y="17276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16C7D628-ECFF-0479-C657-5B21C1B031F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61854" y="3569853"/>
            <a:ext cx="1038253" cy="1327507"/>
          </a:xfrm>
          <a:custGeom>
            <a:avLst/>
            <a:gdLst>
              <a:gd name="connsiteX0" fmla="*/ 0 w 1038253"/>
              <a:gd name="connsiteY0" fmla="*/ 0 h 1327507"/>
              <a:gd name="connsiteX1" fmla="*/ 1038253 w 1038253"/>
              <a:gd name="connsiteY1" fmla="*/ 0 h 1327507"/>
              <a:gd name="connsiteX2" fmla="*/ 1038253 w 1038253"/>
              <a:gd name="connsiteY2" fmla="*/ 1327507 h 1327507"/>
              <a:gd name="connsiteX3" fmla="*/ 0 w 1038253"/>
              <a:gd name="connsiteY3" fmla="*/ 1327507 h 1327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253" h="1327507">
                <a:moveTo>
                  <a:pt x="0" y="0"/>
                </a:moveTo>
                <a:lnTo>
                  <a:pt x="1038253" y="0"/>
                </a:lnTo>
                <a:lnTo>
                  <a:pt x="1038253" y="1327507"/>
                </a:lnTo>
                <a:lnTo>
                  <a:pt x="0" y="13275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CCAD8C4E-A790-A94E-043F-B1E0CE602A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85268" y="2090703"/>
            <a:ext cx="2125395" cy="1222875"/>
          </a:xfrm>
          <a:custGeom>
            <a:avLst/>
            <a:gdLst>
              <a:gd name="connsiteX0" fmla="*/ 0 w 2125395"/>
              <a:gd name="connsiteY0" fmla="*/ 0 h 1222875"/>
              <a:gd name="connsiteX1" fmla="*/ 2125395 w 2125395"/>
              <a:gd name="connsiteY1" fmla="*/ 0 h 1222875"/>
              <a:gd name="connsiteX2" fmla="*/ 2125395 w 2125395"/>
              <a:gd name="connsiteY2" fmla="*/ 1222875 h 1222875"/>
              <a:gd name="connsiteX3" fmla="*/ 1087142 w 2125395"/>
              <a:gd name="connsiteY3" fmla="*/ 1222875 h 1222875"/>
              <a:gd name="connsiteX4" fmla="*/ 1087142 w 2125395"/>
              <a:gd name="connsiteY4" fmla="*/ 1038253 h 1222875"/>
              <a:gd name="connsiteX5" fmla="*/ 0 w 2125395"/>
              <a:gd name="connsiteY5" fmla="*/ 1038253 h 122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25395" h="1222875">
                <a:moveTo>
                  <a:pt x="0" y="0"/>
                </a:moveTo>
                <a:lnTo>
                  <a:pt x="2125395" y="0"/>
                </a:lnTo>
                <a:lnTo>
                  <a:pt x="2125395" y="1222875"/>
                </a:lnTo>
                <a:lnTo>
                  <a:pt x="1087142" y="1222875"/>
                </a:lnTo>
                <a:lnTo>
                  <a:pt x="1087142" y="1038253"/>
                </a:lnTo>
                <a:lnTo>
                  <a:pt x="0" y="103825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33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7A38DF3D-17D3-41FC-4EEC-8022737D2F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9963" y="1671214"/>
            <a:ext cx="7417700" cy="2744856"/>
          </a:xfrm>
          <a:custGeom>
            <a:avLst/>
            <a:gdLst>
              <a:gd name="connsiteX0" fmla="*/ 117711 w 7417700"/>
              <a:gd name="connsiteY0" fmla="*/ 0 h 2744856"/>
              <a:gd name="connsiteX1" fmla="*/ 7265964 w 7417700"/>
              <a:gd name="connsiteY1" fmla="*/ 0 h 2744856"/>
              <a:gd name="connsiteX2" fmla="*/ 7417700 w 7417700"/>
              <a:gd name="connsiteY2" fmla="*/ 151736 h 2744856"/>
              <a:gd name="connsiteX3" fmla="*/ 7417700 w 7417700"/>
              <a:gd name="connsiteY3" fmla="*/ 2593120 h 2744856"/>
              <a:gd name="connsiteX4" fmla="*/ 7265964 w 7417700"/>
              <a:gd name="connsiteY4" fmla="*/ 2744856 h 2744856"/>
              <a:gd name="connsiteX5" fmla="*/ 117711 w 7417700"/>
              <a:gd name="connsiteY5" fmla="*/ 2744856 h 2744856"/>
              <a:gd name="connsiteX6" fmla="*/ 10418 w 7417700"/>
              <a:gd name="connsiteY6" fmla="*/ 2700414 h 2744856"/>
              <a:gd name="connsiteX7" fmla="*/ 0 w 7417700"/>
              <a:gd name="connsiteY7" fmla="*/ 2684962 h 2744856"/>
              <a:gd name="connsiteX8" fmla="*/ 0 w 7417700"/>
              <a:gd name="connsiteY8" fmla="*/ 59894 h 2744856"/>
              <a:gd name="connsiteX9" fmla="*/ 10418 w 7417700"/>
              <a:gd name="connsiteY9" fmla="*/ 44443 h 2744856"/>
              <a:gd name="connsiteX10" fmla="*/ 117711 w 7417700"/>
              <a:gd name="connsiteY10" fmla="*/ 0 h 2744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417700" h="2744856">
                <a:moveTo>
                  <a:pt x="117711" y="0"/>
                </a:moveTo>
                <a:lnTo>
                  <a:pt x="7265964" y="0"/>
                </a:lnTo>
                <a:cubicBezTo>
                  <a:pt x="7349765" y="0"/>
                  <a:pt x="7417700" y="67935"/>
                  <a:pt x="7417700" y="151736"/>
                </a:cubicBezTo>
                <a:lnTo>
                  <a:pt x="7417700" y="2593120"/>
                </a:lnTo>
                <a:cubicBezTo>
                  <a:pt x="7417700" y="2676921"/>
                  <a:pt x="7349765" y="2744856"/>
                  <a:pt x="7265964" y="2744856"/>
                </a:cubicBezTo>
                <a:lnTo>
                  <a:pt x="117711" y="2744856"/>
                </a:lnTo>
                <a:cubicBezTo>
                  <a:pt x="75811" y="2744856"/>
                  <a:pt x="37877" y="2727872"/>
                  <a:pt x="10418" y="2700414"/>
                </a:cubicBezTo>
                <a:lnTo>
                  <a:pt x="0" y="2684962"/>
                </a:lnTo>
                <a:lnTo>
                  <a:pt x="0" y="59894"/>
                </a:lnTo>
                <a:lnTo>
                  <a:pt x="10418" y="44443"/>
                </a:lnTo>
                <a:cubicBezTo>
                  <a:pt x="37877" y="16984"/>
                  <a:pt x="75811" y="0"/>
                  <a:pt x="11771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916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A51E06F4-D63C-7434-5AF3-E7C4BFD62E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516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B62BBF82-A38D-1DA1-5922-DFCB01B1684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44529" y="4628635"/>
            <a:ext cx="2508976" cy="1038128"/>
          </a:xfrm>
          <a:custGeom>
            <a:avLst/>
            <a:gdLst>
              <a:gd name="connsiteX0" fmla="*/ 0 w 2508976"/>
              <a:gd name="connsiteY0" fmla="*/ 0 h 1038128"/>
              <a:gd name="connsiteX1" fmla="*/ 2508976 w 2508976"/>
              <a:gd name="connsiteY1" fmla="*/ 0 h 1038128"/>
              <a:gd name="connsiteX2" fmla="*/ 2508976 w 2508976"/>
              <a:gd name="connsiteY2" fmla="*/ 1038128 h 1038128"/>
              <a:gd name="connsiteX3" fmla="*/ 0 w 2508976"/>
              <a:gd name="connsiteY3" fmla="*/ 1038128 h 1038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8976" h="1038128">
                <a:moveTo>
                  <a:pt x="0" y="0"/>
                </a:moveTo>
                <a:lnTo>
                  <a:pt x="2508976" y="0"/>
                </a:lnTo>
                <a:lnTo>
                  <a:pt x="2508976" y="1038128"/>
                </a:lnTo>
                <a:lnTo>
                  <a:pt x="0" y="103812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3B7764C8-D2CF-DD0B-F050-DD787B47F9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43340" y="2679252"/>
            <a:ext cx="2510165" cy="1434024"/>
          </a:xfrm>
          <a:custGeom>
            <a:avLst/>
            <a:gdLst>
              <a:gd name="connsiteX0" fmla="*/ 0 w 2510165"/>
              <a:gd name="connsiteY0" fmla="*/ 0 h 1434024"/>
              <a:gd name="connsiteX1" fmla="*/ 2510165 w 2510165"/>
              <a:gd name="connsiteY1" fmla="*/ 0 h 1434024"/>
              <a:gd name="connsiteX2" fmla="*/ 2510165 w 2510165"/>
              <a:gd name="connsiteY2" fmla="*/ 1434024 h 1434024"/>
              <a:gd name="connsiteX3" fmla="*/ 0 w 2510165"/>
              <a:gd name="connsiteY3" fmla="*/ 1434024 h 1434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0165" h="1434024">
                <a:moveTo>
                  <a:pt x="0" y="0"/>
                </a:moveTo>
                <a:lnTo>
                  <a:pt x="2510165" y="0"/>
                </a:lnTo>
                <a:lnTo>
                  <a:pt x="2510165" y="1434024"/>
                </a:lnTo>
                <a:lnTo>
                  <a:pt x="0" y="14340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522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그림 개체 틀 15">
            <a:extLst>
              <a:ext uri="{FF2B5EF4-FFF2-40B4-BE49-F238E27FC236}">
                <a16:creationId xmlns:a16="http://schemas.microsoft.com/office/drawing/2014/main" id="{C8C4E8E3-B28E-968D-D4AF-31ABA5B65E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33285" y="1900974"/>
            <a:ext cx="4331359" cy="4957027"/>
          </a:xfrm>
          <a:custGeom>
            <a:avLst/>
            <a:gdLst>
              <a:gd name="connsiteX0" fmla="*/ 423174 w 4331359"/>
              <a:gd name="connsiteY0" fmla="*/ 0 h 4957027"/>
              <a:gd name="connsiteX1" fmla="*/ 3908185 w 4331359"/>
              <a:gd name="connsiteY1" fmla="*/ 0 h 4957027"/>
              <a:gd name="connsiteX2" fmla="*/ 4331359 w 4331359"/>
              <a:gd name="connsiteY2" fmla="*/ 423174 h 4957027"/>
              <a:gd name="connsiteX3" fmla="*/ 4331359 w 4331359"/>
              <a:gd name="connsiteY3" fmla="*/ 4957027 h 4957027"/>
              <a:gd name="connsiteX4" fmla="*/ 0 w 4331359"/>
              <a:gd name="connsiteY4" fmla="*/ 4957027 h 4957027"/>
              <a:gd name="connsiteX5" fmla="*/ 0 w 4331359"/>
              <a:gd name="connsiteY5" fmla="*/ 423174 h 4957027"/>
              <a:gd name="connsiteX6" fmla="*/ 423174 w 4331359"/>
              <a:gd name="connsiteY6" fmla="*/ 0 h 4957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31359" h="4957027">
                <a:moveTo>
                  <a:pt x="423174" y="0"/>
                </a:moveTo>
                <a:lnTo>
                  <a:pt x="3908185" y="0"/>
                </a:lnTo>
                <a:cubicBezTo>
                  <a:pt x="4141899" y="0"/>
                  <a:pt x="4331359" y="189462"/>
                  <a:pt x="4331359" y="423174"/>
                </a:cubicBezTo>
                <a:lnTo>
                  <a:pt x="4331359" y="4957027"/>
                </a:lnTo>
                <a:lnTo>
                  <a:pt x="0" y="4957027"/>
                </a:lnTo>
                <a:lnTo>
                  <a:pt x="0" y="423174"/>
                </a:lnTo>
                <a:cubicBezTo>
                  <a:pt x="0" y="189462"/>
                  <a:pt x="189462" y="0"/>
                  <a:pt x="4231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4D90BB54-551A-3BF5-C498-49274E711C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66008" y="4116928"/>
            <a:ext cx="2413221" cy="2741072"/>
          </a:xfrm>
          <a:custGeom>
            <a:avLst/>
            <a:gdLst>
              <a:gd name="connsiteX0" fmla="*/ 235772 w 2413221"/>
              <a:gd name="connsiteY0" fmla="*/ 0 h 2741072"/>
              <a:gd name="connsiteX1" fmla="*/ 2177450 w 2413221"/>
              <a:gd name="connsiteY1" fmla="*/ 0 h 2741072"/>
              <a:gd name="connsiteX2" fmla="*/ 2413221 w 2413221"/>
              <a:gd name="connsiteY2" fmla="*/ 234001 h 2741072"/>
              <a:gd name="connsiteX3" fmla="*/ 2413221 w 2413221"/>
              <a:gd name="connsiteY3" fmla="*/ 2741072 h 2741072"/>
              <a:gd name="connsiteX4" fmla="*/ 0 w 2413221"/>
              <a:gd name="connsiteY4" fmla="*/ 2741072 h 2741072"/>
              <a:gd name="connsiteX5" fmla="*/ 0 w 2413221"/>
              <a:gd name="connsiteY5" fmla="*/ 234001 h 2741072"/>
              <a:gd name="connsiteX6" fmla="*/ 235772 w 2413221"/>
              <a:gd name="connsiteY6" fmla="*/ 0 h 27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221" h="2741072">
                <a:moveTo>
                  <a:pt x="235772" y="0"/>
                </a:moveTo>
                <a:lnTo>
                  <a:pt x="2177450" y="0"/>
                </a:lnTo>
                <a:cubicBezTo>
                  <a:pt x="2307663" y="0"/>
                  <a:pt x="2413221" y="104767"/>
                  <a:pt x="2413221" y="234001"/>
                </a:cubicBezTo>
                <a:lnTo>
                  <a:pt x="2413221" y="2741072"/>
                </a:lnTo>
                <a:lnTo>
                  <a:pt x="0" y="2741072"/>
                </a:lnTo>
                <a:lnTo>
                  <a:pt x="0" y="234001"/>
                </a:lnTo>
                <a:cubicBezTo>
                  <a:pt x="0" y="104767"/>
                  <a:pt x="105558" y="0"/>
                  <a:pt x="23577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203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그림 개체 틀 28">
            <a:extLst>
              <a:ext uri="{FF2B5EF4-FFF2-40B4-BE49-F238E27FC236}">
                <a16:creationId xmlns:a16="http://schemas.microsoft.com/office/drawing/2014/main" id="{6C36E3E2-72F9-57EC-B977-CD9A6651C5C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37640" y="3926243"/>
            <a:ext cx="1731327" cy="2996809"/>
          </a:xfrm>
          <a:custGeom>
            <a:avLst/>
            <a:gdLst>
              <a:gd name="connsiteX0" fmla="*/ 264062 w 1731327"/>
              <a:gd name="connsiteY0" fmla="*/ 0 h 2996809"/>
              <a:gd name="connsiteX1" fmla="*/ 1467266 w 1731327"/>
              <a:gd name="connsiteY1" fmla="*/ 0 h 2996809"/>
              <a:gd name="connsiteX2" fmla="*/ 1731327 w 1731327"/>
              <a:gd name="connsiteY2" fmla="*/ 264062 h 2996809"/>
              <a:gd name="connsiteX3" fmla="*/ 1731327 w 1731327"/>
              <a:gd name="connsiteY3" fmla="*/ 2996809 h 2996809"/>
              <a:gd name="connsiteX4" fmla="*/ 0 w 1731327"/>
              <a:gd name="connsiteY4" fmla="*/ 2996809 h 2996809"/>
              <a:gd name="connsiteX5" fmla="*/ 0 w 1731327"/>
              <a:gd name="connsiteY5" fmla="*/ 264062 h 2996809"/>
              <a:gd name="connsiteX6" fmla="*/ 264062 w 1731327"/>
              <a:gd name="connsiteY6" fmla="*/ 0 h 2996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31327" h="2996809">
                <a:moveTo>
                  <a:pt x="264062" y="0"/>
                </a:moveTo>
                <a:lnTo>
                  <a:pt x="1467266" y="0"/>
                </a:lnTo>
                <a:cubicBezTo>
                  <a:pt x="1613103" y="0"/>
                  <a:pt x="1731327" y="118225"/>
                  <a:pt x="1731327" y="264062"/>
                </a:cubicBezTo>
                <a:lnTo>
                  <a:pt x="1731327" y="2996809"/>
                </a:lnTo>
                <a:lnTo>
                  <a:pt x="0" y="2996809"/>
                </a:lnTo>
                <a:lnTo>
                  <a:pt x="0" y="264062"/>
                </a:lnTo>
                <a:cubicBezTo>
                  <a:pt x="0" y="118225"/>
                  <a:pt x="118224" y="0"/>
                  <a:pt x="26406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6" name="그림 개체 틀 25">
            <a:extLst>
              <a:ext uri="{FF2B5EF4-FFF2-40B4-BE49-F238E27FC236}">
                <a16:creationId xmlns:a16="http://schemas.microsoft.com/office/drawing/2014/main" id="{7FF8D6C0-53E2-001A-AB54-D548207851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72312" y="165815"/>
            <a:ext cx="1686495" cy="3466101"/>
          </a:xfrm>
          <a:custGeom>
            <a:avLst/>
            <a:gdLst>
              <a:gd name="connsiteX0" fmla="*/ 257224 w 1686495"/>
              <a:gd name="connsiteY0" fmla="*/ 0 h 3466101"/>
              <a:gd name="connsiteX1" fmla="*/ 1429271 w 1686495"/>
              <a:gd name="connsiteY1" fmla="*/ 0 h 3466101"/>
              <a:gd name="connsiteX2" fmla="*/ 1686495 w 1686495"/>
              <a:gd name="connsiteY2" fmla="*/ 257224 h 3466101"/>
              <a:gd name="connsiteX3" fmla="*/ 1686495 w 1686495"/>
              <a:gd name="connsiteY3" fmla="*/ 3208877 h 3466101"/>
              <a:gd name="connsiteX4" fmla="*/ 1429271 w 1686495"/>
              <a:gd name="connsiteY4" fmla="*/ 3466101 h 3466101"/>
              <a:gd name="connsiteX5" fmla="*/ 257224 w 1686495"/>
              <a:gd name="connsiteY5" fmla="*/ 3466101 h 3466101"/>
              <a:gd name="connsiteX6" fmla="*/ 0 w 1686495"/>
              <a:gd name="connsiteY6" fmla="*/ 3208877 h 3466101"/>
              <a:gd name="connsiteX7" fmla="*/ 0 w 1686495"/>
              <a:gd name="connsiteY7" fmla="*/ 257224 h 3466101"/>
              <a:gd name="connsiteX8" fmla="*/ 257224 w 1686495"/>
              <a:gd name="connsiteY8" fmla="*/ 0 h 3466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495" h="3466101">
                <a:moveTo>
                  <a:pt x="257224" y="0"/>
                </a:moveTo>
                <a:lnTo>
                  <a:pt x="1429271" y="0"/>
                </a:lnTo>
                <a:cubicBezTo>
                  <a:pt x="1571332" y="0"/>
                  <a:pt x="1686495" y="115163"/>
                  <a:pt x="1686495" y="257224"/>
                </a:cubicBezTo>
                <a:lnTo>
                  <a:pt x="1686495" y="3208877"/>
                </a:lnTo>
                <a:cubicBezTo>
                  <a:pt x="1686495" y="3350938"/>
                  <a:pt x="1571332" y="3466101"/>
                  <a:pt x="1429271" y="3466101"/>
                </a:cubicBezTo>
                <a:lnTo>
                  <a:pt x="257224" y="3466101"/>
                </a:lnTo>
                <a:cubicBezTo>
                  <a:pt x="115163" y="3466101"/>
                  <a:pt x="0" y="3350938"/>
                  <a:pt x="0" y="3208877"/>
                </a:cubicBezTo>
                <a:lnTo>
                  <a:pt x="0" y="257224"/>
                </a:lnTo>
                <a:cubicBezTo>
                  <a:pt x="0" y="115163"/>
                  <a:pt x="115163" y="0"/>
                  <a:pt x="25722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3" name="그림 개체 틀 22">
            <a:extLst>
              <a:ext uri="{FF2B5EF4-FFF2-40B4-BE49-F238E27FC236}">
                <a16:creationId xmlns:a16="http://schemas.microsoft.com/office/drawing/2014/main" id="{34700FA9-51FD-413A-FBF1-93BD7B205EF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43832" y="2691572"/>
            <a:ext cx="1662036" cy="3513967"/>
          </a:xfrm>
          <a:custGeom>
            <a:avLst/>
            <a:gdLst>
              <a:gd name="connsiteX0" fmla="*/ 253494 w 1662036"/>
              <a:gd name="connsiteY0" fmla="*/ 0 h 3513967"/>
              <a:gd name="connsiteX1" fmla="*/ 1408542 w 1662036"/>
              <a:gd name="connsiteY1" fmla="*/ 0 h 3513967"/>
              <a:gd name="connsiteX2" fmla="*/ 1662036 w 1662036"/>
              <a:gd name="connsiteY2" fmla="*/ 260827 h 3513967"/>
              <a:gd name="connsiteX3" fmla="*/ 1662036 w 1662036"/>
              <a:gd name="connsiteY3" fmla="*/ 3253824 h 3513967"/>
              <a:gd name="connsiteX4" fmla="*/ 1507213 w 1662036"/>
              <a:gd name="connsiteY4" fmla="*/ 3494154 h 3513967"/>
              <a:gd name="connsiteX5" fmla="*/ 1411835 w 1662036"/>
              <a:gd name="connsiteY5" fmla="*/ 3513967 h 3513967"/>
              <a:gd name="connsiteX6" fmla="*/ 250202 w 1662036"/>
              <a:gd name="connsiteY6" fmla="*/ 3513967 h 3513967"/>
              <a:gd name="connsiteX7" fmla="*/ 154823 w 1662036"/>
              <a:gd name="connsiteY7" fmla="*/ 3494154 h 3513967"/>
              <a:gd name="connsiteX8" fmla="*/ 0 w 1662036"/>
              <a:gd name="connsiteY8" fmla="*/ 3253824 h 3513967"/>
              <a:gd name="connsiteX9" fmla="*/ 0 w 1662036"/>
              <a:gd name="connsiteY9" fmla="*/ 260827 h 3513967"/>
              <a:gd name="connsiteX10" fmla="*/ 253494 w 1662036"/>
              <a:gd name="connsiteY10" fmla="*/ 0 h 3513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2036" h="3513967">
                <a:moveTo>
                  <a:pt x="253494" y="0"/>
                </a:moveTo>
                <a:lnTo>
                  <a:pt x="1408542" y="0"/>
                </a:lnTo>
                <a:cubicBezTo>
                  <a:pt x="1548543" y="0"/>
                  <a:pt x="1662036" y="116776"/>
                  <a:pt x="1662036" y="260827"/>
                </a:cubicBezTo>
                <a:lnTo>
                  <a:pt x="1662036" y="3253824"/>
                </a:lnTo>
                <a:cubicBezTo>
                  <a:pt x="1662036" y="3361862"/>
                  <a:pt x="1598196" y="3454559"/>
                  <a:pt x="1507213" y="3494154"/>
                </a:cubicBezTo>
                <a:lnTo>
                  <a:pt x="1411835" y="3513967"/>
                </a:lnTo>
                <a:lnTo>
                  <a:pt x="250202" y="3513967"/>
                </a:lnTo>
                <a:lnTo>
                  <a:pt x="154823" y="3494154"/>
                </a:lnTo>
                <a:cubicBezTo>
                  <a:pt x="63840" y="3454559"/>
                  <a:pt x="0" y="3361862"/>
                  <a:pt x="0" y="3253824"/>
                </a:cubicBezTo>
                <a:lnTo>
                  <a:pt x="0" y="260827"/>
                </a:lnTo>
                <a:cubicBezTo>
                  <a:pt x="0" y="116776"/>
                  <a:pt x="113493" y="0"/>
                  <a:pt x="253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0" name="그림 개체 틀 19">
            <a:extLst>
              <a:ext uri="{FF2B5EF4-FFF2-40B4-BE49-F238E27FC236}">
                <a16:creationId xmlns:a16="http://schemas.microsoft.com/office/drawing/2014/main" id="{5418444C-7F44-E0A8-0F97-CCFFBC9206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60931" y="0"/>
            <a:ext cx="1686495" cy="2414347"/>
          </a:xfrm>
          <a:custGeom>
            <a:avLst/>
            <a:gdLst>
              <a:gd name="connsiteX0" fmla="*/ 0 w 1686495"/>
              <a:gd name="connsiteY0" fmla="*/ 0 h 2414347"/>
              <a:gd name="connsiteX1" fmla="*/ 1686495 w 1686495"/>
              <a:gd name="connsiteY1" fmla="*/ 0 h 2414347"/>
              <a:gd name="connsiteX2" fmla="*/ 1686495 w 1686495"/>
              <a:gd name="connsiteY2" fmla="*/ 2157123 h 2414347"/>
              <a:gd name="connsiteX3" fmla="*/ 1429271 w 1686495"/>
              <a:gd name="connsiteY3" fmla="*/ 2414347 h 2414347"/>
              <a:gd name="connsiteX4" fmla="*/ 257224 w 1686495"/>
              <a:gd name="connsiteY4" fmla="*/ 2414347 h 2414347"/>
              <a:gd name="connsiteX5" fmla="*/ 0 w 1686495"/>
              <a:gd name="connsiteY5" fmla="*/ 2157123 h 2414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6495" h="2414347">
                <a:moveTo>
                  <a:pt x="0" y="0"/>
                </a:moveTo>
                <a:lnTo>
                  <a:pt x="1686495" y="0"/>
                </a:lnTo>
                <a:lnTo>
                  <a:pt x="1686495" y="2157123"/>
                </a:lnTo>
                <a:cubicBezTo>
                  <a:pt x="1686495" y="2299184"/>
                  <a:pt x="1571332" y="2414347"/>
                  <a:pt x="1429271" y="2414347"/>
                </a:cubicBezTo>
                <a:lnTo>
                  <a:pt x="257224" y="2414347"/>
                </a:lnTo>
                <a:cubicBezTo>
                  <a:pt x="115163" y="2414347"/>
                  <a:pt x="0" y="2299184"/>
                  <a:pt x="0" y="215712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7" name="그림 개체 틀 16">
            <a:extLst>
              <a:ext uri="{FF2B5EF4-FFF2-40B4-BE49-F238E27FC236}">
                <a16:creationId xmlns:a16="http://schemas.microsoft.com/office/drawing/2014/main" id="{C53707AD-83E6-80EF-323A-8ACCBD9654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59909" y="1073705"/>
            <a:ext cx="1686495" cy="3466101"/>
          </a:xfrm>
          <a:custGeom>
            <a:avLst/>
            <a:gdLst>
              <a:gd name="connsiteX0" fmla="*/ 257224 w 1686495"/>
              <a:gd name="connsiteY0" fmla="*/ 0 h 3466101"/>
              <a:gd name="connsiteX1" fmla="*/ 1429271 w 1686495"/>
              <a:gd name="connsiteY1" fmla="*/ 0 h 3466101"/>
              <a:gd name="connsiteX2" fmla="*/ 1686495 w 1686495"/>
              <a:gd name="connsiteY2" fmla="*/ 257224 h 3466101"/>
              <a:gd name="connsiteX3" fmla="*/ 1686495 w 1686495"/>
              <a:gd name="connsiteY3" fmla="*/ 3208877 h 3466101"/>
              <a:gd name="connsiteX4" fmla="*/ 1429271 w 1686495"/>
              <a:gd name="connsiteY4" fmla="*/ 3466101 h 3466101"/>
              <a:gd name="connsiteX5" fmla="*/ 257224 w 1686495"/>
              <a:gd name="connsiteY5" fmla="*/ 3466101 h 3466101"/>
              <a:gd name="connsiteX6" fmla="*/ 0 w 1686495"/>
              <a:gd name="connsiteY6" fmla="*/ 3208877 h 3466101"/>
              <a:gd name="connsiteX7" fmla="*/ 0 w 1686495"/>
              <a:gd name="connsiteY7" fmla="*/ 257224 h 3466101"/>
              <a:gd name="connsiteX8" fmla="*/ 257224 w 1686495"/>
              <a:gd name="connsiteY8" fmla="*/ 0 h 3466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495" h="3466101">
                <a:moveTo>
                  <a:pt x="257224" y="0"/>
                </a:moveTo>
                <a:lnTo>
                  <a:pt x="1429271" y="0"/>
                </a:lnTo>
                <a:cubicBezTo>
                  <a:pt x="1571332" y="0"/>
                  <a:pt x="1686495" y="115163"/>
                  <a:pt x="1686495" y="257224"/>
                </a:cubicBezTo>
                <a:lnTo>
                  <a:pt x="1686495" y="3208877"/>
                </a:lnTo>
                <a:cubicBezTo>
                  <a:pt x="1686495" y="3350938"/>
                  <a:pt x="1571332" y="3466101"/>
                  <a:pt x="1429271" y="3466101"/>
                </a:cubicBezTo>
                <a:lnTo>
                  <a:pt x="257224" y="3466101"/>
                </a:lnTo>
                <a:cubicBezTo>
                  <a:pt x="115163" y="3466101"/>
                  <a:pt x="0" y="3350938"/>
                  <a:pt x="0" y="3208877"/>
                </a:cubicBezTo>
                <a:lnTo>
                  <a:pt x="0" y="257224"/>
                </a:lnTo>
                <a:cubicBezTo>
                  <a:pt x="0" y="115163"/>
                  <a:pt x="115163" y="0"/>
                  <a:pt x="25722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501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D5051ADC-038A-9322-6F53-91335786DF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9613" y="1234748"/>
            <a:ext cx="3819928" cy="5121093"/>
          </a:xfrm>
          <a:custGeom>
            <a:avLst/>
            <a:gdLst>
              <a:gd name="connsiteX0" fmla="*/ 211166 w 3819928"/>
              <a:gd name="connsiteY0" fmla="*/ 0 h 5121093"/>
              <a:gd name="connsiteX1" fmla="*/ 3608763 w 3819928"/>
              <a:gd name="connsiteY1" fmla="*/ 0 h 5121093"/>
              <a:gd name="connsiteX2" fmla="*/ 3819928 w 3819928"/>
              <a:gd name="connsiteY2" fmla="*/ 211166 h 5121093"/>
              <a:gd name="connsiteX3" fmla="*/ 3819928 w 3819928"/>
              <a:gd name="connsiteY3" fmla="*/ 4909928 h 5121093"/>
              <a:gd name="connsiteX4" fmla="*/ 3608763 w 3819928"/>
              <a:gd name="connsiteY4" fmla="*/ 5121093 h 5121093"/>
              <a:gd name="connsiteX5" fmla="*/ 211166 w 3819928"/>
              <a:gd name="connsiteY5" fmla="*/ 5121093 h 5121093"/>
              <a:gd name="connsiteX6" fmla="*/ 0 w 3819928"/>
              <a:gd name="connsiteY6" fmla="*/ 4909928 h 5121093"/>
              <a:gd name="connsiteX7" fmla="*/ 0 w 3819928"/>
              <a:gd name="connsiteY7" fmla="*/ 211166 h 5121093"/>
              <a:gd name="connsiteX8" fmla="*/ 211166 w 3819928"/>
              <a:gd name="connsiteY8" fmla="*/ 0 h 5121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9928" h="5121093">
                <a:moveTo>
                  <a:pt x="211166" y="0"/>
                </a:moveTo>
                <a:lnTo>
                  <a:pt x="3608763" y="0"/>
                </a:lnTo>
                <a:cubicBezTo>
                  <a:pt x="3725385" y="0"/>
                  <a:pt x="3819928" y="94543"/>
                  <a:pt x="3819928" y="211166"/>
                </a:cubicBezTo>
                <a:lnTo>
                  <a:pt x="3819928" y="4909928"/>
                </a:lnTo>
                <a:cubicBezTo>
                  <a:pt x="3819928" y="5026551"/>
                  <a:pt x="3725385" y="5121093"/>
                  <a:pt x="3608763" y="5121093"/>
                </a:cubicBezTo>
                <a:lnTo>
                  <a:pt x="211166" y="5121093"/>
                </a:lnTo>
                <a:cubicBezTo>
                  <a:pt x="94543" y="5121093"/>
                  <a:pt x="0" y="5026551"/>
                  <a:pt x="0" y="4909928"/>
                </a:cubicBezTo>
                <a:lnTo>
                  <a:pt x="0" y="211166"/>
                </a:lnTo>
                <a:cubicBezTo>
                  <a:pt x="0" y="94543"/>
                  <a:pt x="94543" y="0"/>
                  <a:pt x="21116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149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87CA4B74-CD4D-3D14-C883-6387880B6B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333462"/>
          </a:xfrm>
          <a:custGeom>
            <a:avLst/>
            <a:gdLst>
              <a:gd name="connsiteX0" fmla="*/ 0 w 12192000"/>
              <a:gd name="connsiteY0" fmla="*/ 0 h 4333462"/>
              <a:gd name="connsiteX1" fmla="*/ 12192000 w 12192000"/>
              <a:gd name="connsiteY1" fmla="*/ 0 h 4333462"/>
              <a:gd name="connsiteX2" fmla="*/ 12192000 w 12192000"/>
              <a:gd name="connsiteY2" fmla="*/ 4333462 h 4333462"/>
              <a:gd name="connsiteX3" fmla="*/ 0 w 12192000"/>
              <a:gd name="connsiteY3" fmla="*/ 4333462 h 4333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33462">
                <a:moveTo>
                  <a:pt x="0" y="0"/>
                </a:moveTo>
                <a:lnTo>
                  <a:pt x="12192000" y="0"/>
                </a:lnTo>
                <a:lnTo>
                  <a:pt x="12192000" y="4333462"/>
                </a:lnTo>
                <a:lnTo>
                  <a:pt x="0" y="433346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435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DE7D3820-ED05-907E-96E8-B815418C72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77118" y="4303459"/>
            <a:ext cx="6498945" cy="2041779"/>
          </a:xfrm>
          <a:custGeom>
            <a:avLst/>
            <a:gdLst>
              <a:gd name="connsiteX0" fmla="*/ 340303 w 6498945"/>
              <a:gd name="connsiteY0" fmla="*/ 0 h 2041779"/>
              <a:gd name="connsiteX1" fmla="*/ 6158642 w 6498945"/>
              <a:gd name="connsiteY1" fmla="*/ 0 h 2041779"/>
              <a:gd name="connsiteX2" fmla="*/ 6498945 w 6498945"/>
              <a:gd name="connsiteY2" fmla="*/ 340303 h 2041779"/>
              <a:gd name="connsiteX3" fmla="*/ 6498945 w 6498945"/>
              <a:gd name="connsiteY3" fmla="*/ 1701476 h 2041779"/>
              <a:gd name="connsiteX4" fmla="*/ 6158642 w 6498945"/>
              <a:gd name="connsiteY4" fmla="*/ 2041779 h 2041779"/>
              <a:gd name="connsiteX5" fmla="*/ 340303 w 6498945"/>
              <a:gd name="connsiteY5" fmla="*/ 2041779 h 2041779"/>
              <a:gd name="connsiteX6" fmla="*/ 0 w 6498945"/>
              <a:gd name="connsiteY6" fmla="*/ 1701476 h 2041779"/>
              <a:gd name="connsiteX7" fmla="*/ 0 w 6498945"/>
              <a:gd name="connsiteY7" fmla="*/ 340303 h 2041779"/>
              <a:gd name="connsiteX8" fmla="*/ 340303 w 6498945"/>
              <a:gd name="connsiteY8" fmla="*/ 0 h 204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98945" h="2041779">
                <a:moveTo>
                  <a:pt x="340303" y="0"/>
                </a:moveTo>
                <a:lnTo>
                  <a:pt x="6158642" y="0"/>
                </a:lnTo>
                <a:cubicBezTo>
                  <a:pt x="6346586" y="0"/>
                  <a:pt x="6498945" y="152359"/>
                  <a:pt x="6498945" y="340303"/>
                </a:cubicBezTo>
                <a:lnTo>
                  <a:pt x="6498945" y="1701476"/>
                </a:lnTo>
                <a:cubicBezTo>
                  <a:pt x="6498945" y="1889420"/>
                  <a:pt x="6346586" y="2041779"/>
                  <a:pt x="6158642" y="2041779"/>
                </a:cubicBezTo>
                <a:lnTo>
                  <a:pt x="340303" y="2041779"/>
                </a:lnTo>
                <a:cubicBezTo>
                  <a:pt x="152359" y="2041779"/>
                  <a:pt x="0" y="1889420"/>
                  <a:pt x="0" y="1701476"/>
                </a:cubicBezTo>
                <a:lnTo>
                  <a:pt x="0" y="340303"/>
                </a:lnTo>
                <a:cubicBezTo>
                  <a:pt x="0" y="152359"/>
                  <a:pt x="152359" y="0"/>
                  <a:pt x="3403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A17ED149-C0FA-2222-A4F6-C8A90B7B4D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77119" y="2162793"/>
            <a:ext cx="6498945" cy="2041779"/>
          </a:xfrm>
          <a:custGeom>
            <a:avLst/>
            <a:gdLst>
              <a:gd name="connsiteX0" fmla="*/ 340303 w 6498945"/>
              <a:gd name="connsiteY0" fmla="*/ 0 h 2041779"/>
              <a:gd name="connsiteX1" fmla="*/ 6158642 w 6498945"/>
              <a:gd name="connsiteY1" fmla="*/ 0 h 2041779"/>
              <a:gd name="connsiteX2" fmla="*/ 6498945 w 6498945"/>
              <a:gd name="connsiteY2" fmla="*/ 340303 h 2041779"/>
              <a:gd name="connsiteX3" fmla="*/ 6498945 w 6498945"/>
              <a:gd name="connsiteY3" fmla="*/ 1701476 h 2041779"/>
              <a:gd name="connsiteX4" fmla="*/ 6158642 w 6498945"/>
              <a:gd name="connsiteY4" fmla="*/ 2041779 h 2041779"/>
              <a:gd name="connsiteX5" fmla="*/ 340303 w 6498945"/>
              <a:gd name="connsiteY5" fmla="*/ 2041779 h 2041779"/>
              <a:gd name="connsiteX6" fmla="*/ 0 w 6498945"/>
              <a:gd name="connsiteY6" fmla="*/ 1701476 h 2041779"/>
              <a:gd name="connsiteX7" fmla="*/ 0 w 6498945"/>
              <a:gd name="connsiteY7" fmla="*/ 340303 h 2041779"/>
              <a:gd name="connsiteX8" fmla="*/ 340303 w 6498945"/>
              <a:gd name="connsiteY8" fmla="*/ 0 h 204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98945" h="2041779">
                <a:moveTo>
                  <a:pt x="340303" y="0"/>
                </a:moveTo>
                <a:lnTo>
                  <a:pt x="6158642" y="0"/>
                </a:lnTo>
                <a:cubicBezTo>
                  <a:pt x="6346586" y="0"/>
                  <a:pt x="6498945" y="152359"/>
                  <a:pt x="6498945" y="340303"/>
                </a:cubicBezTo>
                <a:lnTo>
                  <a:pt x="6498945" y="1701476"/>
                </a:lnTo>
                <a:cubicBezTo>
                  <a:pt x="6498945" y="1889420"/>
                  <a:pt x="6346586" y="2041779"/>
                  <a:pt x="6158642" y="2041779"/>
                </a:cubicBezTo>
                <a:lnTo>
                  <a:pt x="340303" y="2041779"/>
                </a:lnTo>
                <a:cubicBezTo>
                  <a:pt x="152359" y="2041779"/>
                  <a:pt x="0" y="1889420"/>
                  <a:pt x="0" y="1701476"/>
                </a:cubicBezTo>
                <a:lnTo>
                  <a:pt x="0" y="340303"/>
                </a:lnTo>
                <a:cubicBezTo>
                  <a:pt x="0" y="152359"/>
                  <a:pt x="152359" y="0"/>
                  <a:pt x="3403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61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505BB26D-26D1-7D0E-3577-5069899158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31662" y="4221727"/>
            <a:ext cx="1316681" cy="1313976"/>
          </a:xfrm>
          <a:custGeom>
            <a:avLst/>
            <a:gdLst>
              <a:gd name="connsiteX0" fmla="*/ 0 w 1316681"/>
              <a:gd name="connsiteY0" fmla="*/ 0 h 1313976"/>
              <a:gd name="connsiteX1" fmla="*/ 1316681 w 1316681"/>
              <a:gd name="connsiteY1" fmla="*/ 0 h 1313976"/>
              <a:gd name="connsiteX2" fmla="*/ 1316681 w 1316681"/>
              <a:gd name="connsiteY2" fmla="*/ 1313976 h 1313976"/>
              <a:gd name="connsiteX3" fmla="*/ 0 w 1316681"/>
              <a:gd name="connsiteY3" fmla="*/ 1313976 h 1313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6681" h="1313976">
                <a:moveTo>
                  <a:pt x="0" y="0"/>
                </a:moveTo>
                <a:lnTo>
                  <a:pt x="1316681" y="0"/>
                </a:lnTo>
                <a:lnTo>
                  <a:pt x="1316681" y="1313976"/>
                </a:lnTo>
                <a:lnTo>
                  <a:pt x="0" y="13139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8" name="그림 개체 틀 17">
            <a:extLst>
              <a:ext uri="{FF2B5EF4-FFF2-40B4-BE49-F238E27FC236}">
                <a16:creationId xmlns:a16="http://schemas.microsoft.com/office/drawing/2014/main" id="{6813C331-DD92-4BAB-E8E5-91491C1DB6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54870" y="4138294"/>
            <a:ext cx="836653" cy="829946"/>
          </a:xfrm>
          <a:custGeom>
            <a:avLst/>
            <a:gdLst>
              <a:gd name="connsiteX0" fmla="*/ 0 w 836653"/>
              <a:gd name="connsiteY0" fmla="*/ 0 h 836653"/>
              <a:gd name="connsiteX1" fmla="*/ 836653 w 836653"/>
              <a:gd name="connsiteY1" fmla="*/ 0 h 836653"/>
              <a:gd name="connsiteX2" fmla="*/ 836653 w 836653"/>
              <a:gd name="connsiteY2" fmla="*/ 836653 h 836653"/>
              <a:gd name="connsiteX3" fmla="*/ 0 w 836653"/>
              <a:gd name="connsiteY3" fmla="*/ 836653 h 836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653" h="836653">
                <a:moveTo>
                  <a:pt x="0" y="0"/>
                </a:moveTo>
                <a:lnTo>
                  <a:pt x="836653" y="0"/>
                </a:lnTo>
                <a:lnTo>
                  <a:pt x="836653" y="836653"/>
                </a:lnTo>
                <a:lnTo>
                  <a:pt x="0" y="83665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  <p:sp>
        <p:nvSpPr>
          <p:cNvPr id="19" name="그림 개체 틀 18">
            <a:extLst>
              <a:ext uri="{FF2B5EF4-FFF2-40B4-BE49-F238E27FC236}">
                <a16:creationId xmlns:a16="http://schemas.microsoft.com/office/drawing/2014/main" id="{19017863-3DF6-F54E-BD0D-76B9FA1D55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4870" y="5016971"/>
            <a:ext cx="836653" cy="811692"/>
          </a:xfrm>
          <a:custGeom>
            <a:avLst/>
            <a:gdLst>
              <a:gd name="connsiteX0" fmla="*/ 0 w 836653"/>
              <a:gd name="connsiteY0" fmla="*/ 0 h 836653"/>
              <a:gd name="connsiteX1" fmla="*/ 836653 w 836653"/>
              <a:gd name="connsiteY1" fmla="*/ 0 h 836653"/>
              <a:gd name="connsiteX2" fmla="*/ 836653 w 836653"/>
              <a:gd name="connsiteY2" fmla="*/ 836653 h 836653"/>
              <a:gd name="connsiteX3" fmla="*/ 0 w 836653"/>
              <a:gd name="connsiteY3" fmla="*/ 836653 h 836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653" h="836653">
                <a:moveTo>
                  <a:pt x="0" y="0"/>
                </a:moveTo>
                <a:lnTo>
                  <a:pt x="836653" y="0"/>
                </a:lnTo>
                <a:lnTo>
                  <a:pt x="836653" y="836653"/>
                </a:lnTo>
                <a:lnTo>
                  <a:pt x="0" y="83665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AD2383F-688C-DE41-C82F-F46B3F08EC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78176" y="4138294"/>
            <a:ext cx="2532185" cy="1690368"/>
          </a:xfrm>
          <a:custGeom>
            <a:avLst/>
            <a:gdLst>
              <a:gd name="connsiteX0" fmla="*/ 0 w 2532185"/>
              <a:gd name="connsiteY0" fmla="*/ 0 h 1690368"/>
              <a:gd name="connsiteX1" fmla="*/ 2532185 w 2532185"/>
              <a:gd name="connsiteY1" fmla="*/ 0 h 1690368"/>
              <a:gd name="connsiteX2" fmla="*/ 2532185 w 2532185"/>
              <a:gd name="connsiteY2" fmla="*/ 1690368 h 1690368"/>
              <a:gd name="connsiteX3" fmla="*/ 0 w 2532185"/>
              <a:gd name="connsiteY3" fmla="*/ 1690368 h 1690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2185" h="1690368">
                <a:moveTo>
                  <a:pt x="0" y="0"/>
                </a:moveTo>
                <a:lnTo>
                  <a:pt x="2532185" y="0"/>
                </a:lnTo>
                <a:lnTo>
                  <a:pt x="2532185" y="1690368"/>
                </a:lnTo>
                <a:lnTo>
                  <a:pt x="0" y="16903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97F03B73-5AB3-BBCD-F6C4-B5FB0C93D6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64273" y="4222474"/>
            <a:ext cx="1313422" cy="1313976"/>
          </a:xfrm>
          <a:custGeom>
            <a:avLst/>
            <a:gdLst>
              <a:gd name="connsiteX0" fmla="*/ 0 w 1313422"/>
              <a:gd name="connsiteY0" fmla="*/ 0 h 1313976"/>
              <a:gd name="connsiteX1" fmla="*/ 1313422 w 1313422"/>
              <a:gd name="connsiteY1" fmla="*/ 0 h 1313976"/>
              <a:gd name="connsiteX2" fmla="*/ 1313422 w 1313422"/>
              <a:gd name="connsiteY2" fmla="*/ 1313976 h 1313976"/>
              <a:gd name="connsiteX3" fmla="*/ 0 w 1313422"/>
              <a:gd name="connsiteY3" fmla="*/ 1313976 h 1313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3422" h="1313976">
                <a:moveTo>
                  <a:pt x="0" y="0"/>
                </a:moveTo>
                <a:lnTo>
                  <a:pt x="1313422" y="0"/>
                </a:lnTo>
                <a:lnTo>
                  <a:pt x="1313422" y="1313976"/>
                </a:lnTo>
                <a:lnTo>
                  <a:pt x="0" y="13139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718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그림 개체 틀 15">
            <a:extLst>
              <a:ext uri="{FF2B5EF4-FFF2-40B4-BE49-F238E27FC236}">
                <a16:creationId xmlns:a16="http://schemas.microsoft.com/office/drawing/2014/main" id="{81DEC6B6-8479-E4A1-C9EF-3E6C2CFB36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668803" y="4752292"/>
            <a:ext cx="1335946" cy="1335946"/>
          </a:xfrm>
          <a:custGeom>
            <a:avLst/>
            <a:gdLst>
              <a:gd name="connsiteX0" fmla="*/ 0 w 1335946"/>
              <a:gd name="connsiteY0" fmla="*/ 0 h 1335946"/>
              <a:gd name="connsiteX1" fmla="*/ 1335946 w 1335946"/>
              <a:gd name="connsiteY1" fmla="*/ 0 h 1335946"/>
              <a:gd name="connsiteX2" fmla="*/ 1335946 w 1335946"/>
              <a:gd name="connsiteY2" fmla="*/ 1335946 h 1335946"/>
              <a:gd name="connsiteX3" fmla="*/ 0 w 1335946"/>
              <a:gd name="connsiteY3" fmla="*/ 1335946 h 1335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5946" h="1335946">
                <a:moveTo>
                  <a:pt x="0" y="0"/>
                </a:moveTo>
                <a:lnTo>
                  <a:pt x="1335946" y="0"/>
                </a:lnTo>
                <a:lnTo>
                  <a:pt x="1335946" y="1335946"/>
                </a:lnTo>
                <a:lnTo>
                  <a:pt x="0" y="13359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5CED8227-46F3-2D16-1371-DE57E66F0E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74550" y="4750755"/>
            <a:ext cx="1003113" cy="1337484"/>
          </a:xfrm>
          <a:custGeom>
            <a:avLst/>
            <a:gdLst>
              <a:gd name="connsiteX0" fmla="*/ 0 w 1003113"/>
              <a:gd name="connsiteY0" fmla="*/ 0 h 1337484"/>
              <a:gd name="connsiteX1" fmla="*/ 1003113 w 1003113"/>
              <a:gd name="connsiteY1" fmla="*/ 0 h 1337484"/>
              <a:gd name="connsiteX2" fmla="*/ 1003113 w 1003113"/>
              <a:gd name="connsiteY2" fmla="*/ 1337484 h 1337484"/>
              <a:gd name="connsiteX3" fmla="*/ 0 w 1003113"/>
              <a:gd name="connsiteY3" fmla="*/ 1337484 h 1337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113" h="1337484">
                <a:moveTo>
                  <a:pt x="0" y="0"/>
                </a:moveTo>
                <a:lnTo>
                  <a:pt x="1003113" y="0"/>
                </a:lnTo>
                <a:lnTo>
                  <a:pt x="1003113" y="1337484"/>
                </a:lnTo>
                <a:lnTo>
                  <a:pt x="0" y="13374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CE56A171-C697-E844-6249-0F35DDC7F2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72718" y="4750754"/>
            <a:ext cx="1910692" cy="1337484"/>
          </a:xfrm>
          <a:custGeom>
            <a:avLst/>
            <a:gdLst>
              <a:gd name="connsiteX0" fmla="*/ 0 w 1910692"/>
              <a:gd name="connsiteY0" fmla="*/ 0 h 1337484"/>
              <a:gd name="connsiteX1" fmla="*/ 1910692 w 1910692"/>
              <a:gd name="connsiteY1" fmla="*/ 0 h 1337484"/>
              <a:gd name="connsiteX2" fmla="*/ 1910692 w 1910692"/>
              <a:gd name="connsiteY2" fmla="*/ 1337484 h 1337484"/>
              <a:gd name="connsiteX3" fmla="*/ 0 w 1910692"/>
              <a:gd name="connsiteY3" fmla="*/ 1337484 h 1337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0692" h="1337484">
                <a:moveTo>
                  <a:pt x="0" y="0"/>
                </a:moveTo>
                <a:lnTo>
                  <a:pt x="1910692" y="0"/>
                </a:lnTo>
                <a:lnTo>
                  <a:pt x="1910692" y="1337484"/>
                </a:lnTo>
                <a:lnTo>
                  <a:pt x="0" y="13374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20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C6731EA0-975C-110A-0C39-A3656258C7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0" y="2441589"/>
            <a:ext cx="2274570" cy="4739792"/>
          </a:xfrm>
          <a:custGeom>
            <a:avLst/>
            <a:gdLst>
              <a:gd name="connsiteX0" fmla="*/ 287665 w 2274570"/>
              <a:gd name="connsiteY0" fmla="*/ 0 h 4739792"/>
              <a:gd name="connsiteX1" fmla="*/ 1986905 w 2274570"/>
              <a:gd name="connsiteY1" fmla="*/ 0 h 4739792"/>
              <a:gd name="connsiteX2" fmla="*/ 2274570 w 2274570"/>
              <a:gd name="connsiteY2" fmla="*/ 287665 h 4739792"/>
              <a:gd name="connsiteX3" fmla="*/ 2274570 w 2274570"/>
              <a:gd name="connsiteY3" fmla="*/ 4452127 h 4739792"/>
              <a:gd name="connsiteX4" fmla="*/ 1986905 w 2274570"/>
              <a:gd name="connsiteY4" fmla="*/ 4739792 h 4739792"/>
              <a:gd name="connsiteX5" fmla="*/ 287665 w 2274570"/>
              <a:gd name="connsiteY5" fmla="*/ 4739792 h 4739792"/>
              <a:gd name="connsiteX6" fmla="*/ 0 w 2274570"/>
              <a:gd name="connsiteY6" fmla="*/ 4452127 h 4739792"/>
              <a:gd name="connsiteX7" fmla="*/ 0 w 2274570"/>
              <a:gd name="connsiteY7" fmla="*/ 287665 h 4739792"/>
              <a:gd name="connsiteX8" fmla="*/ 287665 w 2274570"/>
              <a:gd name="connsiteY8" fmla="*/ 0 h 4739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74570" h="4739792">
                <a:moveTo>
                  <a:pt x="287665" y="0"/>
                </a:moveTo>
                <a:lnTo>
                  <a:pt x="1986905" y="0"/>
                </a:lnTo>
                <a:cubicBezTo>
                  <a:pt x="2145778" y="0"/>
                  <a:pt x="2274570" y="128792"/>
                  <a:pt x="2274570" y="287665"/>
                </a:cubicBezTo>
                <a:lnTo>
                  <a:pt x="2274570" y="4452127"/>
                </a:lnTo>
                <a:cubicBezTo>
                  <a:pt x="2274570" y="4611000"/>
                  <a:pt x="2145778" y="4739792"/>
                  <a:pt x="1986905" y="4739792"/>
                </a:cubicBezTo>
                <a:lnTo>
                  <a:pt x="287665" y="4739792"/>
                </a:lnTo>
                <a:cubicBezTo>
                  <a:pt x="128792" y="4739792"/>
                  <a:pt x="0" y="4611000"/>
                  <a:pt x="0" y="4452127"/>
                </a:cubicBezTo>
                <a:lnTo>
                  <a:pt x="0" y="287665"/>
                </a:lnTo>
                <a:cubicBezTo>
                  <a:pt x="0" y="128792"/>
                  <a:pt x="128792" y="0"/>
                  <a:pt x="28766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815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025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55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orient="horz" pos="3997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484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6" Type="http://schemas.openxmlformats.org/officeDocument/2006/relationships/slideLayout" Target="../slideLayouts/slideLayout76.xml"/><Relationship Id="rId84" Type="http://schemas.openxmlformats.org/officeDocument/2006/relationships/slideLayout" Target="../slideLayouts/slideLayout84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8.xml"/><Relationship Id="rId18" Type="http://schemas.openxmlformats.org/officeDocument/2006/relationships/slideLayout" Target="../slideLayouts/slideLayout103.xml"/><Relationship Id="rId26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7.xml"/><Relationship Id="rId17" Type="http://schemas.openxmlformats.org/officeDocument/2006/relationships/slideLayout" Target="../slideLayouts/slideLayout102.xml"/><Relationship Id="rId25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101.xml"/><Relationship Id="rId20" Type="http://schemas.openxmlformats.org/officeDocument/2006/relationships/slideLayout" Target="../slideLayouts/slideLayout105.xml"/><Relationship Id="rId29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6.xml"/><Relationship Id="rId24" Type="http://schemas.openxmlformats.org/officeDocument/2006/relationships/slideLayout" Target="../slideLayouts/slideLayout109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90.xml"/><Relationship Id="rId15" Type="http://schemas.openxmlformats.org/officeDocument/2006/relationships/slideLayout" Target="../slideLayouts/slideLayout100.xml"/><Relationship Id="rId23" Type="http://schemas.openxmlformats.org/officeDocument/2006/relationships/slideLayout" Target="../slideLayouts/slideLayout108.xml"/><Relationship Id="rId28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95.xml"/><Relationship Id="rId19" Type="http://schemas.openxmlformats.org/officeDocument/2006/relationships/slideLayout" Target="../slideLayouts/slideLayout104.xml"/><Relationship Id="rId31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9.xml"/><Relationship Id="rId22" Type="http://schemas.openxmlformats.org/officeDocument/2006/relationships/slideLayout" Target="../slideLayouts/slideLayout107.xml"/><Relationship Id="rId27" Type="http://schemas.openxmlformats.org/officeDocument/2006/relationships/slideLayout" Target="../slideLayouts/slideLayout112.xml"/><Relationship Id="rId30" Type="http://schemas.openxmlformats.org/officeDocument/2006/relationships/slideLayout" Target="../slideLayouts/slideLayout11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981994-D360-4700-8A41-4FCD237E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8A8FA8-FB42-4F4E-83CD-71AAA1928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24E698-C484-493C-9CF4-E84A60F35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A7001-24F6-4F21-A0DC-9202722EF7ED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E361E4-B762-4EF5-943B-94C575567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DEDD73-858E-4F0B-AA45-F98C9A7D4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B01BD-A329-4C55-8D6A-341E07341A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162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  <p:sldLayoutId id="2147483707" r:id="rId34"/>
    <p:sldLayoutId id="2147483708" r:id="rId35"/>
    <p:sldLayoutId id="2147483709" r:id="rId36"/>
    <p:sldLayoutId id="2147483710" r:id="rId37"/>
    <p:sldLayoutId id="2147483711" r:id="rId38"/>
    <p:sldLayoutId id="2147483712" r:id="rId39"/>
    <p:sldLayoutId id="2147483713" r:id="rId40"/>
    <p:sldLayoutId id="2147483714" r:id="rId41"/>
    <p:sldLayoutId id="2147483715" r:id="rId42"/>
    <p:sldLayoutId id="2147483716" r:id="rId43"/>
    <p:sldLayoutId id="2147483717" r:id="rId44"/>
    <p:sldLayoutId id="2147483718" r:id="rId45"/>
    <p:sldLayoutId id="2147483719" r:id="rId46"/>
    <p:sldLayoutId id="2147483720" r:id="rId47"/>
    <p:sldLayoutId id="2147483721" r:id="rId48"/>
    <p:sldLayoutId id="2147483722" r:id="rId49"/>
    <p:sldLayoutId id="2147483723" r:id="rId50"/>
    <p:sldLayoutId id="2147483724" r:id="rId51"/>
    <p:sldLayoutId id="2147483725" r:id="rId52"/>
    <p:sldLayoutId id="2147483726" r:id="rId53"/>
    <p:sldLayoutId id="2147483727" r:id="rId54"/>
    <p:sldLayoutId id="2147483728" r:id="rId55"/>
    <p:sldLayoutId id="2147483729" r:id="rId56"/>
    <p:sldLayoutId id="2147483730" r:id="rId57"/>
    <p:sldLayoutId id="2147483731" r:id="rId58"/>
    <p:sldLayoutId id="2147483732" r:id="rId59"/>
    <p:sldLayoutId id="2147483733" r:id="rId60"/>
    <p:sldLayoutId id="2147483734" r:id="rId61"/>
    <p:sldLayoutId id="2147483735" r:id="rId62"/>
    <p:sldLayoutId id="2147483736" r:id="rId63"/>
    <p:sldLayoutId id="2147483737" r:id="rId64"/>
    <p:sldLayoutId id="2147483738" r:id="rId65"/>
    <p:sldLayoutId id="2147483739" r:id="rId66"/>
    <p:sldLayoutId id="2147483740" r:id="rId67"/>
    <p:sldLayoutId id="2147483741" r:id="rId68"/>
    <p:sldLayoutId id="2147483742" r:id="rId69"/>
    <p:sldLayoutId id="2147483743" r:id="rId70"/>
    <p:sldLayoutId id="2147483744" r:id="rId71"/>
    <p:sldLayoutId id="2147483745" r:id="rId72"/>
    <p:sldLayoutId id="2147483746" r:id="rId73"/>
    <p:sldLayoutId id="2147483747" r:id="rId74"/>
    <p:sldLayoutId id="2147483748" r:id="rId75"/>
    <p:sldLayoutId id="2147483749" r:id="rId76"/>
    <p:sldLayoutId id="2147483750" r:id="rId77"/>
    <p:sldLayoutId id="2147483751" r:id="rId78"/>
    <p:sldLayoutId id="2147483752" r:id="rId79"/>
    <p:sldLayoutId id="2147483753" r:id="rId80"/>
    <p:sldLayoutId id="2147483754" r:id="rId81"/>
    <p:sldLayoutId id="2147483755" r:id="rId82"/>
    <p:sldLayoutId id="2147483756" r:id="rId83"/>
    <p:sldLayoutId id="2147483757" r:id="rId84"/>
    <p:sldLayoutId id="2147483759" r:id="rId8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BC0077-93FA-2819-D8A0-7EF93CD1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8C30AC-2624-75AE-6C34-1A9155845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CF0250-8136-330E-747B-A72B9A34E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4C3325-EBA2-414C-8475-A92B01FB4F0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8E6800-080F-CDB5-ADDE-66238FDF57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C01922-826A-42C8-0578-DAE0DB8A0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086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  <p:sldLayoutId id="2147483862" r:id="rId17"/>
    <p:sldLayoutId id="2147483863" r:id="rId18"/>
    <p:sldLayoutId id="2147483864" r:id="rId19"/>
    <p:sldLayoutId id="2147483865" r:id="rId20"/>
    <p:sldLayoutId id="2147483866" r:id="rId21"/>
    <p:sldLayoutId id="2147483867" r:id="rId22"/>
    <p:sldLayoutId id="2147483868" r:id="rId23"/>
    <p:sldLayoutId id="2147483869" r:id="rId24"/>
    <p:sldLayoutId id="2147483870" r:id="rId25"/>
    <p:sldLayoutId id="2147483871" r:id="rId26"/>
    <p:sldLayoutId id="2147483872" r:id="rId27"/>
    <p:sldLayoutId id="2147483873" r:id="rId28"/>
    <p:sldLayoutId id="2147483874" r:id="rId29"/>
    <p:sldLayoutId id="2147483875" r:id="rId30"/>
    <p:sldLayoutId id="2147483876" r:id="rId3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프리젠테이션 4 Regular" pitchFamily="2" charset="-127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5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</p:sldLayoutIdLst>
  <p:hf sldNum="0" hdr="0" ft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jp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6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100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10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6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110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2.xml"/><Relationship Id="rId5" Type="http://schemas.openxmlformats.org/officeDocument/2006/relationships/image" Target="../media/image50.svg"/><Relationship Id="rId4" Type="http://schemas.openxmlformats.org/officeDocument/2006/relationships/image" Target="../media/image3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100.xml"/><Relationship Id="rId5" Type="http://schemas.openxmlformats.org/officeDocument/2006/relationships/image" Target="../media/image53.jpe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8.xml"/><Relationship Id="rId6" Type="http://schemas.openxmlformats.org/officeDocument/2006/relationships/image" Target="../media/image63.png"/><Relationship Id="rId5" Type="http://schemas.openxmlformats.org/officeDocument/2006/relationships/image" Target="../media/image62.jpeg"/><Relationship Id="rId4" Type="http://schemas.openxmlformats.org/officeDocument/2006/relationships/image" Target="../media/image2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104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100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30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03.xml"/><Relationship Id="rId5" Type="http://schemas.openxmlformats.org/officeDocument/2006/relationships/image" Target="../media/image78.svg"/><Relationship Id="rId4" Type="http://schemas.openxmlformats.org/officeDocument/2006/relationships/image" Target="../media/image77.sv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A0300A-87EF-8E0D-086C-A3D144A1CE23}"/>
              </a:ext>
            </a:extLst>
          </p:cNvPr>
          <p:cNvSpPr txBox="1"/>
          <p:nvPr/>
        </p:nvSpPr>
        <p:spPr>
          <a:xfrm>
            <a:off x="541338" y="783898"/>
            <a:ext cx="5388990" cy="1505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0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다양한 </a:t>
            </a:r>
            <a:r>
              <a:rPr lang="ko-KR" altLang="en-US" sz="3400" spc="-150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프로젝트에서</a:t>
            </a:r>
            <a:endParaRPr lang="en-US" altLang="ko-KR" sz="3400" spc="-150" dirty="0">
              <a:solidFill>
                <a:srgbClr val="FFFFFF"/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0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많은 사람들과 협업하며</a:t>
            </a:r>
            <a:endParaRPr kumimoji="0" lang="en-US" altLang="ko-KR" sz="3400" b="0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0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성장한 </a:t>
            </a:r>
            <a:r>
              <a:rPr lang="ko-KR" altLang="en-US" sz="3400" spc="-150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프로젝트 매니저</a:t>
            </a:r>
            <a:r>
              <a:rPr kumimoji="0" lang="ko-KR" altLang="en-US" sz="3400" b="0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 </a:t>
            </a:r>
            <a:r>
              <a:rPr kumimoji="0" lang="ko-KR" altLang="en-US" sz="3400" b="0" i="0" u="none" strike="noStrike" kern="1200" cap="none" spc="-15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박재윤</a:t>
            </a:r>
            <a:r>
              <a:rPr kumimoji="0" lang="ko-KR" altLang="en-US" sz="3400" b="0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입니다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9854BA-497A-65D1-4F88-060DDC3899E8}"/>
              </a:ext>
            </a:extLst>
          </p:cNvPr>
          <p:cNvSpPr txBox="1"/>
          <p:nvPr/>
        </p:nvSpPr>
        <p:spPr>
          <a:xfrm>
            <a:off x="649044" y="507209"/>
            <a:ext cx="1947240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2026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포트폴리오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E76A0F-E0A0-7C11-30C9-00CA0C92D7CE}"/>
              </a:ext>
            </a:extLst>
          </p:cNvPr>
          <p:cNvSpPr/>
          <p:nvPr/>
        </p:nvSpPr>
        <p:spPr>
          <a:xfrm>
            <a:off x="658471" y="561568"/>
            <a:ext cx="36000" cy="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6085D5E8-C9A5-772D-1ED7-75139E16A292}"/>
              </a:ext>
            </a:extLst>
          </p:cNvPr>
          <p:cNvSpPr/>
          <p:nvPr/>
        </p:nvSpPr>
        <p:spPr>
          <a:xfrm>
            <a:off x="6261673" y="1390650"/>
            <a:ext cx="5915714" cy="5467350"/>
          </a:xfrm>
          <a:custGeom>
            <a:avLst/>
            <a:gdLst>
              <a:gd name="connsiteX0" fmla="*/ 2957856 w 5915714"/>
              <a:gd name="connsiteY0" fmla="*/ 744079 h 5467350"/>
              <a:gd name="connsiteX1" fmla="*/ 744078 w 5915714"/>
              <a:gd name="connsiteY1" fmla="*/ 2957857 h 5467350"/>
              <a:gd name="connsiteX2" fmla="*/ 2957856 w 5915714"/>
              <a:gd name="connsiteY2" fmla="*/ 5171635 h 5467350"/>
              <a:gd name="connsiteX3" fmla="*/ 5171634 w 5915714"/>
              <a:gd name="connsiteY3" fmla="*/ 2957857 h 5467350"/>
              <a:gd name="connsiteX4" fmla="*/ 2957856 w 5915714"/>
              <a:gd name="connsiteY4" fmla="*/ 744079 h 5467350"/>
              <a:gd name="connsiteX5" fmla="*/ 2957857 w 5915714"/>
              <a:gd name="connsiteY5" fmla="*/ 0 h 5467350"/>
              <a:gd name="connsiteX6" fmla="*/ 5915714 w 5915714"/>
              <a:gd name="connsiteY6" fmla="*/ 2957857 h 5467350"/>
              <a:gd name="connsiteX7" fmla="*/ 4611623 w 5915714"/>
              <a:gd name="connsiteY7" fmla="*/ 5410559 h 5467350"/>
              <a:gd name="connsiteX8" fmla="*/ 4518141 w 5915714"/>
              <a:gd name="connsiteY8" fmla="*/ 5467350 h 5467350"/>
              <a:gd name="connsiteX9" fmla="*/ 1397573 w 5915714"/>
              <a:gd name="connsiteY9" fmla="*/ 5467350 h 5467350"/>
              <a:gd name="connsiteX10" fmla="*/ 1304092 w 5915714"/>
              <a:gd name="connsiteY10" fmla="*/ 5410559 h 5467350"/>
              <a:gd name="connsiteX11" fmla="*/ 0 w 5915714"/>
              <a:gd name="connsiteY11" fmla="*/ 2957857 h 5467350"/>
              <a:gd name="connsiteX12" fmla="*/ 2957857 w 5915714"/>
              <a:gd name="connsiteY12" fmla="*/ 0 h 5467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915714" h="5467350">
                <a:moveTo>
                  <a:pt x="2957856" y="744079"/>
                </a:moveTo>
                <a:cubicBezTo>
                  <a:pt x="1735220" y="744079"/>
                  <a:pt x="744078" y="1735221"/>
                  <a:pt x="744078" y="2957857"/>
                </a:cubicBezTo>
                <a:cubicBezTo>
                  <a:pt x="744078" y="4180493"/>
                  <a:pt x="1735220" y="5171635"/>
                  <a:pt x="2957856" y="5171635"/>
                </a:cubicBezTo>
                <a:cubicBezTo>
                  <a:pt x="4180492" y="5171635"/>
                  <a:pt x="5171634" y="4180493"/>
                  <a:pt x="5171634" y="2957857"/>
                </a:cubicBezTo>
                <a:cubicBezTo>
                  <a:pt x="5171634" y="1735221"/>
                  <a:pt x="4180492" y="744079"/>
                  <a:pt x="2957856" y="744079"/>
                </a:cubicBezTo>
                <a:close/>
                <a:moveTo>
                  <a:pt x="2957857" y="0"/>
                </a:moveTo>
                <a:cubicBezTo>
                  <a:pt x="4591436" y="0"/>
                  <a:pt x="5915714" y="1324278"/>
                  <a:pt x="5915714" y="2957857"/>
                </a:cubicBezTo>
                <a:cubicBezTo>
                  <a:pt x="5915714" y="3978844"/>
                  <a:pt x="5398418" y="4879010"/>
                  <a:pt x="4611623" y="5410559"/>
                </a:cubicBezTo>
                <a:lnTo>
                  <a:pt x="4518141" y="5467350"/>
                </a:lnTo>
                <a:lnTo>
                  <a:pt x="1397573" y="5467350"/>
                </a:lnTo>
                <a:lnTo>
                  <a:pt x="1304092" y="5410559"/>
                </a:lnTo>
                <a:cubicBezTo>
                  <a:pt x="517296" y="4879010"/>
                  <a:pt x="0" y="3978844"/>
                  <a:pt x="0" y="2957857"/>
                </a:cubicBezTo>
                <a:cubicBezTo>
                  <a:pt x="0" y="1324278"/>
                  <a:pt x="1324278" y="0"/>
                  <a:pt x="2957857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53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A6821-A2EA-3FE1-D248-A60CA254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E00D31-4AA8-ABD6-723B-AFEBC614A6EA}"/>
              </a:ext>
            </a:extLst>
          </p:cNvPr>
          <p:cNvSpPr txBox="1"/>
          <p:nvPr/>
        </p:nvSpPr>
        <p:spPr>
          <a:xfrm>
            <a:off x="637657" y="687370"/>
            <a:ext cx="368706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다양한 색깔을 가진 동료들과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5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더 좋은 프로젝트를 만들어 가는 과정</a:t>
            </a:r>
            <a:endParaRPr lang="en-US" altLang="ko-KR" sz="1500" dirty="0">
              <a:solidFill>
                <a:srgbClr val="262626"/>
              </a:solidFill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5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그곳에서 주요 협력자로서 함께 하는 것을 좋아합니다</a:t>
            </a:r>
            <a:r>
              <a:rPr lang="en-US" altLang="ko-KR" sz="15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.</a:t>
            </a:r>
            <a:endParaRPr lang="en-US" altLang="ko-KR" sz="1500" dirty="0">
              <a:solidFill>
                <a:srgbClr val="262626"/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EF011-D2B4-8C60-D446-801EDBF76FC5}"/>
              </a:ext>
            </a:extLst>
          </p:cNvPr>
          <p:cNvSpPr txBox="1"/>
          <p:nvPr/>
        </p:nvSpPr>
        <p:spPr>
          <a:xfrm>
            <a:off x="635641" y="1622078"/>
            <a:ext cx="3141241" cy="857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새로움에서 해답을 찾고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실패를 두려워하지 않으며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다양함 속에서 나만의 것을 찾아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함께 일하는 동료들에게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정확하고 편안한 만족을 줄 때 보람을 느낍니다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F2B5FF-4D1A-22B1-7BD5-065FB5C344CD}"/>
              </a:ext>
            </a:extLst>
          </p:cNvPr>
          <p:cNvSpPr txBox="1"/>
          <p:nvPr/>
        </p:nvSpPr>
        <p:spPr>
          <a:xfrm>
            <a:off x="918179" y="5210149"/>
            <a:ext cx="13676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50" dirty="0">
                <a:solidFill>
                  <a:srgbClr val="262626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1994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.05.07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1" name="그래픽 10" descr="케이크 단색으로 채워진">
            <a:extLst>
              <a:ext uri="{FF2B5EF4-FFF2-40B4-BE49-F238E27FC236}">
                <a16:creationId xmlns:a16="http://schemas.microsoft.com/office/drawing/2014/main" id="{8E3BF251-1951-112F-2D64-87EF305261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591" y="5232782"/>
            <a:ext cx="198451" cy="198451"/>
          </a:xfrm>
          <a:prstGeom prst="rect">
            <a:avLst/>
          </a:prstGeom>
        </p:spPr>
      </p:pic>
      <p:pic>
        <p:nvPicPr>
          <p:cNvPr id="12" name="그래픽 11" descr="봉투 윤곽선">
            <a:extLst>
              <a:ext uri="{FF2B5EF4-FFF2-40B4-BE49-F238E27FC236}">
                <a16:creationId xmlns:a16="http://schemas.microsoft.com/office/drawing/2014/main" id="{166F8261-8377-D908-DD8B-443C4F0C567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931" y="5679058"/>
            <a:ext cx="195771" cy="195771"/>
          </a:xfrm>
          <a:prstGeom prst="rect">
            <a:avLst/>
          </a:prstGeom>
        </p:spPr>
      </p:pic>
      <p:pic>
        <p:nvPicPr>
          <p:cNvPr id="13" name="그래픽 12" descr="전화 윤곽선">
            <a:extLst>
              <a:ext uri="{FF2B5EF4-FFF2-40B4-BE49-F238E27FC236}">
                <a16:creationId xmlns:a16="http://schemas.microsoft.com/office/drawing/2014/main" id="{ECFB5497-2270-4811-BD08-CE6C0BC5BEB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931" y="5457260"/>
            <a:ext cx="195771" cy="195771"/>
          </a:xfrm>
          <a:prstGeom prst="rect">
            <a:avLst/>
          </a:prstGeom>
        </p:spPr>
      </p:pic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89B41F1C-A81F-DDEC-6E45-0736CE55E277}"/>
              </a:ext>
            </a:extLst>
          </p:cNvPr>
          <p:cNvSpPr/>
          <p:nvPr/>
        </p:nvSpPr>
        <p:spPr>
          <a:xfrm>
            <a:off x="742323" y="5900857"/>
            <a:ext cx="168986" cy="149689"/>
          </a:xfrm>
          <a:custGeom>
            <a:avLst/>
            <a:gdLst>
              <a:gd name="connsiteX0" fmla="*/ 0 w 789293"/>
              <a:gd name="connsiteY0" fmla="*/ 374911 h 699162"/>
              <a:gd name="connsiteX1" fmla="*/ 61811 w 789293"/>
              <a:gd name="connsiteY1" fmla="*/ 436707 h 699162"/>
              <a:gd name="connsiteX2" fmla="*/ 108896 w 789293"/>
              <a:gd name="connsiteY2" fmla="*/ 392119 h 699162"/>
              <a:gd name="connsiteX3" fmla="*/ 108896 w 789293"/>
              <a:gd name="connsiteY3" fmla="*/ 698933 h 699162"/>
              <a:gd name="connsiteX4" fmla="*/ 347049 w 789293"/>
              <a:gd name="connsiteY4" fmla="*/ 699028 h 699162"/>
              <a:gd name="connsiteX5" fmla="*/ 347049 w 789293"/>
              <a:gd name="connsiteY5" fmla="*/ 461189 h 699162"/>
              <a:gd name="connsiteX6" fmla="*/ 442299 w 789293"/>
              <a:gd name="connsiteY6" fmla="*/ 461189 h 699162"/>
              <a:gd name="connsiteX7" fmla="*/ 442299 w 789293"/>
              <a:gd name="connsiteY7" fmla="*/ 699067 h 699162"/>
              <a:gd name="connsiteX8" fmla="*/ 680396 w 789293"/>
              <a:gd name="connsiteY8" fmla="*/ 699163 h 699162"/>
              <a:gd name="connsiteX9" fmla="*/ 680396 w 789293"/>
              <a:gd name="connsiteY9" fmla="*/ 391713 h 699162"/>
              <a:gd name="connsiteX10" fmla="*/ 727735 w 789293"/>
              <a:gd name="connsiteY10" fmla="*/ 436480 h 699162"/>
              <a:gd name="connsiteX11" fmla="*/ 789294 w 789293"/>
              <a:gd name="connsiteY11" fmla="*/ 374912 h 699162"/>
              <a:gd name="connsiteX12" fmla="*/ 394673 w 789293"/>
              <a:gd name="connsiteY12" fmla="*/ 0 h 699162"/>
              <a:gd name="connsiteX13" fmla="*/ 661346 w 789293"/>
              <a:gd name="connsiteY13" fmla="*/ 680106 h 699162"/>
              <a:gd name="connsiteX14" fmla="*/ 461349 w 789293"/>
              <a:gd name="connsiteY14" fmla="*/ 680027 h 699162"/>
              <a:gd name="connsiteX15" fmla="*/ 461349 w 789293"/>
              <a:gd name="connsiteY15" fmla="*/ 442139 h 699162"/>
              <a:gd name="connsiteX16" fmla="*/ 327999 w 789293"/>
              <a:gd name="connsiteY16" fmla="*/ 442139 h 699162"/>
              <a:gd name="connsiteX17" fmla="*/ 327999 w 789293"/>
              <a:gd name="connsiteY17" fmla="*/ 679971 h 699162"/>
              <a:gd name="connsiteX18" fmla="*/ 127946 w 789293"/>
              <a:gd name="connsiteY18" fmla="*/ 679892 h 699162"/>
              <a:gd name="connsiteX19" fmla="*/ 127946 w 789293"/>
              <a:gd name="connsiteY19" fmla="*/ 374080 h 699162"/>
              <a:gd name="connsiteX20" fmla="*/ 394674 w 789293"/>
              <a:gd name="connsiteY20" fmla="*/ 121502 h 699162"/>
              <a:gd name="connsiteX21" fmla="*/ 661346 w 789293"/>
              <a:gd name="connsiteY21" fmla="*/ 373695 h 699162"/>
              <a:gd name="connsiteX22" fmla="*/ 727360 w 789293"/>
              <a:gd name="connsiteY22" fmla="*/ 409904 h 699162"/>
              <a:gd name="connsiteX23" fmla="*/ 394674 w 789293"/>
              <a:gd name="connsiteY23" fmla="*/ 95272 h 699162"/>
              <a:gd name="connsiteX24" fmla="*/ 62164 w 789293"/>
              <a:gd name="connsiteY24" fmla="*/ 410131 h 699162"/>
              <a:gd name="connsiteX25" fmla="*/ 27292 w 789293"/>
              <a:gd name="connsiteY25" fmla="*/ 375264 h 699162"/>
              <a:gd name="connsiteX26" fmla="*/ 394671 w 789293"/>
              <a:gd name="connsiteY26" fmla="*/ 26276 h 699162"/>
              <a:gd name="connsiteX27" fmla="*/ 762000 w 789293"/>
              <a:gd name="connsiteY27" fmla="*/ 375264 h 69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89293" h="699162">
                <a:moveTo>
                  <a:pt x="0" y="374911"/>
                </a:moveTo>
                <a:lnTo>
                  <a:pt x="61811" y="436707"/>
                </a:lnTo>
                <a:lnTo>
                  <a:pt x="108896" y="392119"/>
                </a:lnTo>
                <a:lnTo>
                  <a:pt x="108896" y="698933"/>
                </a:lnTo>
                <a:lnTo>
                  <a:pt x="347049" y="699028"/>
                </a:lnTo>
                <a:lnTo>
                  <a:pt x="347049" y="461189"/>
                </a:lnTo>
                <a:lnTo>
                  <a:pt x="442299" y="461189"/>
                </a:lnTo>
                <a:lnTo>
                  <a:pt x="442299" y="699067"/>
                </a:lnTo>
                <a:lnTo>
                  <a:pt x="680396" y="699163"/>
                </a:lnTo>
                <a:lnTo>
                  <a:pt x="680396" y="391713"/>
                </a:lnTo>
                <a:lnTo>
                  <a:pt x="727735" y="436480"/>
                </a:lnTo>
                <a:lnTo>
                  <a:pt x="789294" y="374912"/>
                </a:lnTo>
                <a:lnTo>
                  <a:pt x="394673" y="0"/>
                </a:lnTo>
                <a:close/>
                <a:moveTo>
                  <a:pt x="661346" y="680106"/>
                </a:moveTo>
                <a:lnTo>
                  <a:pt x="461349" y="680027"/>
                </a:lnTo>
                <a:lnTo>
                  <a:pt x="461349" y="442139"/>
                </a:lnTo>
                <a:lnTo>
                  <a:pt x="327999" y="442139"/>
                </a:lnTo>
                <a:lnTo>
                  <a:pt x="327999" y="679971"/>
                </a:lnTo>
                <a:lnTo>
                  <a:pt x="127946" y="679892"/>
                </a:lnTo>
                <a:lnTo>
                  <a:pt x="127946" y="374080"/>
                </a:lnTo>
                <a:lnTo>
                  <a:pt x="394674" y="121502"/>
                </a:lnTo>
                <a:lnTo>
                  <a:pt x="661346" y="373695"/>
                </a:lnTo>
                <a:close/>
                <a:moveTo>
                  <a:pt x="727360" y="409904"/>
                </a:moveTo>
                <a:lnTo>
                  <a:pt x="394674" y="95272"/>
                </a:lnTo>
                <a:lnTo>
                  <a:pt x="62164" y="410131"/>
                </a:lnTo>
                <a:lnTo>
                  <a:pt x="27292" y="375264"/>
                </a:lnTo>
                <a:lnTo>
                  <a:pt x="394671" y="26276"/>
                </a:lnTo>
                <a:lnTo>
                  <a:pt x="762000" y="375264"/>
                </a:lnTo>
                <a:close/>
              </a:path>
            </a:pathLst>
          </a:custGeom>
          <a:solidFill>
            <a:schemeClr val="accent2"/>
          </a:solidFill>
          <a:ln w="31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1C4DF-A228-E36D-1153-A44477825795}"/>
              </a:ext>
            </a:extLst>
          </p:cNvPr>
          <p:cNvSpPr txBox="1"/>
          <p:nvPr/>
        </p:nvSpPr>
        <p:spPr>
          <a:xfrm>
            <a:off x="918179" y="5424714"/>
            <a:ext cx="13676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010-8993-3010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E6A15A-90BD-399D-F278-009DDB18E1EA}"/>
              </a:ext>
            </a:extLst>
          </p:cNvPr>
          <p:cNvSpPr txBox="1"/>
          <p:nvPr/>
        </p:nvSpPr>
        <p:spPr>
          <a:xfrm>
            <a:off x="918178" y="5633737"/>
            <a:ext cx="16384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wodbs2211@naver.com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3FB1E2-E44D-1FC3-71D0-10329EC09219}"/>
              </a:ext>
            </a:extLst>
          </p:cNvPr>
          <p:cNvSpPr txBox="1"/>
          <p:nvPr/>
        </p:nvSpPr>
        <p:spPr>
          <a:xfrm>
            <a:off x="918179" y="5859385"/>
            <a:ext cx="13676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dirty="0">
                <a:solidFill>
                  <a:srgbClr val="262626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경기도 화성시 거주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0DF1D1-0E97-07F9-0F8A-A464244934E7}"/>
              </a:ext>
            </a:extLst>
          </p:cNvPr>
          <p:cNvSpPr txBox="1"/>
          <p:nvPr/>
        </p:nvSpPr>
        <p:spPr>
          <a:xfrm>
            <a:off x="4803523" y="692591"/>
            <a:ext cx="1067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학력 사항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9B229-5E86-6BD6-904C-3F93C51515B3}"/>
              </a:ext>
            </a:extLst>
          </p:cNvPr>
          <p:cNvSpPr txBox="1"/>
          <p:nvPr/>
        </p:nvSpPr>
        <p:spPr>
          <a:xfrm>
            <a:off x="4803522" y="2973975"/>
            <a:ext cx="17027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보유 기술 역량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7E7AFC-7367-6646-431F-69CC599D166F}"/>
              </a:ext>
            </a:extLst>
          </p:cNvPr>
          <p:cNvSpPr txBox="1"/>
          <p:nvPr/>
        </p:nvSpPr>
        <p:spPr>
          <a:xfrm>
            <a:off x="8375766" y="692591"/>
            <a:ext cx="1238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경력 사항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949D3-3DD1-ED83-C015-BE7C50D8B53E}"/>
              </a:ext>
            </a:extLst>
          </p:cNvPr>
          <p:cNvSpPr txBox="1"/>
          <p:nvPr/>
        </p:nvSpPr>
        <p:spPr>
          <a:xfrm>
            <a:off x="8388960" y="2973975"/>
            <a:ext cx="15761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교육 이수 및 대외 활동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8" name="사각형: 둥근 모서리 16">
            <a:extLst>
              <a:ext uri="{FF2B5EF4-FFF2-40B4-BE49-F238E27FC236}">
                <a16:creationId xmlns:a16="http://schemas.microsoft.com/office/drawing/2014/main" id="{D3F23339-E036-E802-B23E-D6DF13804050}"/>
              </a:ext>
            </a:extLst>
          </p:cNvPr>
          <p:cNvSpPr/>
          <p:nvPr/>
        </p:nvSpPr>
        <p:spPr>
          <a:xfrm>
            <a:off x="4896381" y="3471793"/>
            <a:ext cx="321056" cy="321056"/>
          </a:xfrm>
          <a:prstGeom prst="round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E0FA147-308B-3E01-1768-C5AD3B04E295}"/>
              </a:ext>
            </a:extLst>
          </p:cNvPr>
          <p:cNvGrpSpPr/>
          <p:nvPr/>
        </p:nvGrpSpPr>
        <p:grpSpPr>
          <a:xfrm>
            <a:off x="5382792" y="3564342"/>
            <a:ext cx="2212769" cy="135958"/>
            <a:chOff x="5382792" y="3632321"/>
            <a:chExt cx="2212769" cy="135958"/>
          </a:xfrm>
        </p:grpSpPr>
        <p:sp>
          <p:nvSpPr>
            <p:cNvPr id="7" name="사각형: 둥근 모서리 32">
              <a:extLst>
                <a:ext uri="{FF2B5EF4-FFF2-40B4-BE49-F238E27FC236}">
                  <a16:creationId xmlns:a16="http://schemas.microsoft.com/office/drawing/2014/main" id="{34411055-EEB7-AB47-6027-B2FD0E244DD3}"/>
                </a:ext>
              </a:extLst>
            </p:cNvPr>
            <p:cNvSpPr/>
            <p:nvPr/>
          </p:nvSpPr>
          <p:spPr>
            <a:xfrm>
              <a:off x="5398262" y="3632321"/>
              <a:ext cx="2197299" cy="13492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8" name="사각형: 둥근 위쪽 모서리 33">
              <a:extLst>
                <a:ext uri="{FF2B5EF4-FFF2-40B4-BE49-F238E27FC236}">
                  <a16:creationId xmlns:a16="http://schemas.microsoft.com/office/drawing/2014/main" id="{6F1FC5E8-2B3D-5D65-150F-FFB02BF2663B}"/>
                </a:ext>
              </a:extLst>
            </p:cNvPr>
            <p:cNvSpPr/>
            <p:nvPr/>
          </p:nvSpPr>
          <p:spPr>
            <a:xfrm rot="16200000">
              <a:off x="6292078" y="2723279"/>
              <a:ext cx="135714" cy="195428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sp>
        <p:nvSpPr>
          <p:cNvPr id="39" name="사각형: 둥근 모서리 20">
            <a:extLst>
              <a:ext uri="{FF2B5EF4-FFF2-40B4-BE49-F238E27FC236}">
                <a16:creationId xmlns:a16="http://schemas.microsoft.com/office/drawing/2014/main" id="{828B054F-3422-AD74-98B1-F4C6667C3B0B}"/>
              </a:ext>
            </a:extLst>
          </p:cNvPr>
          <p:cNvSpPr/>
          <p:nvPr/>
        </p:nvSpPr>
        <p:spPr>
          <a:xfrm>
            <a:off x="4896381" y="4028390"/>
            <a:ext cx="321056" cy="321056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1" name="사각형: 둥근 모서리 34">
            <a:extLst>
              <a:ext uri="{FF2B5EF4-FFF2-40B4-BE49-F238E27FC236}">
                <a16:creationId xmlns:a16="http://schemas.microsoft.com/office/drawing/2014/main" id="{0E9A8E43-7D5C-BE62-03C0-7A068D11C2B4}"/>
              </a:ext>
            </a:extLst>
          </p:cNvPr>
          <p:cNvSpPr/>
          <p:nvPr/>
        </p:nvSpPr>
        <p:spPr>
          <a:xfrm>
            <a:off x="5398262" y="4120939"/>
            <a:ext cx="2197299" cy="13492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8" name="사각형: 둥근 위쪽 모서리 35">
            <a:extLst>
              <a:ext uri="{FF2B5EF4-FFF2-40B4-BE49-F238E27FC236}">
                <a16:creationId xmlns:a16="http://schemas.microsoft.com/office/drawing/2014/main" id="{9B4D5AD3-3859-D47D-9DE3-8C0D5FAA1646}"/>
              </a:ext>
            </a:extLst>
          </p:cNvPr>
          <p:cNvSpPr/>
          <p:nvPr/>
        </p:nvSpPr>
        <p:spPr>
          <a:xfrm rot="16200000">
            <a:off x="6289592" y="3214383"/>
            <a:ext cx="134678" cy="194827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1" name="사각형: 둥근 모서리 23">
            <a:extLst>
              <a:ext uri="{FF2B5EF4-FFF2-40B4-BE49-F238E27FC236}">
                <a16:creationId xmlns:a16="http://schemas.microsoft.com/office/drawing/2014/main" id="{C9316656-B113-4D5E-7060-3708B1340E78}"/>
              </a:ext>
            </a:extLst>
          </p:cNvPr>
          <p:cNvSpPr/>
          <p:nvPr/>
        </p:nvSpPr>
        <p:spPr>
          <a:xfrm>
            <a:off x="4896381" y="4584987"/>
            <a:ext cx="321056" cy="321056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9" name="사각형: 둥근 모서리 36">
            <a:extLst>
              <a:ext uri="{FF2B5EF4-FFF2-40B4-BE49-F238E27FC236}">
                <a16:creationId xmlns:a16="http://schemas.microsoft.com/office/drawing/2014/main" id="{EE292964-8E9C-05EB-7627-275C32228DB1}"/>
              </a:ext>
            </a:extLst>
          </p:cNvPr>
          <p:cNvSpPr/>
          <p:nvPr/>
        </p:nvSpPr>
        <p:spPr>
          <a:xfrm>
            <a:off x="5398262" y="4677536"/>
            <a:ext cx="2197299" cy="13492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7" name="사각형: 둥근 위쪽 모서리 37">
            <a:extLst>
              <a:ext uri="{FF2B5EF4-FFF2-40B4-BE49-F238E27FC236}">
                <a16:creationId xmlns:a16="http://schemas.microsoft.com/office/drawing/2014/main" id="{977990C5-1806-7DBA-CD40-E191E756C441}"/>
              </a:ext>
            </a:extLst>
          </p:cNvPr>
          <p:cNvSpPr/>
          <p:nvPr/>
        </p:nvSpPr>
        <p:spPr>
          <a:xfrm rot="16200000">
            <a:off x="6281568" y="3779006"/>
            <a:ext cx="150730" cy="1948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7" name="사각형: 둥근 모서리 26">
            <a:extLst>
              <a:ext uri="{FF2B5EF4-FFF2-40B4-BE49-F238E27FC236}">
                <a16:creationId xmlns:a16="http://schemas.microsoft.com/office/drawing/2014/main" id="{3FEF03A4-2383-B380-79F8-5A8D128B51D8}"/>
              </a:ext>
            </a:extLst>
          </p:cNvPr>
          <p:cNvSpPr/>
          <p:nvPr/>
        </p:nvSpPr>
        <p:spPr>
          <a:xfrm>
            <a:off x="4896381" y="5141584"/>
            <a:ext cx="321056" cy="321056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5" name="사각형: 둥근 모서리 38">
            <a:extLst>
              <a:ext uri="{FF2B5EF4-FFF2-40B4-BE49-F238E27FC236}">
                <a16:creationId xmlns:a16="http://schemas.microsoft.com/office/drawing/2014/main" id="{F6F4D882-CFD0-AE69-9541-226A095DE77D}"/>
              </a:ext>
            </a:extLst>
          </p:cNvPr>
          <p:cNvSpPr/>
          <p:nvPr/>
        </p:nvSpPr>
        <p:spPr>
          <a:xfrm>
            <a:off x="5398262" y="5234133"/>
            <a:ext cx="2197299" cy="13492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6" name="사각형: 둥근 위쪽 모서리 39">
            <a:extLst>
              <a:ext uri="{FF2B5EF4-FFF2-40B4-BE49-F238E27FC236}">
                <a16:creationId xmlns:a16="http://schemas.microsoft.com/office/drawing/2014/main" id="{6D216691-7A51-C18E-268A-0AF8AD90AC29}"/>
              </a:ext>
            </a:extLst>
          </p:cNvPr>
          <p:cNvSpPr/>
          <p:nvPr/>
        </p:nvSpPr>
        <p:spPr>
          <a:xfrm rot="16200000">
            <a:off x="5951455" y="4665715"/>
            <a:ext cx="134679" cy="127200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0" name="사각형: 둥근 모서리 29">
            <a:extLst>
              <a:ext uri="{FF2B5EF4-FFF2-40B4-BE49-F238E27FC236}">
                <a16:creationId xmlns:a16="http://schemas.microsoft.com/office/drawing/2014/main" id="{85AB6865-A9F2-5758-880E-D755286F54AB}"/>
              </a:ext>
            </a:extLst>
          </p:cNvPr>
          <p:cNvSpPr/>
          <p:nvPr/>
        </p:nvSpPr>
        <p:spPr>
          <a:xfrm>
            <a:off x="4896381" y="5698182"/>
            <a:ext cx="321056" cy="321056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8" name="사각형: 둥근 모서리 40">
            <a:extLst>
              <a:ext uri="{FF2B5EF4-FFF2-40B4-BE49-F238E27FC236}">
                <a16:creationId xmlns:a16="http://schemas.microsoft.com/office/drawing/2014/main" id="{5E5BD217-633A-F358-C3D1-7A29E5F9CD0C}"/>
              </a:ext>
            </a:extLst>
          </p:cNvPr>
          <p:cNvSpPr/>
          <p:nvPr/>
        </p:nvSpPr>
        <p:spPr>
          <a:xfrm>
            <a:off x="5398262" y="5790731"/>
            <a:ext cx="2197299" cy="13492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9" name="사각형: 둥근 위쪽 모서리 41">
            <a:extLst>
              <a:ext uri="{FF2B5EF4-FFF2-40B4-BE49-F238E27FC236}">
                <a16:creationId xmlns:a16="http://schemas.microsoft.com/office/drawing/2014/main" id="{BAEC4548-9F30-D89C-7DB9-8AA7C365AE57}"/>
              </a:ext>
            </a:extLst>
          </p:cNvPr>
          <p:cNvSpPr/>
          <p:nvPr/>
        </p:nvSpPr>
        <p:spPr>
          <a:xfrm rot="16200000">
            <a:off x="5672056" y="5501712"/>
            <a:ext cx="134679" cy="71320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C12DD27-530E-F042-7167-D529C760FF8F}"/>
              </a:ext>
            </a:extLst>
          </p:cNvPr>
          <p:cNvSpPr txBox="1"/>
          <p:nvPr/>
        </p:nvSpPr>
        <p:spPr>
          <a:xfrm>
            <a:off x="4813704" y="1058549"/>
            <a:ext cx="2008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2010 – 2013 </a:t>
            </a:r>
            <a:r>
              <a:rPr lang="ko-KR" altLang="en-US" sz="120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낙생고등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학교 졸업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E08BC93-377D-E698-95C6-44BC50F77E87}"/>
              </a:ext>
            </a:extLst>
          </p:cNvPr>
          <p:cNvSpPr txBox="1"/>
          <p:nvPr/>
        </p:nvSpPr>
        <p:spPr>
          <a:xfrm>
            <a:off x="8388960" y="1064425"/>
            <a:ext cx="2008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2025 – 2026 </a:t>
            </a:r>
            <a:r>
              <a:rPr lang="ko-KR" altLang="en-US" sz="120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니즈게임즈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114B04F-F996-152B-8ED5-5FCCFAF58A95}"/>
              </a:ext>
            </a:extLst>
          </p:cNvPr>
          <p:cNvSpPr txBox="1"/>
          <p:nvPr/>
        </p:nvSpPr>
        <p:spPr>
          <a:xfrm>
            <a:off x="8388960" y="1433621"/>
            <a:ext cx="2008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2024 – 2024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액트파이브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F49BF43-B02D-3961-C3CB-C7E45A7040D2}"/>
              </a:ext>
            </a:extLst>
          </p:cNvPr>
          <p:cNvSpPr txBox="1"/>
          <p:nvPr/>
        </p:nvSpPr>
        <p:spPr>
          <a:xfrm>
            <a:off x="8388960" y="1802816"/>
            <a:ext cx="2008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2021 – 2024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로드컴플릿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AFB3E78-60AB-153D-EAF5-230B0F071AA0}"/>
              </a:ext>
            </a:extLst>
          </p:cNvPr>
          <p:cNvSpPr txBox="1"/>
          <p:nvPr/>
        </p:nvSpPr>
        <p:spPr>
          <a:xfrm>
            <a:off x="8388960" y="3330349"/>
            <a:ext cx="25931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2020 – 2020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앱 개발을 위한 프로그래밍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BF2FE26-DD00-1087-A54E-95805FEB0AB7}"/>
              </a:ext>
            </a:extLst>
          </p:cNvPr>
          <p:cNvSpPr txBox="1"/>
          <p:nvPr/>
        </p:nvSpPr>
        <p:spPr>
          <a:xfrm>
            <a:off x="8388960" y="3699545"/>
            <a:ext cx="25931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2007 – 2009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어학 연수 및 전공과목 심화 과정</a:t>
            </a:r>
          </a:p>
        </p:txBody>
      </p:sp>
      <p:sp>
        <p:nvSpPr>
          <p:cNvPr id="102" name="부분 원형 64">
            <a:extLst>
              <a:ext uri="{FF2B5EF4-FFF2-40B4-BE49-F238E27FC236}">
                <a16:creationId xmlns:a16="http://schemas.microsoft.com/office/drawing/2014/main" id="{4B51CD1B-6740-D4E2-EBB8-6DF45986C6FE}"/>
              </a:ext>
            </a:extLst>
          </p:cNvPr>
          <p:cNvSpPr/>
          <p:nvPr/>
        </p:nvSpPr>
        <p:spPr>
          <a:xfrm rot="16200000" flipV="1">
            <a:off x="9586426" y="4255863"/>
            <a:ext cx="5243767" cy="5243767"/>
          </a:xfrm>
          <a:prstGeom prst="pie">
            <a:avLst>
              <a:gd name="adj1" fmla="val 0"/>
              <a:gd name="adj2" fmla="val 5400001"/>
            </a:avLst>
          </a:prstGeom>
          <a:solidFill>
            <a:schemeClr val="accent2"/>
          </a:solidFill>
          <a:ln w="47625" cmpd="dbl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2FEB3F9-EFA6-DA26-7212-6E0747289D38}"/>
              </a:ext>
            </a:extLst>
          </p:cNvPr>
          <p:cNvSpPr/>
          <p:nvPr/>
        </p:nvSpPr>
        <p:spPr>
          <a:xfrm>
            <a:off x="719138" y="2656811"/>
            <a:ext cx="1762052" cy="2171700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lavikaNX Bold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8493223-6ABE-C52C-D9E7-4B0EDEBBECBD}"/>
              </a:ext>
            </a:extLst>
          </p:cNvPr>
          <p:cNvSpPr/>
          <p:nvPr/>
        </p:nvSpPr>
        <p:spPr>
          <a:xfrm>
            <a:off x="4519668" y="5136204"/>
            <a:ext cx="321056" cy="321056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AD9C9C2-9EC3-773D-1023-82296D2F5F3F}"/>
              </a:ext>
            </a:extLst>
          </p:cNvPr>
          <p:cNvSpPr/>
          <p:nvPr/>
        </p:nvSpPr>
        <p:spPr>
          <a:xfrm>
            <a:off x="4520798" y="5695338"/>
            <a:ext cx="321056" cy="321056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736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9BF72CA-C0C7-8A0F-1B99-276A9F0D1EEE}"/>
              </a:ext>
            </a:extLst>
          </p:cNvPr>
          <p:cNvCxnSpPr>
            <a:cxnSpLocks/>
          </p:cNvCxnSpPr>
          <p:nvPr/>
        </p:nvCxnSpPr>
        <p:spPr>
          <a:xfrm>
            <a:off x="2203373" y="690367"/>
            <a:ext cx="946294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9279F135-AADC-2A87-C910-7A5C3671552F}"/>
              </a:ext>
            </a:extLst>
          </p:cNvPr>
          <p:cNvSpPr/>
          <p:nvPr/>
        </p:nvSpPr>
        <p:spPr>
          <a:xfrm>
            <a:off x="3915792" y="1984821"/>
            <a:ext cx="2130994" cy="2130994"/>
          </a:xfrm>
          <a:custGeom>
            <a:avLst/>
            <a:gdLst>
              <a:gd name="connsiteX0" fmla="*/ 2346282 w 2346282"/>
              <a:gd name="connsiteY0" fmla="*/ 0 h 2346282"/>
              <a:gd name="connsiteX1" fmla="*/ 2346282 w 2346282"/>
              <a:gd name="connsiteY1" fmla="*/ 1158606 h 2346282"/>
              <a:gd name="connsiteX2" fmla="*/ 2273217 w 2346282"/>
              <a:gd name="connsiteY2" fmla="*/ 1162295 h 2346282"/>
              <a:gd name="connsiteX3" fmla="*/ 1162295 w 2346282"/>
              <a:gd name="connsiteY3" fmla="*/ 2273217 h 2346282"/>
              <a:gd name="connsiteX4" fmla="*/ 1158606 w 2346282"/>
              <a:gd name="connsiteY4" fmla="*/ 2346282 h 2346282"/>
              <a:gd name="connsiteX5" fmla="*/ 0 w 2346282"/>
              <a:gd name="connsiteY5" fmla="*/ 2346282 h 2346282"/>
              <a:gd name="connsiteX6" fmla="*/ 2346282 w 2346282"/>
              <a:gd name="connsiteY6" fmla="*/ 0 h 2346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6282" h="2346282">
                <a:moveTo>
                  <a:pt x="2346282" y="0"/>
                </a:moveTo>
                <a:lnTo>
                  <a:pt x="2346282" y="1158606"/>
                </a:lnTo>
                <a:lnTo>
                  <a:pt x="2273217" y="1162295"/>
                </a:lnTo>
                <a:cubicBezTo>
                  <a:pt x="1687459" y="1221782"/>
                  <a:pt x="1221782" y="1687459"/>
                  <a:pt x="1162295" y="2273217"/>
                </a:cubicBezTo>
                <a:lnTo>
                  <a:pt x="1158606" y="2346282"/>
                </a:lnTo>
                <a:lnTo>
                  <a:pt x="0" y="2346282"/>
                </a:lnTo>
                <a:cubicBezTo>
                  <a:pt x="0" y="1050466"/>
                  <a:pt x="1050466" y="0"/>
                  <a:pt x="2346282" y="0"/>
                </a:cubicBezTo>
                <a:close/>
              </a:path>
            </a:pathLst>
          </a:custGeom>
          <a:gradFill rotWithShape="0">
            <a:gsLst>
              <a:gs pos="18000">
                <a:schemeClr val="accent2"/>
              </a:gs>
              <a:gs pos="100000">
                <a:schemeClr val="accent1">
                  <a:lumMod val="90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28586" tIns="1028586" rIns="341376" bIns="341376" numCol="1" spcCol="1270" anchor="ctr" anchorCtr="0">
            <a:noAutofit/>
          </a:bodyPr>
          <a:lstStyle/>
          <a:p>
            <a:pPr marL="0" marR="0" lvl="0" indent="0" algn="ctr" defTabSz="21336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5196C38-76C4-E9CE-EDF6-D5D3A9857A38}"/>
              </a:ext>
            </a:extLst>
          </p:cNvPr>
          <p:cNvSpPr/>
          <p:nvPr/>
        </p:nvSpPr>
        <p:spPr>
          <a:xfrm>
            <a:off x="6145215" y="1984821"/>
            <a:ext cx="2130994" cy="2130994"/>
          </a:xfrm>
          <a:custGeom>
            <a:avLst/>
            <a:gdLst>
              <a:gd name="connsiteX0" fmla="*/ 0 w 2346282"/>
              <a:gd name="connsiteY0" fmla="*/ 0 h 2346282"/>
              <a:gd name="connsiteX1" fmla="*/ 2346282 w 2346282"/>
              <a:gd name="connsiteY1" fmla="*/ 2346282 h 2346282"/>
              <a:gd name="connsiteX2" fmla="*/ 1187679 w 2346282"/>
              <a:gd name="connsiteY2" fmla="*/ 2346282 h 2346282"/>
              <a:gd name="connsiteX3" fmla="*/ 1183990 w 2346282"/>
              <a:gd name="connsiteY3" fmla="*/ 2273217 h 2346282"/>
              <a:gd name="connsiteX4" fmla="*/ 73067 w 2346282"/>
              <a:gd name="connsiteY4" fmla="*/ 1162295 h 2346282"/>
              <a:gd name="connsiteX5" fmla="*/ 0 w 2346282"/>
              <a:gd name="connsiteY5" fmla="*/ 1158605 h 2346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46282" h="2346282">
                <a:moveTo>
                  <a:pt x="0" y="0"/>
                </a:moveTo>
                <a:cubicBezTo>
                  <a:pt x="1295816" y="0"/>
                  <a:pt x="2346282" y="1050466"/>
                  <a:pt x="2346282" y="2346282"/>
                </a:cubicBezTo>
                <a:lnTo>
                  <a:pt x="1187679" y="2346282"/>
                </a:lnTo>
                <a:lnTo>
                  <a:pt x="1183990" y="2273217"/>
                </a:lnTo>
                <a:cubicBezTo>
                  <a:pt x="1124503" y="1687459"/>
                  <a:pt x="658825" y="1221782"/>
                  <a:pt x="73067" y="1162295"/>
                </a:cubicBezTo>
                <a:lnTo>
                  <a:pt x="0" y="1158605"/>
                </a:lnTo>
                <a:close/>
              </a:path>
            </a:pathLst>
          </a:custGeom>
          <a:gradFill rotWithShape="0">
            <a:gsLst>
              <a:gs pos="18000">
                <a:schemeClr val="accent2"/>
              </a:gs>
              <a:gs pos="100000">
                <a:schemeClr val="accent1">
                  <a:lumMod val="90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1376" tIns="1028586" rIns="1028586" bIns="341376" numCol="1" spcCol="1270" anchor="ctr" anchorCtr="0">
            <a:noAutofit/>
          </a:bodyPr>
          <a:lstStyle/>
          <a:p>
            <a:pPr marL="0" marR="0" lvl="0" indent="0" algn="ctr" defTabSz="21336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22D81BAC-FE1E-27F5-6C5A-99DB6A69EFCC}"/>
              </a:ext>
            </a:extLst>
          </p:cNvPr>
          <p:cNvSpPr/>
          <p:nvPr/>
        </p:nvSpPr>
        <p:spPr>
          <a:xfrm>
            <a:off x="6145215" y="4214244"/>
            <a:ext cx="2130994" cy="2130994"/>
          </a:xfrm>
          <a:custGeom>
            <a:avLst/>
            <a:gdLst>
              <a:gd name="connsiteX0" fmla="*/ 1187679 w 2346282"/>
              <a:gd name="connsiteY0" fmla="*/ 0 h 2346283"/>
              <a:gd name="connsiteX1" fmla="*/ 2346282 w 2346282"/>
              <a:gd name="connsiteY1" fmla="*/ 0 h 2346283"/>
              <a:gd name="connsiteX2" fmla="*/ 0 w 2346282"/>
              <a:gd name="connsiteY2" fmla="*/ 2346283 h 2346283"/>
              <a:gd name="connsiteX3" fmla="*/ 0 w 2346282"/>
              <a:gd name="connsiteY3" fmla="*/ 1187680 h 2346283"/>
              <a:gd name="connsiteX4" fmla="*/ 73067 w 2346282"/>
              <a:gd name="connsiteY4" fmla="*/ 1183990 h 2346283"/>
              <a:gd name="connsiteX5" fmla="*/ 1183990 w 2346282"/>
              <a:gd name="connsiteY5" fmla="*/ 73068 h 2346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46282" h="2346283">
                <a:moveTo>
                  <a:pt x="1187679" y="0"/>
                </a:moveTo>
                <a:lnTo>
                  <a:pt x="2346282" y="0"/>
                </a:lnTo>
                <a:cubicBezTo>
                  <a:pt x="2346282" y="1295817"/>
                  <a:pt x="1295816" y="2346283"/>
                  <a:pt x="0" y="2346283"/>
                </a:cubicBezTo>
                <a:lnTo>
                  <a:pt x="0" y="1187680"/>
                </a:lnTo>
                <a:lnTo>
                  <a:pt x="73067" y="1183990"/>
                </a:lnTo>
                <a:cubicBezTo>
                  <a:pt x="658825" y="1124503"/>
                  <a:pt x="1124503" y="658826"/>
                  <a:pt x="1183990" y="73068"/>
                </a:cubicBezTo>
                <a:close/>
              </a:path>
            </a:pathLst>
          </a:custGeom>
          <a:gradFill rotWithShape="0">
            <a:gsLst>
              <a:gs pos="18000">
                <a:schemeClr val="accent2"/>
              </a:gs>
              <a:gs pos="100000">
                <a:schemeClr val="accent1">
                  <a:lumMod val="9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1376" tIns="341377" rIns="1028586" bIns="1028586" numCol="1" spcCol="1270" anchor="ctr" anchorCtr="0">
            <a:noAutofit/>
          </a:bodyPr>
          <a:lstStyle/>
          <a:p>
            <a:pPr marL="0" marR="0" lvl="0" indent="0" algn="ctr" defTabSz="21336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E7551FD8-9C69-563B-C8F5-E7004A81E026}"/>
              </a:ext>
            </a:extLst>
          </p:cNvPr>
          <p:cNvSpPr/>
          <p:nvPr/>
        </p:nvSpPr>
        <p:spPr>
          <a:xfrm>
            <a:off x="3915792" y="4214244"/>
            <a:ext cx="2130994" cy="2130994"/>
          </a:xfrm>
          <a:custGeom>
            <a:avLst/>
            <a:gdLst>
              <a:gd name="connsiteX0" fmla="*/ 0 w 2346282"/>
              <a:gd name="connsiteY0" fmla="*/ 0 h 2346282"/>
              <a:gd name="connsiteX1" fmla="*/ 1158605 w 2346282"/>
              <a:gd name="connsiteY1" fmla="*/ 0 h 2346282"/>
              <a:gd name="connsiteX2" fmla="*/ 1162295 w 2346282"/>
              <a:gd name="connsiteY2" fmla="*/ 73067 h 2346282"/>
              <a:gd name="connsiteX3" fmla="*/ 2273217 w 2346282"/>
              <a:gd name="connsiteY3" fmla="*/ 1183989 h 2346282"/>
              <a:gd name="connsiteX4" fmla="*/ 2346282 w 2346282"/>
              <a:gd name="connsiteY4" fmla="*/ 1187679 h 2346282"/>
              <a:gd name="connsiteX5" fmla="*/ 2346282 w 2346282"/>
              <a:gd name="connsiteY5" fmla="*/ 2346282 h 2346282"/>
              <a:gd name="connsiteX6" fmla="*/ 0 w 2346282"/>
              <a:gd name="connsiteY6" fmla="*/ 0 h 2346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6282" h="2346282">
                <a:moveTo>
                  <a:pt x="0" y="0"/>
                </a:moveTo>
                <a:lnTo>
                  <a:pt x="1158605" y="0"/>
                </a:lnTo>
                <a:lnTo>
                  <a:pt x="1162295" y="73067"/>
                </a:lnTo>
                <a:cubicBezTo>
                  <a:pt x="1221782" y="658825"/>
                  <a:pt x="1687459" y="1124502"/>
                  <a:pt x="2273217" y="1183989"/>
                </a:cubicBezTo>
                <a:lnTo>
                  <a:pt x="2346282" y="1187679"/>
                </a:lnTo>
                <a:lnTo>
                  <a:pt x="2346282" y="2346282"/>
                </a:lnTo>
                <a:cubicBezTo>
                  <a:pt x="1050466" y="2346282"/>
                  <a:pt x="0" y="1295816"/>
                  <a:pt x="0" y="0"/>
                </a:cubicBezTo>
                <a:close/>
              </a:path>
            </a:pathLst>
          </a:custGeom>
          <a:gradFill rotWithShape="0">
            <a:gsLst>
              <a:gs pos="18000">
                <a:schemeClr val="accent2"/>
              </a:gs>
              <a:gs pos="100000">
                <a:schemeClr val="accent1">
                  <a:lumMod val="90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28586" tIns="341376" rIns="341376" bIns="1028586" numCol="1" spcCol="1270" anchor="ctr" anchorCtr="0">
            <a:noAutofit/>
          </a:bodyPr>
          <a:lstStyle/>
          <a:p>
            <a:pPr marL="0" marR="0" lvl="0" indent="0" algn="ctr" defTabSz="21336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D9934A-A683-266B-A64C-D3873718A2F2}"/>
              </a:ext>
            </a:extLst>
          </p:cNvPr>
          <p:cNvSpPr txBox="1"/>
          <p:nvPr/>
        </p:nvSpPr>
        <p:spPr>
          <a:xfrm>
            <a:off x="612650" y="2197614"/>
            <a:ext cx="15651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100">
                <a:solidFill>
                  <a:schemeClr val="accent2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262626"/>
                </a:solidFill>
              </a:rPr>
              <a:t>커뮤니케이션</a:t>
            </a:r>
            <a:endParaRPr kumimoji="0" lang="ko-KR" altLang="en-US" sz="21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ED4F1C3-34D5-B473-D9A3-50D7831D616F}"/>
              </a:ext>
            </a:extLst>
          </p:cNvPr>
          <p:cNvCxnSpPr>
            <a:cxnSpLocks/>
            <a:endCxn id="25" idx="3"/>
          </p:cNvCxnSpPr>
          <p:nvPr/>
        </p:nvCxnSpPr>
        <p:spPr>
          <a:xfrm flipH="1">
            <a:off x="2177767" y="2395923"/>
            <a:ext cx="2597433" cy="9440"/>
          </a:xfrm>
          <a:prstGeom prst="straightConnector1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3C5441A-8688-9D24-DC7C-F8AFF5377322}"/>
              </a:ext>
            </a:extLst>
          </p:cNvPr>
          <p:cNvSpPr txBox="1"/>
          <p:nvPr/>
        </p:nvSpPr>
        <p:spPr>
          <a:xfrm>
            <a:off x="612650" y="2621100"/>
            <a:ext cx="2317212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15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상대방이 이해하기 쉽게 명확한 정보와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이를 보완해줄 자료 등을 활용합니다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.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1D86B9-3123-1F1D-B013-033C143C0342}"/>
              </a:ext>
            </a:extLst>
          </p:cNvPr>
          <p:cNvSpPr txBox="1"/>
          <p:nvPr/>
        </p:nvSpPr>
        <p:spPr>
          <a:xfrm flipH="1">
            <a:off x="9985496" y="2197614"/>
            <a:ext cx="15651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r">
              <a:defRPr sz="2100">
                <a:solidFill>
                  <a:schemeClr val="accent2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업무 우선순위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DD7D37F-42B7-A33B-69F0-D66067B15983}"/>
              </a:ext>
            </a:extLst>
          </p:cNvPr>
          <p:cNvCxnSpPr>
            <a:cxnSpLocks/>
            <a:endCxn id="29" idx="3"/>
          </p:cNvCxnSpPr>
          <p:nvPr/>
        </p:nvCxnSpPr>
        <p:spPr>
          <a:xfrm>
            <a:off x="7391400" y="2395923"/>
            <a:ext cx="2594096" cy="9440"/>
          </a:xfrm>
          <a:prstGeom prst="straightConnector1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D1B99C5-3932-1C1E-B79C-BA934BD745A8}"/>
              </a:ext>
            </a:extLst>
          </p:cNvPr>
          <p:cNvSpPr txBox="1"/>
          <p:nvPr/>
        </p:nvSpPr>
        <p:spPr>
          <a:xfrm>
            <a:off x="612650" y="5420668"/>
            <a:ext cx="15651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100">
                <a:solidFill>
                  <a:schemeClr val="accent2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체크리스트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883D324-1F45-0525-F5F9-457761CC63ED}"/>
              </a:ext>
            </a:extLst>
          </p:cNvPr>
          <p:cNvCxnSpPr>
            <a:cxnSpLocks/>
            <a:endCxn id="33" idx="3"/>
          </p:cNvCxnSpPr>
          <p:nvPr/>
        </p:nvCxnSpPr>
        <p:spPr>
          <a:xfrm flipH="1">
            <a:off x="2177767" y="5618977"/>
            <a:ext cx="2279933" cy="9440"/>
          </a:xfrm>
          <a:prstGeom prst="straightConnector1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CD0A7A5-E5A1-8EFF-8C9D-6FEF6AB99B4E}"/>
              </a:ext>
            </a:extLst>
          </p:cNvPr>
          <p:cNvSpPr txBox="1"/>
          <p:nvPr/>
        </p:nvSpPr>
        <p:spPr>
          <a:xfrm flipH="1">
            <a:off x="9985496" y="5420668"/>
            <a:ext cx="15651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r">
              <a:defRPr sz="2100">
                <a:solidFill>
                  <a:schemeClr val="accent2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상대방의 입장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33F938C-339B-7D90-E4B6-69CD5F42C092}"/>
              </a:ext>
            </a:extLst>
          </p:cNvPr>
          <p:cNvCxnSpPr>
            <a:cxnSpLocks/>
            <a:endCxn id="37" idx="3"/>
          </p:cNvCxnSpPr>
          <p:nvPr/>
        </p:nvCxnSpPr>
        <p:spPr>
          <a:xfrm>
            <a:off x="7772400" y="5618977"/>
            <a:ext cx="2213096" cy="9440"/>
          </a:xfrm>
          <a:prstGeom prst="straightConnector1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4C1BC178-B2B3-58E5-7E0D-92C00A6C9733}"/>
              </a:ext>
            </a:extLst>
          </p:cNvPr>
          <p:cNvGrpSpPr/>
          <p:nvPr/>
        </p:nvGrpSpPr>
        <p:grpSpPr>
          <a:xfrm>
            <a:off x="4224338" y="2587905"/>
            <a:ext cx="1148485" cy="884095"/>
            <a:chOff x="4224338" y="2508393"/>
            <a:chExt cx="1148485" cy="884095"/>
          </a:xfrm>
        </p:grpSpPr>
        <p:pic>
          <p:nvPicPr>
            <p:cNvPr id="45" name="그래픽 44" descr="이사회실 단색으로 채워진">
              <a:extLst>
                <a:ext uri="{FF2B5EF4-FFF2-40B4-BE49-F238E27FC236}">
                  <a16:creationId xmlns:a16="http://schemas.microsoft.com/office/drawing/2014/main" id="{CB65444A-F004-F7AC-3292-23C29E43F1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13778" y="2508393"/>
              <a:ext cx="643110" cy="643110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AA245BA-173B-8650-E0C2-B2DDE4B0E78E}"/>
                </a:ext>
              </a:extLst>
            </p:cNvPr>
            <p:cNvSpPr txBox="1"/>
            <p:nvPr/>
          </p:nvSpPr>
          <p:spPr>
            <a:xfrm flipH="1">
              <a:off x="4224338" y="3053934"/>
              <a:ext cx="11484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ko-KR" altLang="en-US" sz="1600" dirty="0">
                  <a:solidFill>
                    <a:srgbClr val="FFFFFF"/>
                  </a:solidFill>
                  <a:latin typeface="프리젠테이션 8 ExtraBold" pitchFamily="2" charset="-127"/>
                  <a:ea typeface="프리젠테이션 8 ExtraBold" pitchFamily="2" charset="-127"/>
                  <a:cs typeface="Pretendard ExtraBold" panose="02000903000000020004" pitchFamily="2" charset="-127"/>
                </a:rPr>
                <a:t>소통방식</a:t>
              </a:r>
              <a:endParaRPr lang="ko-KR" altLang="en-US" sz="16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endParaRPr>
            </a:p>
          </p:txBody>
        </p:sp>
      </p:grpSp>
      <p:pic>
        <p:nvPicPr>
          <p:cNvPr id="49" name="圖形 25" descr="우선 순위 단색으로 채워진">
            <a:extLst>
              <a:ext uri="{FF2B5EF4-FFF2-40B4-BE49-F238E27FC236}">
                <a16:creationId xmlns:a16="http://schemas.microsoft.com/office/drawing/2014/main" id="{ED7AC52B-216D-8E5C-3CE7-CDFF417C58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027265" y="2586914"/>
            <a:ext cx="567335" cy="567335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EB70B7D-F351-8480-51BD-9CD7B7B52A68}"/>
              </a:ext>
            </a:extLst>
          </p:cNvPr>
          <p:cNvSpPr txBox="1"/>
          <p:nvPr/>
        </p:nvSpPr>
        <p:spPr>
          <a:xfrm flipH="1">
            <a:off x="6771437" y="3133446"/>
            <a:ext cx="1148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관리 체계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60" name="圖形 23" descr="User">
            <a:extLst>
              <a:ext uri="{FF2B5EF4-FFF2-40B4-BE49-F238E27FC236}">
                <a16:creationId xmlns:a16="http://schemas.microsoft.com/office/drawing/2014/main" id="{6CB10E44-AF6B-15F3-B49C-A8AEFF277A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57145" y="4629705"/>
            <a:ext cx="643110" cy="64311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D8F4985E-DED2-F699-7D86-D0459C69C4D5}"/>
              </a:ext>
            </a:extLst>
          </p:cNvPr>
          <p:cNvSpPr txBox="1"/>
          <p:nvPr/>
        </p:nvSpPr>
        <p:spPr>
          <a:xfrm flipH="1">
            <a:off x="6771437" y="5231208"/>
            <a:ext cx="1148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역지사지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63" name="Graphic 6" descr="Checkmark">
            <a:extLst>
              <a:ext uri="{FF2B5EF4-FFF2-40B4-BE49-F238E27FC236}">
                <a16:creationId xmlns:a16="http://schemas.microsoft.com/office/drawing/2014/main" id="{5AC0B308-2C4B-3437-C6D1-9ECADBA55C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26225" y="4664117"/>
            <a:ext cx="643110" cy="64311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B65214F2-1206-D3D8-A95E-ACA83BEBCC27}"/>
              </a:ext>
            </a:extLst>
          </p:cNvPr>
          <p:cNvSpPr txBox="1"/>
          <p:nvPr/>
        </p:nvSpPr>
        <p:spPr>
          <a:xfrm flipH="1">
            <a:off x="4224338" y="5221269"/>
            <a:ext cx="1148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자기관리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281C76-ADFA-0CB0-1E53-B05F1BD7E339}"/>
              </a:ext>
            </a:extLst>
          </p:cNvPr>
          <p:cNvSpPr txBox="1"/>
          <p:nvPr/>
        </p:nvSpPr>
        <p:spPr>
          <a:xfrm>
            <a:off x="612649" y="5844153"/>
            <a:ext cx="2597081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15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다방면에서 발생하는 업무와 요청사항들을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놓치지 않기 위해 체크리스트를 적극 활용합니다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.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E4524-451F-9123-127B-B2123863C324}"/>
              </a:ext>
            </a:extLst>
          </p:cNvPr>
          <p:cNvSpPr txBox="1"/>
          <p:nvPr/>
        </p:nvSpPr>
        <p:spPr>
          <a:xfrm>
            <a:off x="9629190" y="2621100"/>
            <a:ext cx="1950159" cy="4998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15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중요도에 따른 우선순위 지정으로 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빠른 업무 처리가 가능합니다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.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FE343-F8AE-292C-90A8-4A7368F10DAD}"/>
              </a:ext>
            </a:extLst>
          </p:cNvPr>
          <p:cNvSpPr txBox="1"/>
          <p:nvPr/>
        </p:nvSpPr>
        <p:spPr>
          <a:xfrm>
            <a:off x="9750490" y="5844153"/>
            <a:ext cx="1828860" cy="4998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15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항상 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‘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내가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＇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 아닌 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‘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상대방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＇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의 입장에서 생각하고 행동합니다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.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384938-251F-D8F5-1C2B-67140D89383B}"/>
              </a:ext>
            </a:extLst>
          </p:cNvPr>
          <p:cNvSpPr txBox="1"/>
          <p:nvPr/>
        </p:nvSpPr>
        <p:spPr>
          <a:xfrm>
            <a:off x="537273" y="489792"/>
            <a:ext cx="368706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제가 가지고 있는</a:t>
            </a:r>
            <a:endParaRPr kumimoji="0" lang="en-US" altLang="ko-KR" sz="19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핵심 역량은</a:t>
            </a:r>
            <a:endParaRPr kumimoji="0" lang="ko-KR" altLang="en-US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8858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3000">
              <a:schemeClr val="accent2"/>
            </a:gs>
            <a:gs pos="100000">
              <a:schemeClr val="accent1">
                <a:lumMod val="90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CA1C7-9339-0586-E7ED-922B7D0D0F98}"/>
              </a:ext>
            </a:extLst>
          </p:cNvPr>
          <p:cNvSpPr txBox="1"/>
          <p:nvPr/>
        </p:nvSpPr>
        <p:spPr>
          <a:xfrm>
            <a:off x="3401505" y="1333945"/>
            <a:ext cx="538899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0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“</a:t>
            </a:r>
            <a:r>
              <a:rPr kumimoji="0" lang="ko-KR" altLang="en-US" sz="3000" b="0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한  사람은 팀을 이룰 수가 없습니다</a:t>
            </a:r>
            <a:r>
              <a:rPr kumimoji="0" lang="en-US" altLang="ko-KR" sz="3000" b="0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.”</a:t>
            </a:r>
            <a:endParaRPr kumimoji="0" lang="ko-KR" altLang="en-US" sz="3000" b="0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13C675-7FD8-FF36-5A74-FFF2D4971AFE}"/>
              </a:ext>
            </a:extLst>
          </p:cNvPr>
          <p:cNvSpPr txBox="1"/>
          <p:nvPr/>
        </p:nvSpPr>
        <p:spPr>
          <a:xfrm>
            <a:off x="3401505" y="2241203"/>
            <a:ext cx="53889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좋은 동료들과 재미있는 게임을 만들며 멋진 성취를 이루기 위해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500" dirty="0">
                <a:solidFill>
                  <a:srgbClr val="FFFFFF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준비된 </a:t>
            </a:r>
            <a:r>
              <a:rPr lang="ko-KR" altLang="en-US" sz="1500" b="1" dirty="0">
                <a:solidFill>
                  <a:schemeClr val="bg1"/>
                </a:solidFill>
                <a:latin typeface="넥슨Lv1고딕 OTF Bold" panose="00000800000000000000" pitchFamily="50" charset="-127"/>
                <a:ea typeface="넥슨Lv1고딕 OTF Bold" panose="00000800000000000000" pitchFamily="50" charset="-127"/>
                <a:cs typeface="Pretendard Light" panose="02000403000000020004" pitchFamily="2" charset="-127"/>
              </a:rPr>
              <a:t>프로젝트 매니저 박재윤</a:t>
            </a:r>
            <a:r>
              <a:rPr lang="ko-KR" altLang="en-US" sz="1500" dirty="0">
                <a:solidFill>
                  <a:srgbClr val="FFFFFF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입니다</a:t>
            </a:r>
            <a:r>
              <a:rPr lang="en-US" altLang="ko-KR" sz="1500" dirty="0">
                <a:solidFill>
                  <a:srgbClr val="FFFFFF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39042A1-8CED-EE65-4EC9-615DFE8CC8E8}"/>
              </a:ext>
            </a:extLst>
          </p:cNvPr>
          <p:cNvSpPr/>
          <p:nvPr/>
        </p:nvSpPr>
        <p:spPr>
          <a:xfrm>
            <a:off x="2257490" y="3298015"/>
            <a:ext cx="2262553" cy="1944413"/>
          </a:xfrm>
          <a:prstGeom prst="roundRect">
            <a:avLst>
              <a:gd name="adj" fmla="val 2932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2FBD90C-28FB-AD06-22AB-699491FFAD8F}"/>
              </a:ext>
            </a:extLst>
          </p:cNvPr>
          <p:cNvSpPr/>
          <p:nvPr/>
        </p:nvSpPr>
        <p:spPr>
          <a:xfrm>
            <a:off x="4923693" y="3298015"/>
            <a:ext cx="2262553" cy="1944413"/>
          </a:xfrm>
          <a:prstGeom prst="roundRect">
            <a:avLst>
              <a:gd name="adj" fmla="val 2932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5E8E273-D2CB-EF91-2AA7-BA935F8E2EAF}"/>
              </a:ext>
            </a:extLst>
          </p:cNvPr>
          <p:cNvSpPr/>
          <p:nvPr/>
        </p:nvSpPr>
        <p:spPr>
          <a:xfrm>
            <a:off x="7611795" y="3298015"/>
            <a:ext cx="2262553" cy="1944413"/>
          </a:xfrm>
          <a:prstGeom prst="roundRect">
            <a:avLst>
              <a:gd name="adj" fmla="val 2932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5" name="L 도형 14">
            <a:extLst>
              <a:ext uri="{FF2B5EF4-FFF2-40B4-BE49-F238E27FC236}">
                <a16:creationId xmlns:a16="http://schemas.microsoft.com/office/drawing/2014/main" id="{E0F20DC5-B91A-DE51-A2D1-C4939C87B91A}"/>
              </a:ext>
            </a:extLst>
          </p:cNvPr>
          <p:cNvSpPr/>
          <p:nvPr/>
        </p:nvSpPr>
        <p:spPr>
          <a:xfrm rot="13484770">
            <a:off x="4552612" y="4164252"/>
            <a:ext cx="211939" cy="211939"/>
          </a:xfrm>
          <a:prstGeom prst="corner">
            <a:avLst>
              <a:gd name="adj1" fmla="val 15179"/>
              <a:gd name="adj2" fmla="val 1517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6" name="L 도형 15">
            <a:extLst>
              <a:ext uri="{FF2B5EF4-FFF2-40B4-BE49-F238E27FC236}">
                <a16:creationId xmlns:a16="http://schemas.microsoft.com/office/drawing/2014/main" id="{9BC14FCA-261F-3317-5AB7-0CA62ECD31F0}"/>
              </a:ext>
            </a:extLst>
          </p:cNvPr>
          <p:cNvSpPr/>
          <p:nvPr/>
        </p:nvSpPr>
        <p:spPr>
          <a:xfrm rot="13484770">
            <a:off x="7230138" y="4164252"/>
            <a:ext cx="211939" cy="211939"/>
          </a:xfrm>
          <a:prstGeom prst="corner">
            <a:avLst>
              <a:gd name="adj1" fmla="val 15179"/>
              <a:gd name="adj2" fmla="val 1517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867C31-424C-3903-CA2A-612FF865718B}"/>
              </a:ext>
            </a:extLst>
          </p:cNvPr>
          <p:cNvSpPr txBox="1"/>
          <p:nvPr/>
        </p:nvSpPr>
        <p:spPr>
          <a:xfrm>
            <a:off x="2611160" y="3586949"/>
            <a:ext cx="1511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Medium" panose="02000603000000020004" pitchFamily="2" charset="-127"/>
              </a:rPr>
              <a:t>팀워크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0C31DE-2778-FBC9-5F86-F28E7A5F739D}"/>
              </a:ext>
            </a:extLst>
          </p:cNvPr>
          <p:cNvSpPr txBox="1"/>
          <p:nvPr/>
        </p:nvSpPr>
        <p:spPr>
          <a:xfrm>
            <a:off x="5299263" y="3586949"/>
            <a:ext cx="1511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Medium" panose="02000603000000020004" pitchFamily="2" charset="-127"/>
              </a:rPr>
              <a:t>열정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D8D61E-C8F9-CF09-BC9A-2862AE939065}"/>
              </a:ext>
            </a:extLst>
          </p:cNvPr>
          <p:cNvSpPr txBox="1"/>
          <p:nvPr/>
        </p:nvSpPr>
        <p:spPr>
          <a:xfrm>
            <a:off x="8034789" y="3586949"/>
            <a:ext cx="1511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>
                <a:solidFill>
                  <a:srgbClr val="262626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Medium" panose="02000603000000020004" pitchFamily="2" charset="-127"/>
              </a:rPr>
              <a:t>치밀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Medium" panose="02000603000000020004" pitchFamily="2" charset="-127"/>
              </a:rPr>
              <a:t>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21F391-9187-A2E6-5405-FDD0A1A76B13}"/>
              </a:ext>
            </a:extLst>
          </p:cNvPr>
          <p:cNvSpPr txBox="1"/>
          <p:nvPr/>
        </p:nvSpPr>
        <p:spPr>
          <a:xfrm>
            <a:off x="2290680" y="4069525"/>
            <a:ext cx="2152373" cy="4013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lnSpc>
                <a:spcPct val="120000"/>
              </a:lnSpc>
              <a:defRPr sz="12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ko-KR" altLang="en-US" dirty="0">
                <a:solidFill>
                  <a:schemeClr val="tx1"/>
                </a:solidFill>
              </a:rPr>
              <a:t>공감을 바탕으로 신뢰를 쌓고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ko-KR" altLang="en-US" dirty="0">
                <a:solidFill>
                  <a:schemeClr val="tx1"/>
                </a:solidFill>
              </a:rPr>
              <a:t>같은 목표를 향해 정진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48D118-F10D-449E-3AA2-244659907795}"/>
              </a:ext>
            </a:extLst>
          </p:cNvPr>
          <p:cNvSpPr txBox="1"/>
          <p:nvPr/>
        </p:nvSpPr>
        <p:spPr>
          <a:xfrm>
            <a:off x="4978781" y="4069524"/>
            <a:ext cx="2152373" cy="4013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lnSpc>
                <a:spcPct val="120000"/>
              </a:lnSpc>
              <a:defRPr sz="12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ko-KR" altLang="en-US" dirty="0">
                <a:solidFill>
                  <a:schemeClr val="tx1"/>
                </a:solidFill>
              </a:rPr>
              <a:t>어려움을 두려워하지 않고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</a:p>
          <a:p>
            <a:pPr algn="ctr">
              <a:lnSpc>
                <a:spcPct val="130000"/>
              </a:lnSpc>
            </a:pPr>
            <a:r>
              <a:rPr lang="ko-KR" altLang="en-US" dirty="0">
                <a:solidFill>
                  <a:schemeClr val="tx1"/>
                </a:solidFill>
              </a:rPr>
              <a:t>계속 도전하는 열정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B1D6D8-84CA-514F-BABA-0C8E81CA0F77}"/>
              </a:ext>
            </a:extLst>
          </p:cNvPr>
          <p:cNvSpPr txBox="1"/>
          <p:nvPr/>
        </p:nvSpPr>
        <p:spPr>
          <a:xfrm>
            <a:off x="7666884" y="4124245"/>
            <a:ext cx="2152373" cy="4013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lnSpc>
                <a:spcPct val="120000"/>
              </a:lnSpc>
              <a:defRPr sz="12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ko-KR" altLang="en-US" dirty="0">
                <a:solidFill>
                  <a:schemeClr val="tx1"/>
                </a:solidFill>
              </a:rPr>
              <a:t>전략적 사고를 통한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ko-KR" altLang="en-US" dirty="0">
                <a:solidFill>
                  <a:schemeClr val="tx1"/>
                </a:solidFill>
              </a:rPr>
              <a:t>효율적인 업무 수행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303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3000">
              <a:schemeClr val="tx1"/>
            </a:gs>
            <a:gs pos="100000">
              <a:schemeClr val="bg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87680" y="579120"/>
            <a:ext cx="3535680" cy="387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2600" dirty="0">
                <a:solidFill>
                  <a:srgbClr val="F1F5F9"/>
                </a:solidFill>
                <a:latin typeface="프리젠테이션 8 ExtraBold" pitchFamily="2" charset="-127"/>
                <a:ea typeface="프리젠테이션 8 ExtraBold" pitchFamily="2" charset="-127"/>
                <a:cs typeface="Manrope" pitchFamily="34" charset="-120"/>
              </a:rPr>
              <a:t>AI </a:t>
            </a:r>
            <a:r>
              <a:rPr lang="en-US" sz="2600" dirty="0" err="1">
                <a:solidFill>
                  <a:srgbClr val="F1F5F9"/>
                </a:solidFill>
                <a:latin typeface="프리젠테이션 8 ExtraBold" pitchFamily="2" charset="-127"/>
                <a:ea typeface="프리젠테이션 8 ExtraBold" pitchFamily="2" charset="-127"/>
                <a:cs typeface="Manrope" pitchFamily="34" charset="-120"/>
              </a:rPr>
              <a:t>활용</a:t>
            </a:r>
            <a:r>
              <a:rPr lang="en-US" sz="2600" dirty="0">
                <a:solidFill>
                  <a:srgbClr val="F1F5F9"/>
                </a:solidFill>
                <a:latin typeface="프리젠테이션 8 ExtraBold" pitchFamily="2" charset="-127"/>
                <a:ea typeface="프리젠테이션 8 ExtraBold" pitchFamily="2" charset="-127"/>
                <a:cs typeface="Manrope" pitchFamily="34" charset="-120"/>
              </a:rPr>
              <a:t> </a:t>
            </a:r>
            <a:r>
              <a:rPr lang="ko-KR" altLang="en-US" sz="2600" dirty="0">
                <a:solidFill>
                  <a:srgbClr val="F1F5F9"/>
                </a:solidFill>
                <a:latin typeface="프리젠테이션 8 ExtraBold" pitchFamily="2" charset="-127"/>
                <a:ea typeface="프리젠테이션 8 ExtraBold" pitchFamily="2" charset="-127"/>
                <a:cs typeface="Manrope" pitchFamily="34" charset="-120"/>
              </a:rPr>
              <a:t>사례</a:t>
            </a:r>
            <a:endParaRPr lang="en-US" sz="2600" dirty="0">
              <a:solidFill>
                <a:prstClr val="black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87680" y="1127760"/>
            <a:ext cx="5054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ko-KR" altLang="en-US" sz="1300" dirty="0">
                <a:solidFill>
                  <a:srgbClr val="CBD5E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효율적인 일정</a:t>
            </a:r>
            <a:r>
              <a:rPr lang="en-US" altLang="ko-KR" sz="1300" dirty="0">
                <a:solidFill>
                  <a:srgbClr val="CBD5E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300" dirty="0">
                <a:solidFill>
                  <a:srgbClr val="CBD5E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일감 관리를 위해 협업 도구와 연계하여</a:t>
            </a:r>
            <a:endParaRPr lang="en-US" altLang="ko-KR" sz="1300" dirty="0">
              <a:solidFill>
                <a:srgbClr val="CBD5E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defTabSz="609630" latinLnBrk="0"/>
            <a:r>
              <a:rPr lang="ko-KR" altLang="en-US" sz="1300" dirty="0">
                <a:solidFill>
                  <a:srgbClr val="CBD5E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자동화 구조를 설계 및 구축하였습니다</a:t>
            </a:r>
            <a:r>
              <a:rPr lang="en-US" altLang="ko-KR" sz="1300" dirty="0">
                <a:solidFill>
                  <a:srgbClr val="CBD5E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sz="1300" dirty="0">
              <a:solidFill>
                <a:prstClr val="black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2255520" y="1728709"/>
            <a:ext cx="1597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867" b="1" kern="0" spc="133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endParaRPr lang="en-US" sz="867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255520" y="1894698"/>
            <a:ext cx="1597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933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데이터 소스</a:t>
            </a:r>
            <a:endParaRPr lang="en-US" sz="933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206240" y="1734891"/>
            <a:ext cx="1597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867" b="1" kern="0" spc="133" dirty="0">
                <a:solidFill>
                  <a:srgbClr val="38BDF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PM DEFINES</a:t>
            </a:r>
            <a:endParaRPr lang="en-US" sz="867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206240" y="1894698"/>
            <a:ext cx="1597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933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PM 정의</a:t>
            </a:r>
            <a:endParaRPr lang="en-US" sz="933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156960" y="1714928"/>
            <a:ext cx="1597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867" b="1" kern="0" spc="133" dirty="0">
                <a:solidFill>
                  <a:srgbClr val="818CF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AI</a:t>
            </a:r>
            <a:endParaRPr lang="en-US" sz="867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156960" y="1889760"/>
            <a:ext cx="1597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933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AI 구현</a:t>
            </a:r>
            <a:endParaRPr lang="en-US" sz="933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107680" y="1727002"/>
            <a:ext cx="1597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867" b="1" kern="0" spc="133" dirty="0">
                <a:solidFill>
                  <a:srgbClr val="10B98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endParaRPr lang="en-US" sz="867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107680" y="1888146"/>
            <a:ext cx="1597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933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결과물</a:t>
            </a:r>
            <a:endParaRPr lang="en-US" sz="933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058400" y="1730567"/>
            <a:ext cx="1597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867" b="1" kern="0" spc="133" dirty="0">
                <a:solidFill>
                  <a:srgbClr val="F59E0B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PM VALUE</a:t>
            </a:r>
            <a:endParaRPr lang="en-US" sz="867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0058400" y="1888146"/>
            <a:ext cx="1597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933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PM </a:t>
            </a:r>
            <a:r>
              <a:rPr lang="ko-KR" altLang="en-US" sz="933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담당</a:t>
            </a:r>
            <a:endParaRPr lang="en-US" sz="933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87680" y="2072640"/>
            <a:ext cx="1584960" cy="1127760"/>
          </a:xfrm>
          <a:prstGeom prst="rect">
            <a:avLst/>
          </a:prstGeom>
          <a:solidFill>
            <a:srgbClr val="0B1120"/>
          </a:solidFill>
          <a:ln w="12700">
            <a:solidFill>
              <a:srgbClr val="2A3753"/>
            </a:solidFill>
          </a:ln>
        </p:spPr>
        <p:txBody>
          <a:bodyPr wrap="square" lIns="118533" tIns="118533" rIns="118533" bIns="118533" rtlCol="0" anchor="ctr"/>
          <a:lstStyle/>
          <a:p>
            <a:pPr defTabSz="609630" latinLnBrk="0"/>
            <a:r>
              <a:rPr lang="en-US" sz="867" b="1" kern="0" spc="133" dirty="0">
                <a:solidFill>
                  <a:srgbClr val="38BDF8"/>
                </a:solidFill>
                <a:latin typeface="프리젠테이션 7 Bold" pitchFamily="2" charset="-127"/>
                <a:ea typeface="프리젠테이션 7 Bold" pitchFamily="2" charset="-127"/>
                <a:cs typeface="JetBrains Mono" pitchFamily="34" charset="-120"/>
              </a:rPr>
              <a:t>CASE 01</a:t>
            </a:r>
            <a:endParaRPr lang="en-US" sz="867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400" dirty="0">
                <a:solidFill>
                  <a:srgbClr val="CBD5E1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 </a:t>
            </a:r>
            <a:endParaRPr lang="en-US" sz="867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1133" b="1" dirty="0">
                <a:solidFill>
                  <a:srgbClr val="F1F5F9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Jira &amp;  Notion</a:t>
            </a:r>
            <a:endParaRPr lang="en-US" sz="867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1133" b="1" dirty="0" err="1">
                <a:solidFill>
                  <a:srgbClr val="F1F5F9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일감</a:t>
            </a:r>
            <a:r>
              <a:rPr lang="en-US" sz="1133" b="1" dirty="0">
                <a:solidFill>
                  <a:srgbClr val="F1F5F9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 자동화</a:t>
            </a:r>
            <a:endParaRPr lang="en-US" sz="867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2255520" y="2072640"/>
            <a:ext cx="1767840" cy="1127760"/>
          </a:xfrm>
          <a:prstGeom prst="rect">
            <a:avLst/>
          </a:prstGeom>
          <a:solidFill>
            <a:srgbClr val="0F1626"/>
          </a:solidFill>
          <a:ln w="12700">
            <a:solidFill>
              <a:srgbClr val="2A3753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Jira </a:t>
            </a:r>
            <a:r>
              <a:rPr lang="ko-KR" alt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일감 분류 및 등록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Jira Key, </a:t>
            </a:r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빌드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버전</a:t>
            </a:r>
            <a:r>
              <a:rPr lang="en-US" altLang="ko-KR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파트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상태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047744" y="2636520"/>
            <a:ext cx="134112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4206240" y="2072640"/>
            <a:ext cx="1767840" cy="1127760"/>
          </a:xfrm>
          <a:prstGeom prst="rect">
            <a:avLst/>
          </a:prstGeom>
          <a:solidFill>
            <a:srgbClr val="0F1626"/>
          </a:solidFill>
          <a:ln w="19050">
            <a:solidFill>
              <a:srgbClr val="38BDF8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동기화 대상 데이터 정의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외부 </a:t>
            </a:r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작업자는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Notion </a:t>
            </a:r>
            <a:r>
              <a:rPr lang="ko-KR" alt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등록</a:t>
            </a:r>
            <a:endParaRPr lang="en-US" sz="900" dirty="0">
              <a:solidFill>
                <a:srgbClr val="94A3B8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중복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입력은 제거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98464" y="2636520"/>
            <a:ext cx="134112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156960" y="2072640"/>
            <a:ext cx="1767840" cy="1127760"/>
          </a:xfrm>
          <a:prstGeom prst="rect">
            <a:avLst/>
          </a:prstGeom>
          <a:solidFill>
            <a:srgbClr val="0F1626"/>
          </a:solidFill>
          <a:ln w="19050">
            <a:solidFill>
              <a:srgbClr val="818CF8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Claude 자동화 파일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run.bat 실행 → Jira → Notion</a:t>
            </a:r>
          </a:p>
          <a:p>
            <a:pPr defTabSz="609630" latinLnBrk="0"/>
            <a:r>
              <a:rPr lang="en-US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 </a:t>
            </a:r>
            <a:r>
              <a:rPr lang="ko-KR" altLang="en-US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동기화</a:t>
            </a:r>
            <a:endParaRPr lang="en-US" sz="900" dirty="0">
              <a:solidFill>
                <a:schemeClr val="accent1">
                  <a:lumMod val="40000"/>
                  <a:lumOff val="60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949184" y="2636520"/>
            <a:ext cx="134112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8107680" y="2072640"/>
            <a:ext cx="1767840" cy="1127760"/>
          </a:xfrm>
          <a:prstGeom prst="rect">
            <a:avLst/>
          </a:prstGeom>
          <a:solidFill>
            <a:srgbClr val="0F1626"/>
          </a:solidFill>
          <a:ln w="12700">
            <a:solidFill>
              <a:srgbClr val="2A3753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Notion </a:t>
            </a:r>
            <a:r>
              <a:rPr lang="en-US" sz="900" b="1" dirty="0" err="1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일감</a:t>
            </a:r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DB </a:t>
            </a:r>
            <a:r>
              <a:rPr lang="ko-KR" alt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생성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빌드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파트별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작업 확인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899904" y="2636520"/>
            <a:ext cx="134112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10058400" y="2072640"/>
            <a:ext cx="1767840" cy="1127760"/>
          </a:xfrm>
          <a:prstGeom prst="rect">
            <a:avLst/>
          </a:prstGeom>
          <a:solidFill>
            <a:srgbClr val="0F1626"/>
          </a:solidFill>
          <a:ln w="12700">
            <a:solidFill>
              <a:srgbClr val="2A3753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1회 실행으로 최신화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수기 복사 → 자동 동기화로 전환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487680" y="3322320"/>
            <a:ext cx="1584960" cy="1127760"/>
          </a:xfrm>
          <a:prstGeom prst="rect">
            <a:avLst/>
          </a:prstGeom>
          <a:solidFill>
            <a:srgbClr val="0B1120"/>
          </a:solidFill>
          <a:ln w="12700">
            <a:solidFill>
              <a:srgbClr val="2A3753"/>
            </a:solidFill>
          </a:ln>
        </p:spPr>
        <p:txBody>
          <a:bodyPr wrap="square" lIns="118533" tIns="118533" rIns="118533" bIns="118533" rtlCol="0" anchor="ctr"/>
          <a:lstStyle/>
          <a:p>
            <a:pPr defTabSz="609630" latinLnBrk="0"/>
            <a:r>
              <a:rPr lang="en-US" sz="867" b="1" kern="0" spc="133" dirty="0">
                <a:solidFill>
                  <a:srgbClr val="818CF8"/>
                </a:solidFill>
                <a:latin typeface="프리젠테이션 7 Bold" pitchFamily="2" charset="-127"/>
                <a:ea typeface="프리젠테이션 7 Bold" pitchFamily="2" charset="-127"/>
                <a:cs typeface="JetBrains Mono" pitchFamily="34" charset="-120"/>
              </a:rPr>
              <a:t>CASE 02</a:t>
            </a:r>
            <a:endParaRPr lang="en-US" sz="867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400" dirty="0">
                <a:solidFill>
                  <a:srgbClr val="CBD5E1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 </a:t>
            </a:r>
            <a:endParaRPr lang="en-US" sz="867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1133" b="1" dirty="0">
                <a:solidFill>
                  <a:srgbClr val="F1F5F9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WBS </a:t>
            </a:r>
            <a:r>
              <a:rPr lang="ko-KR" altLang="en-US" sz="1133" b="1" dirty="0">
                <a:solidFill>
                  <a:srgbClr val="F1F5F9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및 </a:t>
            </a:r>
            <a:r>
              <a:rPr lang="en-US" sz="1133" b="1" dirty="0" err="1">
                <a:solidFill>
                  <a:srgbClr val="F1F5F9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공정률</a:t>
            </a:r>
            <a:endParaRPr lang="en-US" sz="1133" b="1" dirty="0">
              <a:solidFill>
                <a:srgbClr val="F1F5F9"/>
              </a:solidFill>
              <a:latin typeface="프리젠테이션 7 Bold" pitchFamily="2" charset="-127"/>
              <a:ea typeface="프리젠테이션 7 Bold" pitchFamily="2" charset="-127"/>
              <a:cs typeface="Manrope" pitchFamily="34" charset="-120"/>
            </a:endParaRPr>
          </a:p>
          <a:p>
            <a:pPr defTabSz="609630" latinLnBrk="0"/>
            <a:r>
              <a:rPr lang="ko-KR" altLang="en-US" sz="1133" b="1" dirty="0">
                <a:solidFill>
                  <a:srgbClr val="F1F5F9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계산 </a:t>
            </a:r>
            <a:r>
              <a:rPr lang="en-US" sz="1133" b="1" dirty="0" err="1">
                <a:solidFill>
                  <a:srgbClr val="F1F5F9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자동화</a:t>
            </a:r>
            <a:endParaRPr lang="en-US" sz="867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2255520" y="3322320"/>
            <a:ext cx="1767840" cy="1127760"/>
          </a:xfrm>
          <a:prstGeom prst="rect">
            <a:avLst/>
          </a:prstGeom>
          <a:solidFill>
            <a:srgbClr val="0F1626"/>
          </a:solidFill>
          <a:ln w="12700">
            <a:solidFill>
              <a:srgbClr val="2A3753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Jira Epic / Task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다수의 Epic과 일감 데이터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047744" y="3886200"/>
            <a:ext cx="134112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4206240" y="3322320"/>
            <a:ext cx="1767840" cy="1127760"/>
          </a:xfrm>
          <a:prstGeom prst="rect">
            <a:avLst/>
          </a:prstGeom>
          <a:solidFill>
            <a:srgbClr val="0F1626"/>
          </a:solidFill>
          <a:ln w="19050">
            <a:solidFill>
              <a:srgbClr val="38BDF8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WBS + </a:t>
            </a:r>
            <a:r>
              <a:rPr lang="en-US" sz="900" b="1" dirty="0" err="1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공정률</a:t>
            </a:r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구조 정의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카테고리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우선순위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업무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유형 기준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998464" y="3886200"/>
            <a:ext cx="134112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156960" y="3322320"/>
            <a:ext cx="1767840" cy="1127760"/>
          </a:xfrm>
          <a:prstGeom prst="rect">
            <a:avLst/>
          </a:prstGeom>
          <a:solidFill>
            <a:srgbClr val="0F1626"/>
          </a:solidFill>
          <a:ln w="19050">
            <a:solidFill>
              <a:srgbClr val="818CF8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Claude 자동화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run.bat / .py 실행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949184" y="3886200"/>
            <a:ext cx="134112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8107680" y="3322320"/>
            <a:ext cx="1767840" cy="1127760"/>
          </a:xfrm>
          <a:prstGeom prst="rect">
            <a:avLst/>
          </a:prstGeom>
          <a:solidFill>
            <a:srgbClr val="0F1626"/>
          </a:solidFill>
          <a:ln w="12700">
            <a:solidFill>
              <a:srgbClr val="2A3753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Google Sheets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WBS &amp; </a:t>
            </a:r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공정률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시트</a:t>
            </a:r>
            <a:endParaRPr lang="en-US" sz="900" dirty="0">
              <a:solidFill>
                <a:srgbClr val="94A3B8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ko-KR" alt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내용 동기화 완료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899904" y="3886200"/>
            <a:ext cx="134112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10058400" y="3322320"/>
            <a:ext cx="1767840" cy="1127760"/>
          </a:xfrm>
          <a:prstGeom prst="rect">
            <a:avLst/>
          </a:prstGeom>
          <a:solidFill>
            <a:srgbClr val="0F1626"/>
          </a:solidFill>
          <a:ln w="12700">
            <a:solidFill>
              <a:srgbClr val="2A3753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판단 가능한 관리 정보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개발 데이터 → PM</a:t>
            </a:r>
          </a:p>
          <a:p>
            <a:pPr defTabSz="609630" latinLnBrk="0"/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의사결정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자료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487680" y="4572000"/>
            <a:ext cx="1584960" cy="1127760"/>
          </a:xfrm>
          <a:prstGeom prst="rect">
            <a:avLst/>
          </a:prstGeom>
          <a:solidFill>
            <a:srgbClr val="0B1120"/>
          </a:solidFill>
          <a:ln w="12700">
            <a:solidFill>
              <a:srgbClr val="2A3753"/>
            </a:solidFill>
          </a:ln>
        </p:spPr>
        <p:txBody>
          <a:bodyPr wrap="square" lIns="118533" tIns="118533" rIns="118533" bIns="118533" rtlCol="0" anchor="ctr"/>
          <a:lstStyle/>
          <a:p>
            <a:pPr defTabSz="609630" latinLnBrk="0"/>
            <a:r>
              <a:rPr lang="en-US" sz="867" b="1" kern="0" spc="133" dirty="0">
                <a:solidFill>
                  <a:srgbClr val="10B981"/>
                </a:solidFill>
                <a:latin typeface="프리젠테이션 7 Bold" pitchFamily="2" charset="-127"/>
                <a:ea typeface="프리젠테이션 7 Bold" pitchFamily="2" charset="-127"/>
                <a:cs typeface="JetBrains Mono" pitchFamily="34" charset="-120"/>
              </a:rPr>
              <a:t>CASE 03</a:t>
            </a:r>
            <a:endParaRPr lang="en-US" sz="867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400" dirty="0">
                <a:solidFill>
                  <a:srgbClr val="CBD5E1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 </a:t>
            </a:r>
            <a:endParaRPr lang="en-US" sz="867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1133" b="1" dirty="0">
                <a:solidFill>
                  <a:srgbClr val="F1F5F9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Vibe Coding</a:t>
            </a:r>
            <a:endParaRPr lang="en-US" sz="867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1133" b="1" dirty="0">
                <a:solidFill>
                  <a:srgbClr val="F1F5F9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Excel 데이터 처리</a:t>
            </a:r>
            <a:endParaRPr lang="en-US" sz="867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2255520" y="4572000"/>
            <a:ext cx="1767840" cy="1127760"/>
          </a:xfrm>
          <a:prstGeom prst="rect">
            <a:avLst/>
          </a:prstGeom>
          <a:solidFill>
            <a:srgbClr val="0F1626"/>
          </a:solidFill>
          <a:ln w="12700">
            <a:solidFill>
              <a:srgbClr val="2A3753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Excel 데이터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 + Target / </a:t>
            </a:r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TextKey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Value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047744" y="5135880"/>
            <a:ext cx="134112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4206240" y="4572000"/>
            <a:ext cx="1767840" cy="1127760"/>
          </a:xfrm>
          <a:prstGeom prst="rect">
            <a:avLst/>
          </a:prstGeom>
          <a:solidFill>
            <a:srgbClr val="0F1626"/>
          </a:solidFill>
          <a:ln w="19050">
            <a:solidFill>
              <a:srgbClr val="38BDF8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TextKey 매칭 규칙 정의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실제 데이터 </a:t>
            </a:r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검증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후</a:t>
            </a:r>
          </a:p>
          <a:p>
            <a:pPr defTabSz="609630" latinLnBrk="0"/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규칙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재정의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998464" y="5135880"/>
            <a:ext cx="134112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6156960" y="4572000"/>
            <a:ext cx="1767840" cy="1127760"/>
          </a:xfrm>
          <a:prstGeom prst="rect">
            <a:avLst/>
          </a:prstGeom>
          <a:solidFill>
            <a:srgbClr val="0F1626"/>
          </a:solidFill>
          <a:ln w="19050">
            <a:solidFill>
              <a:srgbClr val="818CF8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Claude Code 구현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ChatGPT </a:t>
            </a:r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로직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정리</a:t>
            </a:r>
            <a:endParaRPr lang="en-US" sz="900" dirty="0">
              <a:solidFill>
                <a:srgbClr val="94A3B8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Vibe Coding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949184" y="5135880"/>
            <a:ext cx="134112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8107680" y="4572000"/>
            <a:ext cx="1767840" cy="1127760"/>
          </a:xfrm>
          <a:prstGeom prst="rect">
            <a:avLst/>
          </a:prstGeom>
          <a:solidFill>
            <a:srgbClr val="0F1626"/>
          </a:solidFill>
          <a:ln w="12700">
            <a:solidFill>
              <a:srgbClr val="2A3753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 </a:t>
            </a:r>
            <a:r>
              <a:rPr lang="ko-KR" alt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추적 및</a:t>
            </a:r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자동 입력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V1 → V2: 모든 일치 데이터 처리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899904" y="5135880"/>
            <a:ext cx="134112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10058400" y="4572000"/>
            <a:ext cx="1767840" cy="1127760"/>
          </a:xfrm>
          <a:prstGeom prst="rect">
            <a:avLst/>
          </a:prstGeom>
          <a:solidFill>
            <a:srgbClr val="0F1626"/>
          </a:solidFill>
          <a:ln w="12700">
            <a:solidFill>
              <a:srgbClr val="2A3753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9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반복 Excel 작업 제거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Edge Case를 반영한 로직 개선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487680" y="5880340"/>
            <a:ext cx="11338560" cy="67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630" latinLnBrk="0"/>
            <a:r>
              <a:rPr lang="en-US" sz="1400" b="1" kern="0" spc="133" dirty="0">
                <a:solidFill>
                  <a:srgbClr val="38BDF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>
                <a:solidFill>
                  <a:srgbClr val="F1F5F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PM</a:t>
            </a:r>
            <a:r>
              <a:rPr lang="ko-KR" altLang="en-US" sz="1400" b="1" dirty="0">
                <a:solidFill>
                  <a:srgbClr val="F1F5F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은</a:t>
            </a:r>
            <a:r>
              <a:rPr lang="en-US" sz="1400" b="1" dirty="0">
                <a:solidFill>
                  <a:srgbClr val="F1F5F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문제와 </a:t>
            </a:r>
            <a:r>
              <a:rPr lang="en-US" sz="1400" b="1" dirty="0" err="1">
                <a:solidFill>
                  <a:srgbClr val="F1F5F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규칙을</a:t>
            </a:r>
            <a:r>
              <a:rPr lang="en-US" sz="1400" b="1" dirty="0">
                <a:solidFill>
                  <a:srgbClr val="F1F5F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F1F5F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정의하고</a:t>
            </a:r>
            <a:r>
              <a:rPr lang="en-US" sz="1400" b="1" dirty="0">
                <a:solidFill>
                  <a:srgbClr val="F1F5F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AI가 실행 가능한 </a:t>
            </a:r>
            <a:r>
              <a:rPr lang="en-US" sz="1400" b="1" dirty="0" err="1">
                <a:solidFill>
                  <a:srgbClr val="F1F5F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형태로</a:t>
            </a:r>
            <a:r>
              <a:rPr lang="en-US" sz="1400" b="1" dirty="0">
                <a:solidFill>
                  <a:srgbClr val="F1F5F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F1F5F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구현하며</a:t>
            </a:r>
            <a:endParaRPr lang="en-US" sz="1400" b="1" dirty="0">
              <a:solidFill>
                <a:srgbClr val="F1F5F9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 defTabSz="609630" latinLnBrk="0"/>
            <a:r>
              <a:rPr lang="en-US" sz="1400" b="1" dirty="0">
                <a:solidFill>
                  <a:srgbClr val="F1F5F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400" b="1" dirty="0">
                <a:solidFill>
                  <a:srgbClr val="F1F5F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결과는 </a:t>
            </a:r>
            <a:r>
              <a:rPr lang="en-US" altLang="ko-KR" sz="1400" b="1" dirty="0">
                <a:solidFill>
                  <a:srgbClr val="F1F5F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PM</a:t>
            </a:r>
            <a:r>
              <a:rPr lang="ko-KR" altLang="en-US" sz="1400" b="1" dirty="0">
                <a:solidFill>
                  <a:srgbClr val="F1F5F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의사결정으로 이어지는 구조를 만들었습니다</a:t>
            </a:r>
            <a:r>
              <a:rPr lang="en-US" altLang="ko-KR" sz="1400" b="1" dirty="0">
                <a:solidFill>
                  <a:srgbClr val="F1F5F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en-US" sz="1400" dirty="0">
              <a:solidFill>
                <a:prstClr val="black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054352" y="3505200"/>
            <a:ext cx="524256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944112" y="3505200"/>
            <a:ext cx="524256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833872" y="3505200"/>
            <a:ext cx="524256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23632" y="3505200"/>
            <a:ext cx="524256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613392" y="3505200"/>
            <a:ext cx="524256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2895600"/>
            <a:ext cx="1219200" cy="1219200"/>
          </a:xfrm>
          <a:prstGeom prst="ellipse">
            <a:avLst/>
          </a:prstGeom>
          <a:solidFill>
            <a:srgbClr val="0F1626"/>
          </a:solidFill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200400"/>
            <a:ext cx="609600" cy="609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4297680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09630" latinLnBrk="0"/>
            <a:r>
              <a:rPr lang="en-US" sz="1600" b="1" dirty="0">
                <a:solidFill>
                  <a:srgbClr val="F1F5F9"/>
                </a:solidFill>
                <a:latin typeface="프리젠테이션 8 ExtraBold" pitchFamily="2" charset="-127"/>
                <a:ea typeface="프리젠테이션 8 ExtraBold" pitchFamily="2" charset="-127"/>
                <a:cs typeface="Manrope" pitchFamily="34" charset="-120"/>
              </a:rPr>
              <a:t>데이터</a:t>
            </a:r>
            <a:endParaRPr lang="en-US" sz="1600" dirty="0">
              <a:solidFill>
                <a:prstClr val="black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457200" y="4632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09630" latinLnBrk="0"/>
            <a:r>
              <a:rPr lang="en-US" sz="800" b="1" kern="0" spc="133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JetBrains Mono" pitchFamily="34" charset="-120"/>
              </a:rPr>
              <a:t>DATA</a:t>
            </a:r>
            <a:endParaRPr lang="en-US" sz="8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651760" y="2895600"/>
            <a:ext cx="1219200" cy="1219200"/>
          </a:xfrm>
          <a:prstGeom prst="ellipse">
            <a:avLst/>
          </a:prstGeom>
          <a:solidFill>
            <a:srgbClr val="0F1626"/>
          </a:solidFill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560" y="3200400"/>
            <a:ext cx="609600" cy="609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46960" y="4297680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09630" latinLnBrk="0"/>
            <a:r>
              <a:rPr lang="en-US" sz="1600" b="1" dirty="0">
                <a:solidFill>
                  <a:srgbClr val="F1F5F9"/>
                </a:solidFill>
                <a:latin typeface="프리젠테이션 8 ExtraBold" pitchFamily="2" charset="-127"/>
                <a:ea typeface="프리젠테이션 8 ExtraBold" pitchFamily="2" charset="-127"/>
                <a:cs typeface="Manrope" pitchFamily="34" charset="-120"/>
              </a:rPr>
              <a:t>PM 정의</a:t>
            </a:r>
            <a:endParaRPr lang="en-US" sz="1600" dirty="0">
              <a:solidFill>
                <a:prstClr val="black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2346960" y="4632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09630" latinLnBrk="0"/>
            <a:r>
              <a:rPr lang="en-US" sz="800" b="1" kern="0" spc="133" dirty="0">
                <a:solidFill>
                  <a:srgbClr val="38BDF8"/>
                </a:solidFill>
                <a:latin typeface="프리젠테이션 7 Bold" pitchFamily="2" charset="-127"/>
                <a:ea typeface="프리젠테이션 7 Bold" pitchFamily="2" charset="-127"/>
                <a:cs typeface="JetBrains Mono" pitchFamily="34" charset="-120"/>
              </a:rPr>
              <a:t>PM - DEFINE</a:t>
            </a:r>
            <a:endParaRPr lang="en-US" sz="8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541520" y="2895600"/>
            <a:ext cx="1219200" cy="1219200"/>
          </a:xfrm>
          <a:prstGeom prst="ellipse">
            <a:avLst/>
          </a:prstGeom>
          <a:solidFill>
            <a:srgbClr val="0F1626"/>
          </a:solidFill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200400"/>
            <a:ext cx="609600" cy="609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236720" y="4297680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09630" latinLnBrk="0"/>
            <a:r>
              <a:rPr lang="en-US" sz="1600" b="1" dirty="0">
                <a:solidFill>
                  <a:srgbClr val="F1F5F9"/>
                </a:solidFill>
                <a:latin typeface="프리젠테이션 8 ExtraBold" pitchFamily="2" charset="-127"/>
                <a:ea typeface="프리젠테이션 8 ExtraBold" pitchFamily="2" charset="-127"/>
                <a:cs typeface="Manrope" pitchFamily="34" charset="-120"/>
              </a:rPr>
              <a:t>AI 구현</a:t>
            </a:r>
            <a:endParaRPr lang="en-US" sz="1600" dirty="0">
              <a:solidFill>
                <a:prstClr val="black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4236720" y="4632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09630" latinLnBrk="0"/>
            <a:r>
              <a:rPr lang="en-US" sz="800" b="1" kern="0" spc="133" dirty="0">
                <a:solidFill>
                  <a:srgbClr val="818CF8"/>
                </a:solidFill>
                <a:latin typeface="프리젠테이션 7 Bold" pitchFamily="2" charset="-127"/>
                <a:ea typeface="프리젠테이션 7 Bold" pitchFamily="2" charset="-127"/>
                <a:cs typeface="JetBrains Mono" pitchFamily="34" charset="-120"/>
              </a:rPr>
              <a:t>AI - BUILD</a:t>
            </a:r>
            <a:endParaRPr lang="en-US" sz="8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6431280" y="2895600"/>
            <a:ext cx="1219200" cy="1219200"/>
          </a:xfrm>
          <a:prstGeom prst="ellipse">
            <a:avLst/>
          </a:prstGeom>
          <a:solidFill>
            <a:srgbClr val="0F1626"/>
          </a:solidFill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6080" y="3200400"/>
            <a:ext cx="609600" cy="609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126480" y="4297680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09630" latinLnBrk="0"/>
            <a:r>
              <a:rPr lang="en-US" sz="1600" b="1" dirty="0">
                <a:solidFill>
                  <a:srgbClr val="F1F5F9"/>
                </a:solidFill>
                <a:latin typeface="프리젠테이션 8 ExtraBold" pitchFamily="2" charset="-127"/>
                <a:ea typeface="프리젠테이션 8 ExtraBold" pitchFamily="2" charset="-127"/>
                <a:cs typeface="Manrope" pitchFamily="34" charset="-120"/>
              </a:rPr>
              <a:t>자동 실행</a:t>
            </a:r>
            <a:endParaRPr lang="en-US" sz="1600" dirty="0">
              <a:solidFill>
                <a:prstClr val="black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6126480" y="4632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09630" latinLnBrk="0"/>
            <a:r>
              <a:rPr lang="en-US" sz="800" b="1" kern="0" spc="133" dirty="0">
                <a:solidFill>
                  <a:srgbClr val="818CF8"/>
                </a:solidFill>
                <a:latin typeface="프리젠테이션 7 Bold" pitchFamily="2" charset="-127"/>
                <a:ea typeface="프리젠테이션 7 Bold" pitchFamily="2" charset="-127"/>
                <a:cs typeface="JetBrains Mono" pitchFamily="34" charset="-120"/>
              </a:rPr>
              <a:t>RUN - SYNC</a:t>
            </a:r>
            <a:endParaRPr lang="en-US" sz="8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8321040" y="2895600"/>
            <a:ext cx="1219200" cy="1219200"/>
          </a:xfrm>
          <a:prstGeom prst="ellipse">
            <a:avLst/>
          </a:prstGeom>
          <a:solidFill>
            <a:srgbClr val="0F1626"/>
          </a:solidFill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5840" y="3200400"/>
            <a:ext cx="609600" cy="609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016240" y="4297680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09630" latinLnBrk="0"/>
            <a:r>
              <a:rPr lang="en-US" sz="1600" b="1" dirty="0">
                <a:solidFill>
                  <a:srgbClr val="F1F5F9"/>
                </a:solidFill>
                <a:latin typeface="프리젠테이션 8 ExtraBold" pitchFamily="2" charset="-127"/>
                <a:ea typeface="프리젠테이션 8 ExtraBold" pitchFamily="2" charset="-127"/>
                <a:cs typeface="Manrope" pitchFamily="34" charset="-120"/>
              </a:rPr>
              <a:t>결과물</a:t>
            </a:r>
            <a:endParaRPr lang="en-US" sz="1600" dirty="0">
              <a:solidFill>
                <a:prstClr val="black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8016240" y="4632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09630" latinLnBrk="0"/>
            <a:r>
              <a:rPr lang="en-US" sz="800" b="1" kern="0" spc="133" dirty="0">
                <a:solidFill>
                  <a:srgbClr val="10B981"/>
                </a:solidFill>
                <a:latin typeface="프리젠테이션 7 Bold" pitchFamily="2" charset="-127"/>
                <a:ea typeface="프리젠테이션 7 Bold" pitchFamily="2" charset="-127"/>
                <a:cs typeface="JetBrains Mono" pitchFamily="34" charset="-120"/>
              </a:rPr>
              <a:t>OUTPUT</a:t>
            </a:r>
            <a:endParaRPr lang="en-US" sz="8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10210800" y="2895600"/>
            <a:ext cx="1219200" cy="1219200"/>
          </a:xfrm>
          <a:prstGeom prst="ellipse">
            <a:avLst/>
          </a:prstGeom>
          <a:solidFill>
            <a:srgbClr val="0F1626"/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0" y="3200400"/>
            <a:ext cx="609600" cy="609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906000" y="4297680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09630" latinLnBrk="0"/>
            <a:r>
              <a:rPr lang="en-US" sz="1600" b="1" dirty="0">
                <a:solidFill>
                  <a:srgbClr val="F1F5F9"/>
                </a:solidFill>
                <a:latin typeface="프리젠테이션 8 ExtraBold" pitchFamily="2" charset="-127"/>
                <a:ea typeface="프리젠테이션 8 ExtraBold" pitchFamily="2" charset="-127"/>
                <a:cs typeface="Manrope" pitchFamily="34" charset="-120"/>
              </a:rPr>
              <a:t>의사결정</a:t>
            </a:r>
            <a:endParaRPr lang="en-US" sz="1600" dirty="0">
              <a:solidFill>
                <a:prstClr val="black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32" name="Text 24"/>
          <p:cNvSpPr txBox="1"/>
          <p:nvPr/>
        </p:nvSpPr>
        <p:spPr>
          <a:xfrm>
            <a:off x="9906000" y="4632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09630" latinLnBrk="0"/>
            <a:r>
              <a:rPr lang="en-US" sz="800" b="1" kern="0" spc="133" dirty="0">
                <a:solidFill>
                  <a:srgbClr val="F59E0B"/>
                </a:solidFill>
                <a:latin typeface="프리젠테이션 7 Bold" pitchFamily="2" charset="-127"/>
                <a:ea typeface="프리젠테이션 7 Bold" pitchFamily="2" charset="-127"/>
                <a:cs typeface="JetBrains Mono" pitchFamily="34" charset="-120"/>
              </a:rPr>
              <a:t>PM - DECIDE</a:t>
            </a:r>
            <a:endParaRPr lang="en-US" sz="8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685800" y="1554480"/>
            <a:ext cx="609600" cy="609600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A3753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1706880"/>
            <a:ext cx="304800" cy="304800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1447800" y="1554480"/>
            <a:ext cx="609600" cy="609600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A3753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0200" y="1706880"/>
            <a:ext cx="304800" cy="30480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1371600" y="2225040"/>
            <a:ext cx="0" cy="609600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4465320" y="1554480"/>
            <a:ext cx="609600" cy="609600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A3753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7720" y="1706880"/>
            <a:ext cx="304800" cy="30480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5227320" y="1554480"/>
            <a:ext cx="609600" cy="609600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A3753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79720" y="1706880"/>
            <a:ext cx="304800" cy="304800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5151120" y="2225040"/>
            <a:ext cx="0" cy="609600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3" name="Shape 31"/>
          <p:cNvSpPr/>
          <p:nvPr/>
        </p:nvSpPr>
        <p:spPr>
          <a:xfrm>
            <a:off x="7863840" y="1554480"/>
            <a:ext cx="609600" cy="609600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A3753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6240" y="1706880"/>
            <a:ext cx="304800" cy="304800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8625840" y="1554480"/>
            <a:ext cx="609600" cy="609600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A3753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78240" y="1706880"/>
            <a:ext cx="304800" cy="304800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9387840" y="1554480"/>
            <a:ext cx="609600" cy="609600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A3753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0240" y="1706880"/>
            <a:ext cx="304800" cy="304800"/>
          </a:xfrm>
          <a:prstGeom prst="rect">
            <a:avLst/>
          </a:prstGeom>
        </p:spPr>
      </p:pic>
      <p:sp>
        <p:nvSpPr>
          <p:cNvPr id="49" name="Shape 34"/>
          <p:cNvSpPr/>
          <p:nvPr/>
        </p:nvSpPr>
        <p:spPr>
          <a:xfrm>
            <a:off x="8930640" y="2225040"/>
            <a:ext cx="0" cy="609600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50" name="Text 35"/>
          <p:cNvSpPr txBox="1"/>
          <p:nvPr/>
        </p:nvSpPr>
        <p:spPr>
          <a:xfrm>
            <a:off x="6461760" y="1691640"/>
            <a:ext cx="1158240" cy="335280"/>
          </a:xfrm>
          <a:prstGeom prst="rect">
            <a:avLst/>
          </a:prstGeom>
          <a:solidFill>
            <a:srgbClr val="0B1120"/>
          </a:solidFill>
          <a:ln w="15875">
            <a:solidFill>
              <a:srgbClr val="2A3753"/>
            </a:solidFill>
          </a:ln>
        </p:spPr>
        <p:txBody>
          <a:bodyPr wrap="square" lIns="0" tIns="0" rIns="0" bIns="0" rtlCol="0" anchor="ctr"/>
          <a:lstStyle/>
          <a:p>
            <a:pPr algn="ctr" defTabSz="609630" latinLnBrk="0"/>
            <a:r>
              <a:rPr lang="en-US" sz="1067" b="1" dirty="0">
                <a:solidFill>
                  <a:srgbClr val="818C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run.bat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36"/>
          <p:cNvSpPr/>
          <p:nvPr/>
        </p:nvSpPr>
        <p:spPr>
          <a:xfrm>
            <a:off x="7040880" y="2087880"/>
            <a:ext cx="0" cy="746760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52" name="Shape 37"/>
          <p:cNvSpPr/>
          <p:nvPr/>
        </p:nvSpPr>
        <p:spPr>
          <a:xfrm>
            <a:off x="8930640" y="4968240"/>
            <a:ext cx="0" cy="51816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53" name="Shape 38"/>
          <p:cNvSpPr/>
          <p:nvPr/>
        </p:nvSpPr>
        <p:spPr>
          <a:xfrm>
            <a:off x="3261360" y="5486400"/>
            <a:ext cx="566928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54" name="Shape 39"/>
          <p:cNvSpPr/>
          <p:nvPr/>
        </p:nvSpPr>
        <p:spPr>
          <a:xfrm flipV="1">
            <a:off x="3261360" y="4968240"/>
            <a:ext cx="0" cy="51816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55" name="Text 40"/>
          <p:cNvSpPr txBox="1"/>
          <p:nvPr/>
        </p:nvSpPr>
        <p:spPr>
          <a:xfrm>
            <a:off x="4998720" y="5303520"/>
            <a:ext cx="2194560" cy="365760"/>
          </a:xfrm>
          <a:prstGeom prst="rect">
            <a:avLst/>
          </a:prstGeom>
          <a:solidFill>
            <a:srgbClr val="070B14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algn="ctr" defTabSz="609630" latinLnBrk="0"/>
            <a:r>
              <a:rPr lang="en-US" sz="1200" b="1" dirty="0" err="1">
                <a:solidFill>
                  <a:srgbClr val="10B981"/>
                </a:solidFill>
                <a:latin typeface="프리젠테이션 8 ExtraBold" pitchFamily="2" charset="-127"/>
                <a:ea typeface="프리젠테이션 8 ExtraBold" pitchFamily="2" charset="-127"/>
                <a:cs typeface="Manrope" pitchFamily="34" charset="-120"/>
              </a:rPr>
              <a:t>검증</a:t>
            </a:r>
            <a:r>
              <a:rPr lang="en-US" sz="1200" b="1" dirty="0">
                <a:solidFill>
                  <a:srgbClr val="10B981"/>
                </a:solidFill>
                <a:latin typeface="프리젠테이션 8 ExtraBold" pitchFamily="2" charset="-127"/>
                <a:ea typeface="프리젠테이션 8 ExtraBold" pitchFamily="2" charset="-127"/>
                <a:cs typeface="Manrope" pitchFamily="34" charset="-120"/>
              </a:rPr>
              <a:t>  </a:t>
            </a:r>
            <a:r>
              <a:rPr lang="ko-KR" altLang="en-US" sz="1200" b="1" dirty="0">
                <a:solidFill>
                  <a:srgbClr val="10B981"/>
                </a:solidFill>
                <a:latin typeface="프리젠테이션 8 ExtraBold" pitchFamily="2" charset="-127"/>
                <a:ea typeface="프리젠테이션 8 ExtraBold" pitchFamily="2" charset="-127"/>
                <a:cs typeface="Manrope" pitchFamily="34" charset="-120"/>
              </a:rPr>
              <a:t>및 </a:t>
            </a:r>
            <a:r>
              <a:rPr lang="en-US" sz="1200" b="1" dirty="0" err="1">
                <a:solidFill>
                  <a:srgbClr val="10B981"/>
                </a:solidFill>
                <a:latin typeface="프리젠테이션 8 ExtraBold" pitchFamily="2" charset="-127"/>
                <a:ea typeface="프리젠테이션 8 ExtraBold" pitchFamily="2" charset="-127"/>
                <a:cs typeface="Manrope" pitchFamily="34" charset="-120"/>
              </a:rPr>
              <a:t>개선</a:t>
            </a:r>
            <a:r>
              <a:rPr lang="en-US" sz="1200" b="1" dirty="0">
                <a:solidFill>
                  <a:srgbClr val="10B981"/>
                </a:solidFill>
                <a:latin typeface="프리젠테이션 8 ExtraBold" pitchFamily="2" charset="-127"/>
                <a:ea typeface="프리젠테이션 8 ExtraBold" pitchFamily="2" charset="-127"/>
                <a:cs typeface="Manrope" pitchFamily="34" charset="-120"/>
              </a:rPr>
              <a:t> 루프</a:t>
            </a:r>
            <a:endParaRPr lang="en-US" sz="1200" dirty="0">
              <a:solidFill>
                <a:prstClr val="black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69408" y="5388864"/>
            <a:ext cx="195072" cy="195072"/>
          </a:xfrm>
          <a:prstGeom prst="rect">
            <a:avLst/>
          </a:prstGeom>
        </p:spPr>
      </p:pic>
      <p:sp>
        <p:nvSpPr>
          <p:cNvPr id="58" name="Text 2">
            <a:extLst>
              <a:ext uri="{FF2B5EF4-FFF2-40B4-BE49-F238E27FC236}">
                <a16:creationId xmlns:a16="http://schemas.microsoft.com/office/drawing/2014/main" id="{A1287F73-0A86-D622-927A-B239FBF65863}"/>
              </a:ext>
            </a:extLst>
          </p:cNvPr>
          <p:cNvSpPr txBox="1"/>
          <p:nvPr/>
        </p:nvSpPr>
        <p:spPr>
          <a:xfrm>
            <a:off x="487680" y="579120"/>
            <a:ext cx="3535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ko-KR" altLang="en-US" sz="2600" dirty="0">
                <a:solidFill>
                  <a:srgbClr val="F1F5F9"/>
                </a:solidFill>
                <a:latin typeface="프리젠테이션 8 ExtraBold" pitchFamily="2" charset="-127"/>
                <a:ea typeface="프리젠테이션 8 ExtraBold" pitchFamily="2" charset="-127"/>
                <a:cs typeface="Manrope" pitchFamily="34" charset="-120"/>
              </a:rPr>
              <a:t>업무 자동화 구조 도식화</a:t>
            </a:r>
            <a:endParaRPr lang="en-US" sz="2600" dirty="0">
              <a:solidFill>
                <a:prstClr val="black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87680" y="579120"/>
            <a:ext cx="3601241" cy="37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2600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PM &amp; AI </a:t>
            </a:r>
            <a:r>
              <a:rPr lang="en-US" sz="2600" dirty="0" err="1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역할</a:t>
            </a:r>
            <a:r>
              <a:rPr lang="en-US" sz="2600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sz="2600" dirty="0" err="1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분담</a:t>
            </a:r>
            <a:endParaRPr lang="en-US" sz="26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87680" y="1127759"/>
            <a:ext cx="4205090" cy="392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1200" dirty="0">
                <a:solidFill>
                  <a:srgbClr val="CBD5E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PM</a:t>
            </a:r>
            <a:r>
              <a:rPr lang="ko-KR" altLang="en-US" sz="1200" dirty="0">
                <a:solidFill>
                  <a:srgbClr val="CBD5E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을 대체하는 것이 아닌 </a:t>
            </a:r>
            <a:r>
              <a:rPr lang="en-US" altLang="ko-KR" sz="1200" dirty="0">
                <a:solidFill>
                  <a:srgbClr val="CBD5E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PM</a:t>
            </a:r>
            <a:r>
              <a:rPr lang="ko-KR" altLang="en-US" sz="1200" dirty="0">
                <a:solidFill>
                  <a:srgbClr val="CBD5E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판단과 의사결정을 위한</a:t>
            </a:r>
            <a:r>
              <a:rPr lang="en-US" altLang="ko-KR" sz="1200" dirty="0">
                <a:solidFill>
                  <a:srgbClr val="CBD5E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</a:p>
          <a:p>
            <a:pPr defTabSz="609630" latinLnBrk="0"/>
            <a:r>
              <a:rPr lang="ko-KR" altLang="en-US" sz="1200" dirty="0">
                <a:solidFill>
                  <a:srgbClr val="CBD5E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도움을 주는 업무 도구로 활용하였습니다</a:t>
            </a:r>
            <a:r>
              <a:rPr lang="en-US" altLang="ko-KR" sz="1200" dirty="0">
                <a:solidFill>
                  <a:srgbClr val="CBD5E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  <p:sp>
        <p:nvSpPr>
          <p:cNvPr id="6" name="Shape 4"/>
          <p:cNvSpPr/>
          <p:nvPr/>
        </p:nvSpPr>
        <p:spPr>
          <a:xfrm>
            <a:off x="6988571" y="2528528"/>
            <a:ext cx="302008" cy="164566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 flipH="1">
            <a:off x="7608234" y="3692600"/>
            <a:ext cx="352612" cy="813922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 flipH="1">
            <a:off x="5750950" y="5019657"/>
            <a:ext cx="690100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 flipH="1" flipV="1">
            <a:off x="4231153" y="3692600"/>
            <a:ext cx="352612" cy="813922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 flipV="1">
            <a:off x="4901421" y="2528528"/>
            <a:ext cx="302008" cy="164566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212080" y="1584960"/>
            <a:ext cx="1767840" cy="914400"/>
          </a:xfrm>
          <a:prstGeom prst="rect">
            <a:avLst/>
          </a:prstGeom>
          <a:solidFill>
            <a:srgbClr val="0F1626"/>
          </a:solidFill>
          <a:ln w="19050">
            <a:solidFill>
              <a:srgbClr val="38BDF8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1000" b="1" kern="0" spc="133" dirty="0">
                <a:solidFill>
                  <a:srgbClr val="38BDF8"/>
                </a:solidFill>
                <a:latin typeface="프리젠테이션 7 Bold" pitchFamily="2" charset="-127"/>
                <a:ea typeface="프리젠테이션 7 Bold" pitchFamily="2" charset="-127"/>
                <a:cs typeface="JetBrains Mono" pitchFamily="34" charset="-120"/>
              </a:rPr>
              <a:t>01. PM</a:t>
            </a:r>
            <a:endParaRPr lang="en-US" sz="10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1000" b="1" dirty="0">
                <a:solidFill>
                  <a:srgbClr val="F1F5F9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문제 정의</a:t>
            </a:r>
            <a:endParaRPr lang="en-US" sz="10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1000" dirty="0" err="1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반복</a:t>
            </a:r>
            <a:r>
              <a:rPr lang="en-US" sz="1000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 </a:t>
            </a:r>
            <a:r>
              <a:rPr lang="en-US" sz="1000" dirty="0" err="1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처리</a:t>
            </a:r>
            <a:r>
              <a:rPr lang="en-US" sz="1000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 </a:t>
            </a:r>
            <a:r>
              <a:rPr lang="en-US" sz="1000" dirty="0" err="1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업무</a:t>
            </a:r>
            <a:r>
              <a:rPr lang="en-US" sz="1000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 </a:t>
            </a:r>
            <a:r>
              <a:rPr lang="ko-KR" altLang="en-US" sz="1000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및</a:t>
            </a:r>
            <a:r>
              <a:rPr lang="en-US" sz="1000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 규칙 정의</a:t>
            </a:r>
            <a:endParaRPr lang="en-US" sz="10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299231" y="2722263"/>
            <a:ext cx="1767840" cy="914400"/>
          </a:xfrm>
          <a:prstGeom prst="rect">
            <a:avLst/>
          </a:prstGeom>
          <a:solidFill>
            <a:srgbClr val="0F1626"/>
          </a:solidFill>
          <a:ln w="19050">
            <a:solidFill>
              <a:srgbClr val="818CF8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1000" b="1" kern="0" spc="133" dirty="0">
                <a:solidFill>
                  <a:srgbClr val="818CF8"/>
                </a:solidFill>
                <a:latin typeface="프리젠테이션 7 Bold" pitchFamily="2" charset="-127"/>
                <a:ea typeface="프리젠테이션 7 Bold" pitchFamily="2" charset="-127"/>
                <a:cs typeface="JetBrains Mono" pitchFamily="34" charset="-120"/>
              </a:rPr>
              <a:t>02. AI</a:t>
            </a:r>
            <a:endParaRPr lang="en-US" sz="10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1000" b="1" dirty="0">
                <a:solidFill>
                  <a:srgbClr val="F1F5F9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AI 구현 (V1)</a:t>
            </a:r>
            <a:endParaRPr lang="en-US" sz="10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1000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ChatGPT  &amp; Claude Code</a:t>
            </a:r>
            <a:r>
              <a:rPr lang="ko-KR" altLang="en-US" sz="1000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를</a:t>
            </a:r>
            <a:endParaRPr lang="en-US" altLang="ko-KR" sz="1000" dirty="0">
              <a:solidFill>
                <a:srgbClr val="94A3B8"/>
              </a:solidFill>
              <a:latin typeface="프리젠테이션 7 Bold" pitchFamily="2" charset="-127"/>
              <a:ea typeface="프리젠테이션 7 Bold" pitchFamily="2" charset="-127"/>
              <a:cs typeface="Manrope" pitchFamily="34" charset="-120"/>
            </a:endParaRPr>
          </a:p>
          <a:p>
            <a:pPr defTabSz="609630" latinLnBrk="0"/>
            <a:r>
              <a:rPr lang="ko-KR" altLang="en-US" sz="1000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활용하여 </a:t>
            </a:r>
            <a:r>
              <a:rPr lang="en-US" sz="1000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 V1 구현</a:t>
            </a:r>
            <a:endParaRPr lang="en-US" sz="10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02010" y="4562457"/>
            <a:ext cx="1767840" cy="914400"/>
          </a:xfrm>
          <a:prstGeom prst="rect">
            <a:avLst/>
          </a:prstGeom>
          <a:solidFill>
            <a:srgbClr val="0F1626"/>
          </a:solidFill>
          <a:ln w="19050">
            <a:solidFill>
              <a:srgbClr val="38BDF8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1000" b="1" kern="0" spc="133" dirty="0">
                <a:solidFill>
                  <a:srgbClr val="38BDF8"/>
                </a:solidFill>
                <a:latin typeface="프리젠테이션 7 Bold" pitchFamily="2" charset="-127"/>
                <a:ea typeface="프리젠테이션 7 Bold" pitchFamily="2" charset="-127"/>
                <a:cs typeface="JetBrains Mono" pitchFamily="34" charset="-120"/>
              </a:rPr>
              <a:t>03. PM</a:t>
            </a:r>
            <a:endParaRPr lang="en-US" sz="10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1000" b="1" dirty="0">
                <a:solidFill>
                  <a:srgbClr val="F1F5F9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실제 검증</a:t>
            </a:r>
            <a:endParaRPr lang="en-US" sz="10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1000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V1을 실제 업무 데이터에 적용</a:t>
            </a:r>
            <a:endParaRPr lang="en-US" sz="10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922150" y="4562457"/>
            <a:ext cx="1767840" cy="914400"/>
          </a:xfrm>
          <a:prstGeom prst="rect">
            <a:avLst/>
          </a:prstGeom>
          <a:solidFill>
            <a:srgbClr val="0F1626"/>
          </a:solidFill>
          <a:ln w="19050">
            <a:solidFill>
              <a:srgbClr val="F59E0B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1000" b="1" kern="0" spc="133" dirty="0">
                <a:solidFill>
                  <a:srgbClr val="F59E0B"/>
                </a:solidFill>
                <a:latin typeface="프리젠테이션 7 Bold" pitchFamily="2" charset="-127"/>
                <a:ea typeface="프리젠테이션 7 Bold" pitchFamily="2" charset="-127"/>
                <a:cs typeface="JetBrains Mono" pitchFamily="34" charset="-120"/>
              </a:rPr>
              <a:t>04. PM</a:t>
            </a:r>
            <a:endParaRPr lang="en-US" sz="10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1000" b="1" dirty="0">
                <a:solidFill>
                  <a:srgbClr val="F1F5F9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Edge Case 발견</a:t>
            </a:r>
            <a:endParaRPr lang="en-US" sz="10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1000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동일 TextKey가 여러 번 존재</a:t>
            </a:r>
            <a:endParaRPr lang="en-US" sz="10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124929" y="2722263"/>
            <a:ext cx="1767840" cy="914400"/>
          </a:xfrm>
          <a:prstGeom prst="rect">
            <a:avLst/>
          </a:prstGeom>
          <a:solidFill>
            <a:srgbClr val="0F1626"/>
          </a:solidFill>
          <a:ln w="19050">
            <a:solidFill>
              <a:srgbClr val="10B981"/>
            </a:solidFill>
          </a:ln>
        </p:spPr>
        <p:txBody>
          <a:bodyPr wrap="square" lIns="101600" tIns="101600" rIns="101600" bIns="101600" rtlCol="0" anchor="ctr"/>
          <a:lstStyle/>
          <a:p>
            <a:pPr defTabSz="609630" latinLnBrk="0"/>
            <a:r>
              <a:rPr lang="en-US" sz="1000" b="1" kern="0" spc="133" dirty="0">
                <a:solidFill>
                  <a:srgbClr val="10B981"/>
                </a:solidFill>
                <a:latin typeface="프리젠테이션 7 Bold" pitchFamily="2" charset="-127"/>
                <a:ea typeface="프리젠테이션 7 Bold" pitchFamily="2" charset="-127"/>
                <a:cs typeface="JetBrains Mono" pitchFamily="34" charset="-120"/>
              </a:rPr>
              <a:t>05. PM → AI</a:t>
            </a:r>
            <a:endParaRPr lang="en-US" sz="10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1000" b="1" dirty="0">
                <a:solidFill>
                  <a:srgbClr val="F1F5F9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요구사항 개선 (V2)</a:t>
            </a:r>
            <a:endParaRPr lang="en-US" sz="10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pPr defTabSz="609630" latinLnBrk="0"/>
            <a:r>
              <a:rPr lang="en-US" sz="1000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모든 일치 </a:t>
            </a:r>
            <a:r>
              <a:rPr lang="en-US" sz="1000" dirty="0" err="1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데이터</a:t>
            </a:r>
            <a:r>
              <a:rPr lang="en-US" sz="1000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 </a:t>
            </a:r>
            <a:r>
              <a:rPr lang="en-US" sz="1000" dirty="0" err="1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처리</a:t>
            </a:r>
            <a:endParaRPr lang="en-US" sz="1000" dirty="0">
              <a:solidFill>
                <a:srgbClr val="94A3B8"/>
              </a:solidFill>
              <a:latin typeface="프리젠테이션 7 Bold" pitchFamily="2" charset="-127"/>
              <a:ea typeface="프리젠테이션 7 Bold" pitchFamily="2" charset="-127"/>
              <a:cs typeface="Manrope" pitchFamily="34" charset="-120"/>
            </a:endParaRPr>
          </a:p>
          <a:p>
            <a:pPr defTabSz="609630" latinLnBrk="0"/>
            <a:r>
              <a:rPr lang="en-US" sz="1000" dirty="0" err="1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로직</a:t>
            </a:r>
            <a:r>
              <a:rPr lang="en-US" sz="1000" dirty="0">
                <a:solidFill>
                  <a:srgbClr val="94A3B8"/>
                </a:solidFill>
                <a:latin typeface="프리젠테이션 7 Bold" pitchFamily="2" charset="-127"/>
                <a:ea typeface="프리젠테이션 7 Bold" pitchFamily="2" charset="-127"/>
                <a:cs typeface="Manrope" pitchFamily="34" charset="-120"/>
              </a:rPr>
              <a:t> 개선</a:t>
            </a:r>
            <a:endParaRPr lang="en-US" sz="10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922150" y="2133600"/>
            <a:ext cx="1137530" cy="141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defTabSz="609630" latinLnBrk="0"/>
            <a:r>
              <a:rPr lang="en-US" sz="800" kern="0" spc="67" dirty="0">
                <a:solidFill>
                  <a:srgbClr val="10B981"/>
                </a:solidFill>
                <a:latin typeface="프리젠테이션 7 Bold" pitchFamily="2" charset="-127"/>
                <a:ea typeface="프리젠테이션 7 Bold" pitchFamily="2" charset="-127"/>
                <a:cs typeface="JetBrains Mono" pitchFamily="34" charset="-120"/>
              </a:rPr>
              <a:t>규칙 재정의 → 다시 01</a:t>
            </a:r>
            <a:endParaRPr lang="en-US" sz="8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998720" y="2895600"/>
            <a:ext cx="2194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630" latinLnBrk="0"/>
            <a:r>
              <a:rPr lang="en-US" sz="800" b="1" kern="0" spc="200" dirty="0">
                <a:solidFill>
                  <a:srgbClr val="38BDF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VIBE CODING</a:t>
            </a:r>
            <a:endParaRPr lang="en-US" sz="8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algn="ctr" defTabSz="609630" latinLnBrk="0"/>
            <a:r>
              <a:rPr lang="en-US" sz="400" dirty="0">
                <a:solidFill>
                  <a:srgbClr val="CBD5E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09630" latinLnBrk="0"/>
            <a:r>
              <a:rPr lang="en-US" sz="1200" dirty="0">
                <a:solidFill>
                  <a:srgbClr val="CBD5E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핵심은 코드가 아니라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09630" latinLnBrk="0"/>
            <a:r>
              <a:rPr lang="en-US" sz="1733" b="1" dirty="0">
                <a:solidFill>
                  <a:srgbClr val="F1F5F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문제 해결 과정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680" y="1676400"/>
            <a:ext cx="2407920" cy="3779520"/>
          </a:xfrm>
          <a:prstGeom prst="rect">
            <a:avLst/>
          </a:prstGeom>
          <a:solidFill>
            <a:srgbClr val="0B1120"/>
          </a:solidFill>
          <a:ln w="12700">
            <a:solidFill>
              <a:srgbClr val="2A3753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70560" y="1877568"/>
            <a:ext cx="97536" cy="9753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41248" y="1834896"/>
            <a:ext cx="185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1000" b="1" kern="0" spc="133" dirty="0">
                <a:solidFill>
                  <a:srgbClr val="38BDF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[PM] DEFINE &amp; DECIDE</a:t>
            </a:r>
            <a:endParaRPr lang="en-US" sz="1000" dirty="0">
              <a:solidFill>
                <a:prstClr val="black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70560" y="2103120"/>
            <a:ext cx="2042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1733" b="1" dirty="0">
                <a:solidFill>
                  <a:srgbClr val="F1F5F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PM의 역할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70560" y="2560320"/>
            <a:ext cx="20421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1100" b="1" dirty="0" err="1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문제</a:t>
            </a:r>
            <a:r>
              <a:rPr lang="ko-KR" altLang="en-US" sz="11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와 </a:t>
            </a:r>
            <a:r>
              <a:rPr lang="en-US" sz="1100" b="1" dirty="0" err="1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업무</a:t>
            </a:r>
            <a:r>
              <a:rPr lang="ko-KR" altLang="en-US" sz="11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의</a:t>
            </a:r>
            <a:r>
              <a:rPr lang="en-US" sz="11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규칙 정의</a:t>
            </a:r>
            <a:endParaRPr lang="en-US" sz="11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반복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Excel 처리 업무의 기준 설정</a:t>
            </a:r>
            <a:endParaRPr lang="en-US" sz="11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70560" y="3157728"/>
            <a:ext cx="20421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11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결과 검증</a:t>
            </a:r>
            <a:endParaRPr lang="en-US" sz="11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실제 업무 데이터에 적용해 확인</a:t>
            </a:r>
            <a:endParaRPr lang="en-US" sz="11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70560" y="3755136"/>
            <a:ext cx="20421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11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Edge Case 판단</a:t>
            </a:r>
            <a:endParaRPr lang="en-US" sz="11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발견된 데이터 구조로 규칙 재정의</a:t>
            </a:r>
            <a:endParaRPr lang="en-US" sz="11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70560" y="4352544"/>
            <a:ext cx="20421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11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프로세스 </a:t>
            </a:r>
            <a:r>
              <a:rPr lang="en-US" sz="1100" b="1" dirty="0" err="1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설계</a:t>
            </a:r>
            <a:r>
              <a:rPr lang="en-US" sz="11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11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및 </a:t>
            </a:r>
            <a:r>
              <a:rPr lang="en-US" sz="1100" b="1" dirty="0" err="1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의사결정</a:t>
            </a:r>
            <a:endParaRPr lang="en-US" sz="11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리스크 관리와 프로젝트 관리 집중</a:t>
            </a:r>
            <a:endParaRPr lang="en-US" sz="11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70560" y="493776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630" latinLnBrk="0"/>
            <a:r>
              <a:rPr lang="en-US" sz="1000" b="1" dirty="0">
                <a:solidFill>
                  <a:srgbClr val="38BDF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PM = </a:t>
            </a:r>
            <a:r>
              <a:rPr lang="ko-KR" altLang="en-US" sz="1000" b="1" dirty="0">
                <a:solidFill>
                  <a:srgbClr val="38BDF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판단과 정의</a:t>
            </a:r>
            <a:endParaRPr lang="en-US" sz="10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296400" y="1676400"/>
            <a:ext cx="2407920" cy="3779520"/>
          </a:xfrm>
          <a:prstGeom prst="rect">
            <a:avLst/>
          </a:prstGeom>
          <a:solidFill>
            <a:srgbClr val="0B1120"/>
          </a:solidFill>
          <a:ln w="12700">
            <a:solidFill>
              <a:srgbClr val="2A3753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479280" y="1877568"/>
            <a:ext cx="97536" cy="9753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9649968" y="1834896"/>
            <a:ext cx="185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1000" b="1" kern="0" spc="133" dirty="0">
                <a:solidFill>
                  <a:srgbClr val="818CF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[AI] IMPLEMENT</a:t>
            </a:r>
            <a:endParaRPr lang="en-US" sz="1000" dirty="0">
              <a:solidFill>
                <a:prstClr val="black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9479280" y="2103120"/>
            <a:ext cx="2042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1733" b="1" dirty="0">
                <a:solidFill>
                  <a:srgbClr val="F1F5F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AI의 역할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9479280" y="2560320"/>
            <a:ext cx="20421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11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ChatGPT</a:t>
            </a:r>
            <a:endParaRPr lang="en-US" sz="11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업무 로직 정리 및 구현 방향 구체화</a:t>
            </a:r>
            <a:endParaRPr lang="en-US" sz="11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9479280" y="3157728"/>
            <a:ext cx="20421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11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Claude Code</a:t>
            </a:r>
            <a:endParaRPr lang="en-US" sz="11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자동화 로직 구현 및 수정</a:t>
            </a:r>
            <a:endParaRPr lang="en-US" sz="11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9479280" y="3755136"/>
            <a:ext cx="20421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11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Vibe Coding</a:t>
            </a:r>
            <a:endParaRPr lang="en-US" sz="11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빠른 프로토타입 제작 및 반복 개선</a:t>
            </a:r>
            <a:endParaRPr lang="en-US" sz="11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9479280" y="493776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630" latinLnBrk="0"/>
            <a:r>
              <a:rPr lang="en-US" sz="1000" b="1" dirty="0">
                <a:solidFill>
                  <a:srgbClr val="818CF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AI = </a:t>
            </a:r>
            <a:r>
              <a:rPr lang="ko-KR" altLang="en-US" sz="1000" b="1" dirty="0">
                <a:solidFill>
                  <a:srgbClr val="818CF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실행과 구현</a:t>
            </a:r>
            <a:endParaRPr lang="en-US" sz="10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9479280" y="4322064"/>
            <a:ext cx="204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 latinLnBrk="0"/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PM을 대체하는 </a:t>
            </a:r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것이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아</a:t>
            </a:r>
            <a:r>
              <a:rPr lang="ko-KR" alt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닌</a:t>
            </a:r>
            <a:endParaRPr lang="en-US" altLang="ko-KR" sz="900" dirty="0">
              <a:solidFill>
                <a:srgbClr val="94A3B8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반복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업무와 데이터 </a:t>
            </a:r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처리를</a:t>
            </a:r>
            <a:r>
              <a:rPr lang="en-US" sz="900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sz="900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자동화</a:t>
            </a:r>
            <a:endParaRPr lang="en-US" sz="9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487680" y="5730240"/>
            <a:ext cx="4267200" cy="640080"/>
          </a:xfrm>
          <a:prstGeom prst="rect">
            <a:avLst/>
          </a:prstGeom>
          <a:solidFill>
            <a:srgbClr val="0F1626"/>
          </a:solidFill>
          <a:ln w="12700">
            <a:solidFill>
              <a:srgbClr val="2A3753"/>
            </a:solidFill>
          </a:ln>
        </p:spPr>
        <p:txBody>
          <a:bodyPr wrap="square" lIns="135467" tIns="135467" rIns="135467" bIns="135467" rtlCol="0" anchor="ctr"/>
          <a:lstStyle/>
          <a:p>
            <a:pPr defTabSz="609630" latinLnBrk="0"/>
            <a:r>
              <a:rPr lang="en-US" sz="1000" b="1" kern="0" spc="133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V1 - </a:t>
            </a:r>
            <a:r>
              <a:rPr lang="en-US" sz="1000" b="1" kern="0" spc="133" dirty="0" err="1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최초</a:t>
            </a:r>
            <a:r>
              <a:rPr lang="en-US" sz="1000" b="1" kern="0" spc="133" dirty="0">
                <a:solidFill>
                  <a:srgbClr val="94A3B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구현</a:t>
            </a:r>
            <a:endParaRPr lang="en-US" sz="10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10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첫 </a:t>
            </a:r>
            <a:r>
              <a:rPr lang="en-US" sz="1000" dirty="0" err="1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번째</a:t>
            </a:r>
            <a:r>
              <a:rPr lang="en-US" sz="10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sz="1000" dirty="0" err="1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일치</a:t>
            </a:r>
            <a:r>
              <a:rPr lang="en-US" sz="10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sz="1000" dirty="0" err="1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값만</a:t>
            </a:r>
            <a:r>
              <a:rPr lang="en-US" sz="10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sz="1000" dirty="0" err="1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복사</a:t>
            </a:r>
            <a:endParaRPr lang="en-US" sz="1000" dirty="0">
              <a:solidFill>
                <a:srgbClr val="CBD5E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1000" dirty="0" err="1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TextKey</a:t>
            </a:r>
            <a:r>
              <a:rPr lang="en-US" sz="1000" dirty="0">
                <a:solidFill>
                  <a:srgbClr val="CBD5E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1개 = Value 1개 전제</a:t>
            </a:r>
            <a:endParaRPr lang="en-US" sz="10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7437120" y="5730240"/>
            <a:ext cx="4267200" cy="640080"/>
          </a:xfrm>
          <a:prstGeom prst="rect">
            <a:avLst/>
          </a:prstGeom>
          <a:solidFill>
            <a:srgbClr val="0F1626"/>
          </a:solidFill>
          <a:ln w="19050">
            <a:solidFill>
              <a:srgbClr val="10B981"/>
            </a:solidFill>
          </a:ln>
        </p:spPr>
        <p:txBody>
          <a:bodyPr wrap="square" lIns="135467" tIns="135467" rIns="135467" bIns="135467" rtlCol="0" anchor="ctr"/>
          <a:lstStyle/>
          <a:p>
            <a:pPr defTabSz="609630" latinLnBrk="0"/>
            <a:r>
              <a:rPr lang="en-US" sz="1000" b="1" kern="0" spc="133" dirty="0">
                <a:solidFill>
                  <a:srgbClr val="10B98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V2 - 로직 개선</a:t>
            </a:r>
            <a:endParaRPr lang="en-US" sz="10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10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모든 일치 </a:t>
            </a:r>
            <a:r>
              <a:rPr lang="en-US" sz="1000" b="1" dirty="0" err="1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데이터</a:t>
            </a:r>
            <a:r>
              <a:rPr lang="en-US" sz="10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sz="1000" b="1" dirty="0" err="1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처리</a:t>
            </a:r>
            <a:endParaRPr lang="en-US" sz="1000" b="1" dirty="0">
              <a:solidFill>
                <a:srgbClr val="F1F5F9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defTabSz="609630" latinLnBrk="0"/>
            <a:r>
              <a:rPr lang="en-US" sz="1000" b="1" dirty="0" err="1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TextKey</a:t>
            </a:r>
            <a:r>
              <a:rPr lang="en-US" sz="1000" b="1" dirty="0">
                <a:solidFill>
                  <a:srgbClr val="F1F5F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중복 가능</a:t>
            </a:r>
            <a:endParaRPr lang="en-US" sz="10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4937760" y="5791200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09630" latinLnBrk="0"/>
            <a:r>
              <a:rPr lang="en-US" sz="1000" kern="0" spc="67" dirty="0">
                <a:solidFill>
                  <a:srgbClr val="F59E0B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검증 → Edge Case 발견</a:t>
            </a:r>
            <a:endParaRPr lang="en-US" sz="1000" dirty="0">
              <a:solidFill>
                <a:prstClr val="black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937760" y="6111240"/>
            <a:ext cx="2316480" cy="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자유형: 도형 889">
            <a:extLst>
              <a:ext uri="{FF2B5EF4-FFF2-40B4-BE49-F238E27FC236}">
                <a16:creationId xmlns:a16="http://schemas.microsoft.com/office/drawing/2014/main" id="{FAE37944-57C9-EF79-B4C2-A07BCAFCF551}"/>
              </a:ext>
            </a:extLst>
          </p:cNvPr>
          <p:cNvSpPr/>
          <p:nvPr/>
        </p:nvSpPr>
        <p:spPr>
          <a:xfrm>
            <a:off x="9417387" y="1324303"/>
            <a:ext cx="1439799" cy="987973"/>
          </a:xfrm>
          <a:custGeom>
            <a:avLst/>
            <a:gdLst>
              <a:gd name="connsiteX0" fmla="*/ 1008875 w 1439799"/>
              <a:gd name="connsiteY0" fmla="*/ 987973 h 987973"/>
              <a:gd name="connsiteX1" fmla="*/ 840710 w 1439799"/>
              <a:gd name="connsiteY1" fmla="*/ 630621 h 987973"/>
              <a:gd name="connsiteX2" fmla="*/ 20903 w 1439799"/>
              <a:gd name="connsiteY2" fmla="*/ 430925 h 987973"/>
              <a:gd name="connsiteX3" fmla="*/ 346723 w 1439799"/>
              <a:gd name="connsiteY3" fmla="*/ 94594 h 987973"/>
              <a:gd name="connsiteX4" fmla="*/ 1439799 w 1439799"/>
              <a:gd name="connsiteY4" fmla="*/ 0 h 9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799" h="987973">
                <a:moveTo>
                  <a:pt x="1008875" y="987973"/>
                </a:moveTo>
                <a:cubicBezTo>
                  <a:pt x="1007123" y="855717"/>
                  <a:pt x="1005372" y="723462"/>
                  <a:pt x="840710" y="630621"/>
                </a:cubicBezTo>
                <a:cubicBezTo>
                  <a:pt x="676048" y="537780"/>
                  <a:pt x="103234" y="520263"/>
                  <a:pt x="20903" y="430925"/>
                </a:cubicBezTo>
                <a:cubicBezTo>
                  <a:pt x="-61428" y="341587"/>
                  <a:pt x="110240" y="166415"/>
                  <a:pt x="346723" y="94594"/>
                </a:cubicBezTo>
                <a:cubicBezTo>
                  <a:pt x="583206" y="22773"/>
                  <a:pt x="1011502" y="11386"/>
                  <a:pt x="1439799" y="0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68" name="자유형: 도형 867">
            <a:extLst>
              <a:ext uri="{FF2B5EF4-FFF2-40B4-BE49-F238E27FC236}">
                <a16:creationId xmlns:a16="http://schemas.microsoft.com/office/drawing/2014/main" id="{FEDB7B03-2524-321A-BFEF-F52FD14EFED0}"/>
              </a:ext>
            </a:extLst>
          </p:cNvPr>
          <p:cNvSpPr/>
          <p:nvPr/>
        </p:nvSpPr>
        <p:spPr>
          <a:xfrm>
            <a:off x="999705" y="4923692"/>
            <a:ext cx="567838" cy="934497"/>
          </a:xfrm>
          <a:custGeom>
            <a:avLst/>
            <a:gdLst>
              <a:gd name="connsiteX0" fmla="*/ 567838 w 567838"/>
              <a:gd name="connsiteY0" fmla="*/ 0 h 934497"/>
              <a:gd name="connsiteX1" fmla="*/ 5130 w 567838"/>
              <a:gd name="connsiteY1" fmla="*/ 492370 h 934497"/>
              <a:gd name="connsiteX2" fmla="*/ 336726 w 567838"/>
              <a:gd name="connsiteY2" fmla="*/ 934497 h 934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7838" h="934497">
                <a:moveTo>
                  <a:pt x="567838" y="0"/>
                </a:moveTo>
                <a:cubicBezTo>
                  <a:pt x="305743" y="168310"/>
                  <a:pt x="43649" y="336621"/>
                  <a:pt x="5130" y="492370"/>
                </a:cubicBezTo>
                <a:cubicBezTo>
                  <a:pt x="-33389" y="648120"/>
                  <a:pt x="151668" y="791308"/>
                  <a:pt x="336726" y="934497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89" name="자유형: 도형 888">
            <a:extLst>
              <a:ext uri="{FF2B5EF4-FFF2-40B4-BE49-F238E27FC236}">
                <a16:creationId xmlns:a16="http://schemas.microsoft.com/office/drawing/2014/main" id="{737804B4-4E05-CD70-C440-76710938A892}"/>
              </a:ext>
            </a:extLst>
          </p:cNvPr>
          <p:cNvSpPr/>
          <p:nvPr/>
        </p:nvSpPr>
        <p:spPr>
          <a:xfrm>
            <a:off x="4275610" y="3132083"/>
            <a:ext cx="433024" cy="367862"/>
          </a:xfrm>
          <a:custGeom>
            <a:avLst/>
            <a:gdLst>
              <a:gd name="connsiteX0" fmla="*/ 2100 w 433024"/>
              <a:gd name="connsiteY0" fmla="*/ 367862 h 367862"/>
              <a:gd name="connsiteX1" fmla="*/ 65162 w 433024"/>
              <a:gd name="connsiteY1" fmla="*/ 73572 h 367862"/>
              <a:gd name="connsiteX2" fmla="*/ 433024 w 433024"/>
              <a:gd name="connsiteY2" fmla="*/ 0 h 367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3024" h="367862">
                <a:moveTo>
                  <a:pt x="2100" y="367862"/>
                </a:moveTo>
                <a:cubicBezTo>
                  <a:pt x="-2280" y="251372"/>
                  <a:pt x="-6659" y="134882"/>
                  <a:pt x="65162" y="73572"/>
                </a:cubicBezTo>
                <a:cubicBezTo>
                  <a:pt x="136983" y="12262"/>
                  <a:pt x="285003" y="6131"/>
                  <a:pt x="433024" y="0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62" name="자유형: 도형 861">
            <a:extLst>
              <a:ext uri="{FF2B5EF4-FFF2-40B4-BE49-F238E27FC236}">
                <a16:creationId xmlns:a16="http://schemas.microsoft.com/office/drawing/2014/main" id="{E988BED3-5B15-0606-06D3-B7C0CD4D401E}"/>
              </a:ext>
            </a:extLst>
          </p:cNvPr>
          <p:cNvSpPr/>
          <p:nvPr/>
        </p:nvSpPr>
        <p:spPr>
          <a:xfrm>
            <a:off x="7355963" y="3556000"/>
            <a:ext cx="1120380" cy="1770743"/>
          </a:xfrm>
          <a:custGeom>
            <a:avLst/>
            <a:gdLst>
              <a:gd name="connsiteX0" fmla="*/ 452723 w 1120380"/>
              <a:gd name="connsiteY0" fmla="*/ 0 h 1770743"/>
              <a:gd name="connsiteX1" fmla="*/ 2780 w 1120380"/>
              <a:gd name="connsiteY1" fmla="*/ 696686 h 1770743"/>
              <a:gd name="connsiteX2" fmla="*/ 641408 w 1120380"/>
              <a:gd name="connsiteY2" fmla="*/ 972457 h 1770743"/>
              <a:gd name="connsiteX3" fmla="*/ 641408 w 1120380"/>
              <a:gd name="connsiteY3" fmla="*/ 1611086 h 1770743"/>
              <a:gd name="connsiteX4" fmla="*/ 1120380 w 1120380"/>
              <a:gd name="connsiteY4" fmla="*/ 1770743 h 177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380" h="1770743">
                <a:moveTo>
                  <a:pt x="452723" y="0"/>
                </a:moveTo>
                <a:cubicBezTo>
                  <a:pt x="212028" y="267305"/>
                  <a:pt x="-28667" y="534610"/>
                  <a:pt x="2780" y="696686"/>
                </a:cubicBezTo>
                <a:cubicBezTo>
                  <a:pt x="34227" y="858762"/>
                  <a:pt x="534970" y="820057"/>
                  <a:pt x="641408" y="972457"/>
                </a:cubicBezTo>
                <a:cubicBezTo>
                  <a:pt x="747846" y="1124857"/>
                  <a:pt x="561579" y="1478038"/>
                  <a:pt x="641408" y="1611086"/>
                </a:cubicBezTo>
                <a:cubicBezTo>
                  <a:pt x="721237" y="1744134"/>
                  <a:pt x="920808" y="1757438"/>
                  <a:pt x="1120380" y="1770743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BE6A1C86-20C0-70A5-8E20-B89EF44DF346}"/>
              </a:ext>
            </a:extLst>
          </p:cNvPr>
          <p:cNvSpPr/>
          <p:nvPr/>
        </p:nvSpPr>
        <p:spPr>
          <a:xfrm>
            <a:off x="-199292" y="2331176"/>
            <a:ext cx="12716411" cy="2677918"/>
          </a:xfrm>
          <a:custGeom>
            <a:avLst/>
            <a:gdLst>
              <a:gd name="connsiteX0" fmla="*/ 0 w 12344400"/>
              <a:gd name="connsiteY0" fmla="*/ 2637693 h 2687925"/>
              <a:gd name="connsiteX1" fmla="*/ 2461846 w 12344400"/>
              <a:gd name="connsiteY1" fmla="*/ 1723293 h 2687925"/>
              <a:gd name="connsiteX2" fmla="*/ 4759569 w 12344400"/>
              <a:gd name="connsiteY2" fmla="*/ 2661139 h 2687925"/>
              <a:gd name="connsiteX3" fmla="*/ 7408984 w 12344400"/>
              <a:gd name="connsiteY3" fmla="*/ 433754 h 2687925"/>
              <a:gd name="connsiteX4" fmla="*/ 9988061 w 12344400"/>
              <a:gd name="connsiteY4" fmla="*/ 1277816 h 2687925"/>
              <a:gd name="connsiteX5" fmla="*/ 12344400 w 12344400"/>
              <a:gd name="connsiteY5" fmla="*/ 0 h 2687925"/>
              <a:gd name="connsiteX6" fmla="*/ 12344400 w 12344400"/>
              <a:gd name="connsiteY6" fmla="*/ 0 h 2687925"/>
              <a:gd name="connsiteX7" fmla="*/ 12344400 w 12344400"/>
              <a:gd name="connsiteY7" fmla="*/ 0 h 2687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344400" h="2687925">
                <a:moveTo>
                  <a:pt x="0" y="2637693"/>
                </a:moveTo>
                <a:cubicBezTo>
                  <a:pt x="834292" y="2178539"/>
                  <a:pt x="1668585" y="1719385"/>
                  <a:pt x="2461846" y="1723293"/>
                </a:cubicBezTo>
                <a:cubicBezTo>
                  <a:pt x="3255107" y="1727201"/>
                  <a:pt x="3935046" y="2876062"/>
                  <a:pt x="4759569" y="2661139"/>
                </a:cubicBezTo>
                <a:cubicBezTo>
                  <a:pt x="5584092" y="2446216"/>
                  <a:pt x="6537569" y="664308"/>
                  <a:pt x="7408984" y="433754"/>
                </a:cubicBezTo>
                <a:cubicBezTo>
                  <a:pt x="8280399" y="203200"/>
                  <a:pt x="9165492" y="1350108"/>
                  <a:pt x="9988061" y="1277816"/>
                </a:cubicBezTo>
                <a:cubicBezTo>
                  <a:pt x="10810630" y="1205524"/>
                  <a:pt x="12344400" y="0"/>
                  <a:pt x="12344400" y="0"/>
                </a:cubicBezTo>
                <a:lnTo>
                  <a:pt x="12344400" y="0"/>
                </a:lnTo>
                <a:lnTo>
                  <a:pt x="12344400" y="0"/>
                </a:lnTo>
              </a:path>
            </a:pathLst>
          </a:custGeom>
          <a:noFill/>
          <a:ln w="6350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C6C62AF-2BB1-1BF2-7BE5-11267208C48F}"/>
              </a:ext>
            </a:extLst>
          </p:cNvPr>
          <p:cNvGrpSpPr/>
          <p:nvPr/>
        </p:nvGrpSpPr>
        <p:grpSpPr>
          <a:xfrm>
            <a:off x="1260441" y="2906303"/>
            <a:ext cx="1996068" cy="1996068"/>
            <a:chOff x="-2141033" y="757143"/>
            <a:chExt cx="1996068" cy="1996068"/>
          </a:xfrm>
          <a:effectLst>
            <a:outerShdw blurRad="101600" dist="38100" dir="2700000" sx="101000" sy="101000" algn="tl" rotWithShape="0">
              <a:schemeClr val="accent2">
                <a:alpha val="20000"/>
              </a:schemeClr>
            </a:outerShdw>
          </a:effectLst>
        </p:grpSpPr>
        <p:sp>
          <p:nvSpPr>
            <p:cNvPr id="4" name="사각형: 잘린 한쪽 모서리 3">
              <a:extLst>
                <a:ext uri="{FF2B5EF4-FFF2-40B4-BE49-F238E27FC236}">
                  <a16:creationId xmlns:a16="http://schemas.microsoft.com/office/drawing/2014/main" id="{DA8ECA79-79AA-FE22-C5D6-FDDD5E38C605}"/>
                </a:ext>
              </a:extLst>
            </p:cNvPr>
            <p:cNvSpPr/>
            <p:nvPr/>
          </p:nvSpPr>
          <p:spPr>
            <a:xfrm flipV="1">
              <a:off x="-2141033" y="757143"/>
              <a:ext cx="1996068" cy="1996068"/>
            </a:xfrm>
            <a:prstGeom prst="snip1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578B3F88-537C-3339-DE04-75679168DDC8}"/>
                </a:ext>
              </a:extLst>
            </p:cNvPr>
            <p:cNvSpPr/>
            <p:nvPr/>
          </p:nvSpPr>
          <p:spPr>
            <a:xfrm rot="18888233">
              <a:off x="-632804" y="2382442"/>
              <a:ext cx="468155" cy="244495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BE3192D-181B-CCFA-8965-CDB4CDDC4DA6}"/>
              </a:ext>
            </a:extLst>
          </p:cNvPr>
          <p:cNvSpPr txBox="1"/>
          <p:nvPr/>
        </p:nvSpPr>
        <p:spPr>
          <a:xfrm>
            <a:off x="1865959" y="3049065"/>
            <a:ext cx="7850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01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AD6659-A2E9-2295-1D26-66956783AB81}"/>
              </a:ext>
            </a:extLst>
          </p:cNvPr>
          <p:cNvSpPr txBox="1"/>
          <p:nvPr/>
        </p:nvSpPr>
        <p:spPr>
          <a:xfrm>
            <a:off x="1574660" y="3630455"/>
            <a:ext cx="1367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 err="1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언디셈버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9E727A-A7E1-89C3-B356-A8619670E474}"/>
              </a:ext>
            </a:extLst>
          </p:cNvPr>
          <p:cNvSpPr txBox="1"/>
          <p:nvPr/>
        </p:nvSpPr>
        <p:spPr>
          <a:xfrm>
            <a:off x="1574660" y="3866850"/>
            <a:ext cx="13676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2025.10 ~ 2026.01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376401-30E3-4340-0BEF-98981E0FACC9}"/>
              </a:ext>
            </a:extLst>
          </p:cNvPr>
          <p:cNvSpPr txBox="1"/>
          <p:nvPr/>
        </p:nvSpPr>
        <p:spPr>
          <a:xfrm>
            <a:off x="1634819" y="4100286"/>
            <a:ext cx="1247313" cy="613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핵앤</a:t>
            </a:r>
            <a:r>
              <a:rPr lang="ko-KR" altLang="en-US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슬래시 </a:t>
            </a:r>
            <a:r>
              <a:rPr lang="en-US" altLang="ko-KR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ARPG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라이브 서비스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PM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72FBD90-3FE4-55D1-3465-65D305A5A2F5}"/>
              </a:ext>
            </a:extLst>
          </p:cNvPr>
          <p:cNvGrpSpPr/>
          <p:nvPr/>
        </p:nvGrpSpPr>
        <p:grpSpPr>
          <a:xfrm rot="298976">
            <a:off x="3824306" y="3524071"/>
            <a:ext cx="1996068" cy="1996068"/>
            <a:chOff x="-2141033" y="757143"/>
            <a:chExt cx="1996068" cy="1996068"/>
          </a:xfrm>
          <a:effectLst>
            <a:outerShdw blurRad="101600" dist="38100" dir="2700000" sx="101000" sy="101000" algn="tl" rotWithShape="0">
              <a:schemeClr val="accent2">
                <a:alpha val="20000"/>
              </a:schemeClr>
            </a:outerShdw>
          </a:effectLst>
        </p:grpSpPr>
        <p:sp>
          <p:nvSpPr>
            <p:cNvPr id="29" name="사각형: 잘린 한쪽 모서리 28">
              <a:extLst>
                <a:ext uri="{FF2B5EF4-FFF2-40B4-BE49-F238E27FC236}">
                  <a16:creationId xmlns:a16="http://schemas.microsoft.com/office/drawing/2014/main" id="{A740885C-7031-622F-516C-C8379192CE05}"/>
                </a:ext>
              </a:extLst>
            </p:cNvPr>
            <p:cNvSpPr/>
            <p:nvPr/>
          </p:nvSpPr>
          <p:spPr>
            <a:xfrm flipV="1">
              <a:off x="-2141033" y="757143"/>
              <a:ext cx="1996068" cy="1996068"/>
            </a:xfrm>
            <a:prstGeom prst="snip1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6C49183B-8222-7C6C-A78F-F90448D537D9}"/>
                </a:ext>
              </a:extLst>
            </p:cNvPr>
            <p:cNvSpPr/>
            <p:nvPr/>
          </p:nvSpPr>
          <p:spPr>
            <a:xfrm rot="18888233">
              <a:off x="-632804" y="2382442"/>
              <a:ext cx="468155" cy="244495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A76662E-0665-2FC8-9B89-A16A137F8C60}"/>
              </a:ext>
            </a:extLst>
          </p:cNvPr>
          <p:cNvSpPr txBox="1"/>
          <p:nvPr/>
        </p:nvSpPr>
        <p:spPr>
          <a:xfrm rot="298976">
            <a:off x="4473369" y="3668728"/>
            <a:ext cx="7850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02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EE8538-09EF-4F4E-C8B3-FAC71F593F64}"/>
              </a:ext>
            </a:extLst>
          </p:cNvPr>
          <p:cNvSpPr txBox="1"/>
          <p:nvPr/>
        </p:nvSpPr>
        <p:spPr>
          <a:xfrm rot="298976">
            <a:off x="4147611" y="4264007"/>
            <a:ext cx="1367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프로젝트 네온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06D6EA-FA86-47A5-7251-DEF776E058A4}"/>
              </a:ext>
            </a:extLst>
          </p:cNvPr>
          <p:cNvSpPr txBox="1"/>
          <p:nvPr/>
        </p:nvSpPr>
        <p:spPr>
          <a:xfrm rot="298976">
            <a:off x="4131088" y="4476600"/>
            <a:ext cx="13676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2024.02 ~ 2024.12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AA29B0-562B-565F-47EA-A71D34A0CA3E}"/>
              </a:ext>
            </a:extLst>
          </p:cNvPr>
          <p:cNvSpPr txBox="1"/>
          <p:nvPr/>
        </p:nvSpPr>
        <p:spPr>
          <a:xfrm rot="298976">
            <a:off x="4165196" y="4683430"/>
            <a:ext cx="1247313" cy="613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서브컬쳐</a:t>
            </a:r>
            <a:r>
              <a:rPr lang="ko-KR" altLang="en-US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ARPG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PM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5685580-8108-D158-D0D7-146321B3D6A4}"/>
              </a:ext>
            </a:extLst>
          </p:cNvPr>
          <p:cNvGrpSpPr/>
          <p:nvPr/>
        </p:nvGrpSpPr>
        <p:grpSpPr>
          <a:xfrm rot="21272835">
            <a:off x="6388171" y="1670765"/>
            <a:ext cx="1996068" cy="1996068"/>
            <a:chOff x="-2141033" y="757143"/>
            <a:chExt cx="1996068" cy="1996068"/>
          </a:xfrm>
          <a:effectLst>
            <a:outerShdw blurRad="101600" dist="38100" dir="2700000" sx="101000" sy="101000" algn="tl" rotWithShape="0">
              <a:schemeClr val="accent2">
                <a:alpha val="20000"/>
              </a:schemeClr>
            </a:outerShdw>
          </a:effectLst>
        </p:grpSpPr>
        <p:sp>
          <p:nvSpPr>
            <p:cNvPr id="37" name="사각형: 잘린 한쪽 모서리 36">
              <a:extLst>
                <a:ext uri="{FF2B5EF4-FFF2-40B4-BE49-F238E27FC236}">
                  <a16:creationId xmlns:a16="http://schemas.microsoft.com/office/drawing/2014/main" id="{317BDFFE-D0B1-B344-F1A3-6A6A46F0BC37}"/>
                </a:ext>
              </a:extLst>
            </p:cNvPr>
            <p:cNvSpPr/>
            <p:nvPr/>
          </p:nvSpPr>
          <p:spPr>
            <a:xfrm flipV="1">
              <a:off x="-2141033" y="757143"/>
              <a:ext cx="1996068" cy="1996068"/>
            </a:xfrm>
            <a:prstGeom prst="snip1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38" name="이등변 삼각형 37">
              <a:extLst>
                <a:ext uri="{FF2B5EF4-FFF2-40B4-BE49-F238E27FC236}">
                  <a16:creationId xmlns:a16="http://schemas.microsoft.com/office/drawing/2014/main" id="{CD9DA534-D668-C068-78B3-775CD79CE759}"/>
                </a:ext>
              </a:extLst>
            </p:cNvPr>
            <p:cNvSpPr/>
            <p:nvPr/>
          </p:nvSpPr>
          <p:spPr>
            <a:xfrm rot="18888233">
              <a:off x="-632804" y="2382442"/>
              <a:ext cx="468155" cy="244495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8B20E75-4B2A-ED18-3129-C0C18B833BCB}"/>
              </a:ext>
            </a:extLst>
          </p:cNvPr>
          <p:cNvSpPr txBox="1"/>
          <p:nvPr/>
        </p:nvSpPr>
        <p:spPr>
          <a:xfrm rot="21272835">
            <a:off x="6900533" y="1812055"/>
            <a:ext cx="863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03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8D878E-C1D0-9308-7C4A-4A77E85364E3}"/>
              </a:ext>
            </a:extLst>
          </p:cNvPr>
          <p:cNvSpPr txBox="1"/>
          <p:nvPr/>
        </p:nvSpPr>
        <p:spPr>
          <a:xfrm rot="21272835">
            <a:off x="6692450" y="2410778"/>
            <a:ext cx="1367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레전드 오브 </a:t>
            </a:r>
            <a:r>
              <a:rPr lang="ko-KR" altLang="en-US" sz="1400" dirty="0" err="1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슬라임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3B8F6D-A1DB-82A0-CF95-71B2AB69CB08}"/>
              </a:ext>
            </a:extLst>
          </p:cNvPr>
          <p:cNvSpPr txBox="1"/>
          <p:nvPr/>
        </p:nvSpPr>
        <p:spPr>
          <a:xfrm rot="21272835">
            <a:off x="6710526" y="2623231"/>
            <a:ext cx="13676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2022.03 ~ 2023.05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8B7A3E-9617-BA77-1063-F40CB159BA91}"/>
              </a:ext>
            </a:extLst>
          </p:cNvPr>
          <p:cNvSpPr txBox="1"/>
          <p:nvPr/>
        </p:nvSpPr>
        <p:spPr>
          <a:xfrm rot="21272835">
            <a:off x="6800120" y="2819813"/>
            <a:ext cx="1247313" cy="613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방치형 </a:t>
            </a:r>
            <a:r>
              <a:rPr lang="en-US" altLang="ko-KR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RPG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라이브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PM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B12B415-407A-4E9F-0EE9-FC457088C833}"/>
              </a:ext>
            </a:extLst>
          </p:cNvPr>
          <p:cNvGrpSpPr/>
          <p:nvPr/>
        </p:nvGrpSpPr>
        <p:grpSpPr>
          <a:xfrm rot="291492">
            <a:off x="8952035" y="2288534"/>
            <a:ext cx="1996068" cy="1996068"/>
            <a:chOff x="-2141033" y="757143"/>
            <a:chExt cx="1996068" cy="1996068"/>
          </a:xfrm>
          <a:effectLst>
            <a:outerShdw blurRad="101600" dist="38100" dir="2700000" sx="101000" sy="101000" algn="tl" rotWithShape="0">
              <a:schemeClr val="accent2">
                <a:alpha val="20000"/>
              </a:schemeClr>
            </a:outerShdw>
          </a:effectLst>
        </p:grpSpPr>
        <p:sp>
          <p:nvSpPr>
            <p:cNvPr id="45" name="사각형: 잘린 한쪽 모서리 44">
              <a:extLst>
                <a:ext uri="{FF2B5EF4-FFF2-40B4-BE49-F238E27FC236}">
                  <a16:creationId xmlns:a16="http://schemas.microsoft.com/office/drawing/2014/main" id="{4D1577E0-1FE2-17A1-7E1C-49B0DB649F10}"/>
                </a:ext>
              </a:extLst>
            </p:cNvPr>
            <p:cNvSpPr/>
            <p:nvPr/>
          </p:nvSpPr>
          <p:spPr>
            <a:xfrm flipV="1">
              <a:off x="-2141033" y="757143"/>
              <a:ext cx="1996068" cy="1996068"/>
            </a:xfrm>
            <a:prstGeom prst="snip1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46" name="이등변 삼각형 45">
              <a:extLst>
                <a:ext uri="{FF2B5EF4-FFF2-40B4-BE49-F238E27FC236}">
                  <a16:creationId xmlns:a16="http://schemas.microsoft.com/office/drawing/2014/main" id="{C0AD059C-19EC-4CE2-4B78-E9523AE1CA36}"/>
                </a:ext>
              </a:extLst>
            </p:cNvPr>
            <p:cNvSpPr/>
            <p:nvPr/>
          </p:nvSpPr>
          <p:spPr>
            <a:xfrm rot="18888233">
              <a:off x="-632804" y="2382442"/>
              <a:ext cx="468155" cy="244495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68F2CBE6-3EE8-6A8A-0AE4-8387831FA289}"/>
              </a:ext>
            </a:extLst>
          </p:cNvPr>
          <p:cNvSpPr txBox="1"/>
          <p:nvPr/>
        </p:nvSpPr>
        <p:spPr>
          <a:xfrm rot="291492">
            <a:off x="9476487" y="2443609"/>
            <a:ext cx="10332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04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1ADAE4-F279-50FC-C18E-70990AEAE96E}"/>
              </a:ext>
            </a:extLst>
          </p:cNvPr>
          <p:cNvSpPr txBox="1"/>
          <p:nvPr/>
        </p:nvSpPr>
        <p:spPr>
          <a:xfrm rot="291492">
            <a:off x="9275113" y="3028451"/>
            <a:ext cx="1367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 err="1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가디스</a:t>
            </a:r>
            <a:r>
              <a:rPr lang="ko-KR" altLang="en-US" sz="14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 오더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2815BF-7A44-5C68-7980-BB88651A951D}"/>
              </a:ext>
            </a:extLst>
          </p:cNvPr>
          <p:cNvSpPr txBox="1"/>
          <p:nvPr/>
        </p:nvSpPr>
        <p:spPr>
          <a:xfrm rot="291492">
            <a:off x="9266254" y="3241076"/>
            <a:ext cx="13676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2021.04 ~ 2024.01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511904-624A-D1D7-62B0-DE245245C53D}"/>
              </a:ext>
            </a:extLst>
          </p:cNvPr>
          <p:cNvSpPr txBox="1"/>
          <p:nvPr/>
        </p:nvSpPr>
        <p:spPr>
          <a:xfrm rot="291492">
            <a:off x="9284070" y="3447987"/>
            <a:ext cx="1247313" cy="613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횡스크롤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ARPG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</a:t>
            </a:r>
            <a:r>
              <a:rPr lang="en-US" altLang="ko-KR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PM, </a:t>
            </a:r>
            <a:r>
              <a:rPr lang="ko-KR" altLang="en-US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</a:t>
            </a:r>
            <a:r>
              <a:rPr lang="en-US" altLang="ko-KR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QA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AD65CF1-E7BE-2671-56F3-7471F7106285}"/>
              </a:ext>
            </a:extLst>
          </p:cNvPr>
          <p:cNvSpPr/>
          <p:nvPr/>
        </p:nvSpPr>
        <p:spPr>
          <a:xfrm>
            <a:off x="550985" y="486399"/>
            <a:ext cx="104978" cy="6051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437E7F6-A4E3-2B83-9745-EFD58F1E7ECB}"/>
              </a:ext>
            </a:extLst>
          </p:cNvPr>
          <p:cNvSpPr/>
          <p:nvPr/>
        </p:nvSpPr>
        <p:spPr>
          <a:xfrm>
            <a:off x="713476" y="486399"/>
            <a:ext cx="3014463" cy="6051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16CAB6-6330-98A4-FC49-7042B6EFF03A}"/>
              </a:ext>
            </a:extLst>
          </p:cNvPr>
          <p:cNvSpPr txBox="1"/>
          <p:nvPr/>
        </p:nvSpPr>
        <p:spPr>
          <a:xfrm>
            <a:off x="713476" y="435028"/>
            <a:ext cx="301446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CONTENTS</a:t>
            </a:r>
            <a:endParaRPr kumimoji="0" lang="ko-KR" altLang="en-US" sz="4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D7CC30-13E6-C513-A175-87A4C163794E}"/>
              </a:ext>
            </a:extLst>
          </p:cNvPr>
          <p:cNvSpPr txBox="1"/>
          <p:nvPr/>
        </p:nvSpPr>
        <p:spPr>
          <a:xfrm>
            <a:off x="471315" y="1102331"/>
            <a:ext cx="495776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프로젝트 매니저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‘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박재윤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’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의 경험 리스트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BA97AC-784E-F7B3-85F7-4DBE2305B957}"/>
              </a:ext>
            </a:extLst>
          </p:cNvPr>
          <p:cNvSpPr txBox="1"/>
          <p:nvPr/>
        </p:nvSpPr>
        <p:spPr>
          <a:xfrm>
            <a:off x="9328128" y="6376011"/>
            <a:ext cx="2344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262626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2026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포트폴리오</a:t>
            </a:r>
          </a:p>
        </p:txBody>
      </p:sp>
      <p:grpSp>
        <p:nvGrpSpPr>
          <p:cNvPr id="876" name="그룹 875">
            <a:extLst>
              <a:ext uri="{FF2B5EF4-FFF2-40B4-BE49-F238E27FC236}">
                <a16:creationId xmlns:a16="http://schemas.microsoft.com/office/drawing/2014/main" id="{E4AA8E96-4956-F349-0ACB-A33C373826E9}"/>
              </a:ext>
            </a:extLst>
          </p:cNvPr>
          <p:cNvGrpSpPr/>
          <p:nvPr/>
        </p:nvGrpSpPr>
        <p:grpSpPr>
          <a:xfrm>
            <a:off x="8441285" y="5195938"/>
            <a:ext cx="1274965" cy="261610"/>
            <a:chOff x="7516467" y="5650475"/>
            <a:chExt cx="1274965" cy="261610"/>
          </a:xfrm>
          <a:solidFill>
            <a:srgbClr val="00B0F0"/>
          </a:solidFill>
        </p:grpSpPr>
        <p:sp>
          <p:nvSpPr>
            <p:cNvPr id="872" name="화살표: 오각형 871">
              <a:extLst>
                <a:ext uri="{FF2B5EF4-FFF2-40B4-BE49-F238E27FC236}">
                  <a16:creationId xmlns:a16="http://schemas.microsoft.com/office/drawing/2014/main" id="{7AC368F7-39B8-110D-8D4A-441CC240CFCE}"/>
                </a:ext>
              </a:extLst>
            </p:cNvPr>
            <p:cNvSpPr/>
            <p:nvPr/>
          </p:nvSpPr>
          <p:spPr>
            <a:xfrm flipH="1">
              <a:off x="7516467" y="5653956"/>
              <a:ext cx="1274965" cy="254649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873" name="TextBox 872">
              <a:extLst>
                <a:ext uri="{FF2B5EF4-FFF2-40B4-BE49-F238E27FC236}">
                  <a16:creationId xmlns:a16="http://schemas.microsoft.com/office/drawing/2014/main" id="{1A21F1A7-DB1D-38FD-2158-9A507E27081B}"/>
                </a:ext>
              </a:extLst>
            </p:cNvPr>
            <p:cNvSpPr txBox="1"/>
            <p:nvPr/>
          </p:nvSpPr>
          <p:spPr>
            <a:xfrm>
              <a:off x="7623783" y="5650475"/>
              <a:ext cx="1167649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프리젠테이션 3 Light" pitchFamily="2" charset="-127"/>
                  <a:ea typeface="프리젠테이션 3 Light" pitchFamily="2" charset="-127"/>
                  <a:cs typeface="Pretendard Light" panose="02000403000000020004" pitchFamily="2" charset="-127"/>
                </a:rPr>
                <a:t>#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프리젠테이션 3 Light" pitchFamily="2" charset="-127"/>
                  <a:ea typeface="프리젠테이션 3 Light" pitchFamily="2" charset="-127"/>
                  <a:cs typeface="Pretendard Light" panose="02000403000000020004" pitchFamily="2" charset="-127"/>
                </a:rPr>
                <a:t>론칭</a:t>
              </a:r>
            </a:p>
          </p:txBody>
        </p:sp>
        <p:sp>
          <p:nvSpPr>
            <p:cNvPr id="874" name="타원 873">
              <a:extLst>
                <a:ext uri="{FF2B5EF4-FFF2-40B4-BE49-F238E27FC236}">
                  <a16:creationId xmlns:a16="http://schemas.microsoft.com/office/drawing/2014/main" id="{B13A4E37-AB2E-3323-486A-584332889746}"/>
                </a:ext>
              </a:extLst>
            </p:cNvPr>
            <p:cNvSpPr/>
            <p:nvPr/>
          </p:nvSpPr>
          <p:spPr>
            <a:xfrm flipH="1">
              <a:off x="7600922" y="5758421"/>
              <a:ext cx="45719" cy="45719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grpSp>
        <p:nvGrpSpPr>
          <p:cNvPr id="877" name="그룹 876">
            <a:extLst>
              <a:ext uri="{FF2B5EF4-FFF2-40B4-BE49-F238E27FC236}">
                <a16:creationId xmlns:a16="http://schemas.microsoft.com/office/drawing/2014/main" id="{8D057E9E-FC6B-A54D-4877-B3AB3E904125}"/>
              </a:ext>
            </a:extLst>
          </p:cNvPr>
          <p:cNvGrpSpPr/>
          <p:nvPr/>
        </p:nvGrpSpPr>
        <p:grpSpPr>
          <a:xfrm rot="771186">
            <a:off x="1273565" y="5829895"/>
            <a:ext cx="1274965" cy="261610"/>
            <a:chOff x="7516467" y="5650475"/>
            <a:chExt cx="1274965" cy="261610"/>
          </a:xfrm>
          <a:solidFill>
            <a:srgbClr val="00B0F0"/>
          </a:solidFill>
        </p:grpSpPr>
        <p:sp>
          <p:nvSpPr>
            <p:cNvPr id="878" name="화살표: 오각형 877">
              <a:extLst>
                <a:ext uri="{FF2B5EF4-FFF2-40B4-BE49-F238E27FC236}">
                  <a16:creationId xmlns:a16="http://schemas.microsoft.com/office/drawing/2014/main" id="{EBB1A570-7021-D7A1-AD76-DE65FF99EDB2}"/>
                </a:ext>
              </a:extLst>
            </p:cNvPr>
            <p:cNvSpPr/>
            <p:nvPr/>
          </p:nvSpPr>
          <p:spPr>
            <a:xfrm flipH="1">
              <a:off x="7516467" y="5653956"/>
              <a:ext cx="1274965" cy="254649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879" name="TextBox 878">
              <a:extLst>
                <a:ext uri="{FF2B5EF4-FFF2-40B4-BE49-F238E27FC236}">
                  <a16:creationId xmlns:a16="http://schemas.microsoft.com/office/drawing/2014/main" id="{40878A1C-99ED-0087-A18C-CDE0941FE159}"/>
                </a:ext>
              </a:extLst>
            </p:cNvPr>
            <p:cNvSpPr txBox="1"/>
            <p:nvPr/>
          </p:nvSpPr>
          <p:spPr>
            <a:xfrm>
              <a:off x="7623783" y="5650475"/>
              <a:ext cx="1167649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프리젠테이션 3 Light" pitchFamily="2" charset="-127"/>
                  <a:ea typeface="프리젠테이션 3 Light" pitchFamily="2" charset="-127"/>
                  <a:cs typeface="Pretendard Light" panose="02000403000000020004" pitchFamily="2" charset="-127"/>
                </a:rPr>
                <a:t>#</a:t>
              </a:r>
              <a:r>
                <a:rPr lang="ko-KR" altLang="en-US" sz="1100" dirty="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  <a:cs typeface="Pretendard Light" panose="02000403000000020004" pitchFamily="2" charset="-127"/>
                </a:rPr>
                <a:t>라이브 서비스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880" name="타원 879">
              <a:extLst>
                <a:ext uri="{FF2B5EF4-FFF2-40B4-BE49-F238E27FC236}">
                  <a16:creationId xmlns:a16="http://schemas.microsoft.com/office/drawing/2014/main" id="{34D1DF5C-4042-E4F0-6639-E17D61337656}"/>
                </a:ext>
              </a:extLst>
            </p:cNvPr>
            <p:cNvSpPr/>
            <p:nvPr/>
          </p:nvSpPr>
          <p:spPr>
            <a:xfrm flipH="1">
              <a:off x="7600922" y="5758421"/>
              <a:ext cx="45719" cy="45719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grpSp>
        <p:nvGrpSpPr>
          <p:cNvPr id="885" name="그룹 884">
            <a:extLst>
              <a:ext uri="{FF2B5EF4-FFF2-40B4-BE49-F238E27FC236}">
                <a16:creationId xmlns:a16="http://schemas.microsoft.com/office/drawing/2014/main" id="{2370E08E-C5EC-18CB-56BC-7531AD81CFA7}"/>
              </a:ext>
            </a:extLst>
          </p:cNvPr>
          <p:cNvGrpSpPr/>
          <p:nvPr/>
        </p:nvGrpSpPr>
        <p:grpSpPr>
          <a:xfrm rot="21282080">
            <a:off x="10004371" y="1188958"/>
            <a:ext cx="1274965" cy="261610"/>
            <a:chOff x="7516467" y="5650475"/>
            <a:chExt cx="1274965" cy="261610"/>
          </a:xfrm>
          <a:solidFill>
            <a:srgbClr val="00B0F0"/>
          </a:solidFill>
        </p:grpSpPr>
        <p:sp>
          <p:nvSpPr>
            <p:cNvPr id="886" name="화살표: 오각형 885">
              <a:extLst>
                <a:ext uri="{FF2B5EF4-FFF2-40B4-BE49-F238E27FC236}">
                  <a16:creationId xmlns:a16="http://schemas.microsoft.com/office/drawing/2014/main" id="{FC4B5BC1-490B-79EC-B6BF-248A96F57ABF}"/>
                </a:ext>
              </a:extLst>
            </p:cNvPr>
            <p:cNvSpPr/>
            <p:nvPr/>
          </p:nvSpPr>
          <p:spPr>
            <a:xfrm flipH="1">
              <a:off x="7516467" y="5653956"/>
              <a:ext cx="1274965" cy="254649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887" name="TextBox 886">
              <a:extLst>
                <a:ext uri="{FF2B5EF4-FFF2-40B4-BE49-F238E27FC236}">
                  <a16:creationId xmlns:a16="http://schemas.microsoft.com/office/drawing/2014/main" id="{F5C3EBFD-7265-F3E0-170A-B2DC176D6C6D}"/>
                </a:ext>
              </a:extLst>
            </p:cNvPr>
            <p:cNvSpPr txBox="1"/>
            <p:nvPr/>
          </p:nvSpPr>
          <p:spPr>
            <a:xfrm>
              <a:off x="7623783" y="5650475"/>
              <a:ext cx="1167649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프리젠테이션 3 Light" pitchFamily="2" charset="-127"/>
                  <a:ea typeface="프리젠테이션 3 Light" pitchFamily="2" charset="-127"/>
                  <a:cs typeface="Pretendard Light" panose="02000403000000020004" pitchFamily="2" charset="-127"/>
                </a:rPr>
                <a:t>#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프리젠테이션 3 Light" pitchFamily="2" charset="-127"/>
                  <a:ea typeface="프리젠테이션 3 Light" pitchFamily="2" charset="-127"/>
                  <a:cs typeface="Pretendard Light" panose="02000403000000020004" pitchFamily="2" charset="-127"/>
                </a:rPr>
                <a:t>첫 프로젝트</a:t>
              </a:r>
            </a:p>
          </p:txBody>
        </p:sp>
        <p:sp>
          <p:nvSpPr>
            <p:cNvPr id="888" name="타원 887">
              <a:extLst>
                <a:ext uri="{FF2B5EF4-FFF2-40B4-BE49-F238E27FC236}">
                  <a16:creationId xmlns:a16="http://schemas.microsoft.com/office/drawing/2014/main" id="{A9CEC7FE-492D-9361-48A7-B21A22D69889}"/>
                </a:ext>
              </a:extLst>
            </p:cNvPr>
            <p:cNvSpPr/>
            <p:nvPr/>
          </p:nvSpPr>
          <p:spPr>
            <a:xfrm flipH="1">
              <a:off x="7600922" y="5758421"/>
              <a:ext cx="45719" cy="45719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grpSp>
        <p:nvGrpSpPr>
          <p:cNvPr id="881" name="그룹 880">
            <a:extLst>
              <a:ext uri="{FF2B5EF4-FFF2-40B4-BE49-F238E27FC236}">
                <a16:creationId xmlns:a16="http://schemas.microsoft.com/office/drawing/2014/main" id="{916B997F-CFEA-197A-1150-1FD8DC1CE3A4}"/>
              </a:ext>
            </a:extLst>
          </p:cNvPr>
          <p:cNvGrpSpPr/>
          <p:nvPr/>
        </p:nvGrpSpPr>
        <p:grpSpPr>
          <a:xfrm rot="21219760">
            <a:off x="4603534" y="2942209"/>
            <a:ext cx="1274965" cy="261610"/>
            <a:chOff x="7516467" y="5650475"/>
            <a:chExt cx="1274965" cy="261610"/>
          </a:xfrm>
          <a:solidFill>
            <a:srgbClr val="00B0F0"/>
          </a:solidFill>
        </p:grpSpPr>
        <p:sp>
          <p:nvSpPr>
            <p:cNvPr id="882" name="화살표: 오각형 881">
              <a:extLst>
                <a:ext uri="{FF2B5EF4-FFF2-40B4-BE49-F238E27FC236}">
                  <a16:creationId xmlns:a16="http://schemas.microsoft.com/office/drawing/2014/main" id="{82EF66B4-D87E-8C97-BD4C-8ADED8F24DC9}"/>
                </a:ext>
              </a:extLst>
            </p:cNvPr>
            <p:cNvSpPr/>
            <p:nvPr/>
          </p:nvSpPr>
          <p:spPr>
            <a:xfrm flipH="1">
              <a:off x="7516467" y="5653956"/>
              <a:ext cx="1274965" cy="254649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883" name="TextBox 882">
              <a:extLst>
                <a:ext uri="{FF2B5EF4-FFF2-40B4-BE49-F238E27FC236}">
                  <a16:creationId xmlns:a16="http://schemas.microsoft.com/office/drawing/2014/main" id="{7C945EE4-54F6-DE07-A3AF-11151CF1ABDB}"/>
                </a:ext>
              </a:extLst>
            </p:cNvPr>
            <p:cNvSpPr txBox="1"/>
            <p:nvPr/>
          </p:nvSpPr>
          <p:spPr>
            <a:xfrm>
              <a:off x="7623783" y="5650475"/>
              <a:ext cx="1167649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프리젠테이션 3 Light" pitchFamily="2" charset="-127"/>
                  <a:ea typeface="프리젠테이션 3 Light" pitchFamily="2" charset="-127"/>
                  <a:cs typeface="Pretendard Light" panose="02000403000000020004" pitchFamily="2" charset="-127"/>
                </a:rPr>
                <a:t>#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프리젠테이션 3 Light" pitchFamily="2" charset="-127"/>
                  <a:ea typeface="프리젠테이션 3 Light" pitchFamily="2" charset="-127"/>
                  <a:cs typeface="Pretendard Light" panose="02000403000000020004" pitchFamily="2" charset="-127"/>
                </a:rPr>
                <a:t>개발관리 </a:t>
              </a:r>
            </a:p>
          </p:txBody>
        </p:sp>
        <p:sp>
          <p:nvSpPr>
            <p:cNvPr id="884" name="타원 883">
              <a:extLst>
                <a:ext uri="{FF2B5EF4-FFF2-40B4-BE49-F238E27FC236}">
                  <a16:creationId xmlns:a16="http://schemas.microsoft.com/office/drawing/2014/main" id="{3107AC0C-840B-52DB-E892-847703667DA2}"/>
                </a:ext>
              </a:extLst>
            </p:cNvPr>
            <p:cNvSpPr/>
            <p:nvPr/>
          </p:nvSpPr>
          <p:spPr>
            <a:xfrm flipH="1">
              <a:off x="7600922" y="5758421"/>
              <a:ext cx="45719" cy="45719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0652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7696D9-F48F-F747-A384-92C1DBB50537}"/>
              </a:ext>
            </a:extLst>
          </p:cNvPr>
          <p:cNvSpPr txBox="1"/>
          <p:nvPr/>
        </p:nvSpPr>
        <p:spPr>
          <a:xfrm>
            <a:off x="839244" y="1365337"/>
            <a:ext cx="50763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600" err="1">
                <a:solidFill>
                  <a:srgbClr val="FFFFFF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언디셈버</a:t>
            </a:r>
            <a:r>
              <a:rPr kumimoji="0" lang="ko-KR" altLang="en-US" sz="4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 라이브 서비스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51BF5-7E2A-0E62-8CB2-2B64DE04DE7A}"/>
              </a:ext>
            </a:extLst>
          </p:cNvPr>
          <p:cNvSpPr txBox="1"/>
          <p:nvPr/>
        </p:nvSpPr>
        <p:spPr>
          <a:xfrm>
            <a:off x="9051418" y="4317000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프로젝트 관리</a:t>
            </a:r>
          </a:p>
        </p:txBody>
      </p:sp>
      <p:sp>
        <p:nvSpPr>
          <p:cNvPr id="6" name="이등변 삼각형 12">
            <a:extLst>
              <a:ext uri="{FF2B5EF4-FFF2-40B4-BE49-F238E27FC236}">
                <a16:creationId xmlns:a16="http://schemas.microsoft.com/office/drawing/2014/main" id="{AEE9E9BC-AA2C-1E1F-4BC1-88176E1D46B3}"/>
              </a:ext>
            </a:extLst>
          </p:cNvPr>
          <p:cNvSpPr/>
          <p:nvPr/>
        </p:nvSpPr>
        <p:spPr>
          <a:xfrm rot="5400000">
            <a:off x="8881063" y="4418503"/>
            <a:ext cx="180045" cy="15521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A7505F-D6D3-E3AD-6560-0DE84A4BC248}"/>
              </a:ext>
            </a:extLst>
          </p:cNvPr>
          <p:cNvSpPr txBox="1"/>
          <p:nvPr/>
        </p:nvSpPr>
        <p:spPr>
          <a:xfrm>
            <a:off x="9051418" y="4715109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대</a:t>
            </a:r>
            <a:r>
              <a:rPr kumimoji="0" lang="en-US" altLang="ko-KR" sz="1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/</a:t>
            </a:r>
            <a:r>
              <a:rPr kumimoji="0" lang="ko-KR" alt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내외 커뮤니케이션</a:t>
            </a:r>
          </a:p>
        </p:txBody>
      </p:sp>
      <p:sp>
        <p:nvSpPr>
          <p:cNvPr id="8" name="이등변 삼각형 15">
            <a:extLst>
              <a:ext uri="{FF2B5EF4-FFF2-40B4-BE49-F238E27FC236}">
                <a16:creationId xmlns:a16="http://schemas.microsoft.com/office/drawing/2014/main" id="{98027D6E-0AD4-7E8C-0ED1-929F2CB6DFA3}"/>
              </a:ext>
            </a:extLst>
          </p:cNvPr>
          <p:cNvSpPr/>
          <p:nvPr/>
        </p:nvSpPr>
        <p:spPr>
          <a:xfrm rot="5400000">
            <a:off x="8881063" y="4816612"/>
            <a:ext cx="180045" cy="15521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4D6D1-A56B-24F6-D559-5F9D0D11D92E}"/>
              </a:ext>
            </a:extLst>
          </p:cNvPr>
          <p:cNvSpPr txBox="1"/>
          <p:nvPr/>
        </p:nvSpPr>
        <p:spPr>
          <a:xfrm>
            <a:off x="9051418" y="5128724"/>
            <a:ext cx="2201300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노하우 자산화</a:t>
            </a:r>
          </a:p>
        </p:txBody>
      </p:sp>
      <p:sp>
        <p:nvSpPr>
          <p:cNvPr id="10" name="이등변 삼각형 19">
            <a:extLst>
              <a:ext uri="{FF2B5EF4-FFF2-40B4-BE49-F238E27FC236}">
                <a16:creationId xmlns:a16="http://schemas.microsoft.com/office/drawing/2014/main" id="{4AB01C28-E083-A1F8-D6E6-D7494CE50E93}"/>
              </a:ext>
            </a:extLst>
          </p:cNvPr>
          <p:cNvSpPr/>
          <p:nvPr/>
        </p:nvSpPr>
        <p:spPr>
          <a:xfrm rot="5400000">
            <a:off x="8881063" y="5230227"/>
            <a:ext cx="180045" cy="15521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2E0285-5748-ACA5-ED5E-56E66E69F7C2}"/>
              </a:ext>
            </a:extLst>
          </p:cNvPr>
          <p:cNvSpPr txBox="1"/>
          <p:nvPr/>
        </p:nvSpPr>
        <p:spPr>
          <a:xfrm>
            <a:off x="839244" y="729668"/>
            <a:ext cx="2079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CONTENT.1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9E1539-D6A4-3E3E-798E-EC823C2CF6B1}"/>
              </a:ext>
            </a:extLst>
          </p:cNvPr>
          <p:cNvSpPr txBox="1"/>
          <p:nvPr/>
        </p:nvSpPr>
        <p:spPr>
          <a:xfrm>
            <a:off x="8326648" y="732787"/>
            <a:ext cx="320666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9900" b="0" i="0" u="none" strike="noStrike" kern="1200" cap="none" spc="0" normalizeH="0" baseline="0" noProof="0" dirty="0">
                <a:ln w="19050">
                  <a:solidFill>
                    <a:srgbClr val="FFFFFF"/>
                  </a:solidFill>
                </a:ln>
                <a:noFill/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01</a:t>
            </a:r>
            <a:endParaRPr kumimoji="0" lang="ko-KR" altLang="en-US" sz="19900" b="0" i="0" u="none" strike="noStrike" kern="1200" cap="none" spc="0" normalizeH="0" baseline="0" noProof="0" dirty="0">
              <a:ln w="19050">
                <a:solidFill>
                  <a:srgbClr val="FFFFFF"/>
                </a:solidFill>
              </a:ln>
              <a:noFill/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59E48F-7938-141F-424A-DB5F8DF2EC18}"/>
              </a:ext>
            </a:extLst>
          </p:cNvPr>
          <p:cNvSpPr txBox="1"/>
          <p:nvPr/>
        </p:nvSpPr>
        <p:spPr>
          <a:xfrm>
            <a:off x="864296" y="2031876"/>
            <a:ext cx="300105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라이브 서비스 </a:t>
            </a: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PM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5357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5D459-97FE-4C98-9921-83D026015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CEAA77A-A6FC-9149-53AB-A55E5A69234A}"/>
              </a:ext>
            </a:extLst>
          </p:cNvPr>
          <p:cNvSpPr/>
          <p:nvPr/>
        </p:nvSpPr>
        <p:spPr>
          <a:xfrm>
            <a:off x="6770591" y="2379894"/>
            <a:ext cx="574780" cy="24349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75148EC-A651-5F9E-887F-EA8D0415E96D}"/>
              </a:ext>
            </a:extLst>
          </p:cNvPr>
          <p:cNvSpPr/>
          <p:nvPr/>
        </p:nvSpPr>
        <p:spPr>
          <a:xfrm>
            <a:off x="7426825" y="2379894"/>
            <a:ext cx="574780" cy="24349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3226D34-2313-F930-F647-7EEB41D95628}"/>
              </a:ext>
            </a:extLst>
          </p:cNvPr>
          <p:cNvSpPr/>
          <p:nvPr/>
        </p:nvSpPr>
        <p:spPr>
          <a:xfrm>
            <a:off x="8083059" y="2379894"/>
            <a:ext cx="574780" cy="24349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A62A091-25A2-C76A-01E5-F0DE3207A2E6}"/>
              </a:ext>
            </a:extLst>
          </p:cNvPr>
          <p:cNvSpPr/>
          <p:nvPr/>
        </p:nvSpPr>
        <p:spPr>
          <a:xfrm>
            <a:off x="8739293" y="2379894"/>
            <a:ext cx="574780" cy="24349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F6D2006-3082-E761-3325-6B08256BEF5B}"/>
              </a:ext>
            </a:extLst>
          </p:cNvPr>
          <p:cNvSpPr/>
          <p:nvPr/>
        </p:nvSpPr>
        <p:spPr>
          <a:xfrm>
            <a:off x="9416909" y="2367625"/>
            <a:ext cx="1440000" cy="24349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7BE06D-98A4-DC4D-25F2-6B97A89D0F1A}"/>
              </a:ext>
            </a:extLst>
          </p:cNvPr>
          <p:cNvSpPr txBox="1"/>
          <p:nvPr/>
        </p:nvSpPr>
        <p:spPr>
          <a:xfrm>
            <a:off x="8072368" y="2381806"/>
            <a:ext cx="5961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Notion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A2412F-8809-460B-0A2D-522BAD379411}"/>
              </a:ext>
            </a:extLst>
          </p:cNvPr>
          <p:cNvSpPr txBox="1"/>
          <p:nvPr/>
        </p:nvSpPr>
        <p:spPr>
          <a:xfrm>
            <a:off x="8728602" y="2381806"/>
            <a:ext cx="5961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P4V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91C5F5-210D-2F9C-7C5F-FF0232EA6F32}"/>
              </a:ext>
            </a:extLst>
          </p:cNvPr>
          <p:cNvSpPr txBox="1"/>
          <p:nvPr/>
        </p:nvSpPr>
        <p:spPr>
          <a:xfrm>
            <a:off x="6759900" y="2363144"/>
            <a:ext cx="59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JIRA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51B978-EBDD-8762-5EE6-CE903F74C71B}"/>
              </a:ext>
            </a:extLst>
          </p:cNvPr>
          <p:cNvSpPr txBox="1"/>
          <p:nvPr/>
        </p:nvSpPr>
        <p:spPr>
          <a:xfrm>
            <a:off x="7416134" y="2381806"/>
            <a:ext cx="5961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ASANA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D64143-513C-A921-07D5-35081DC0D06D}"/>
              </a:ext>
            </a:extLst>
          </p:cNvPr>
          <p:cNvSpPr txBox="1"/>
          <p:nvPr/>
        </p:nvSpPr>
        <p:spPr>
          <a:xfrm>
            <a:off x="9459806" y="2350874"/>
            <a:ext cx="1354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Unreal Engine 4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712993D6-6AE5-5D7B-A3DA-8B892432E25E}"/>
              </a:ext>
            </a:extLst>
          </p:cNvPr>
          <p:cNvSpPr/>
          <p:nvPr/>
        </p:nvSpPr>
        <p:spPr>
          <a:xfrm>
            <a:off x="-9525" y="-9524"/>
            <a:ext cx="4469102" cy="4834355"/>
          </a:xfrm>
          <a:custGeom>
            <a:avLst/>
            <a:gdLst>
              <a:gd name="connsiteX0" fmla="*/ 0 w 4469102"/>
              <a:gd name="connsiteY0" fmla="*/ 0 h 4834355"/>
              <a:gd name="connsiteX1" fmla="*/ 4469102 w 4469102"/>
              <a:gd name="connsiteY1" fmla="*/ 0 h 4834355"/>
              <a:gd name="connsiteX2" fmla="*/ 4469102 w 4469102"/>
              <a:gd name="connsiteY2" fmla="*/ 4574363 h 4834355"/>
              <a:gd name="connsiteX3" fmla="*/ 4209110 w 4469102"/>
              <a:gd name="connsiteY3" fmla="*/ 4834355 h 4834355"/>
              <a:gd name="connsiteX4" fmla="*/ 25909 w 4469102"/>
              <a:gd name="connsiteY4" fmla="*/ 4834355 h 4834355"/>
              <a:gd name="connsiteX5" fmla="*/ 0 w 4469102"/>
              <a:gd name="connsiteY5" fmla="*/ 4831743 h 4834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9102" h="4834355">
                <a:moveTo>
                  <a:pt x="0" y="0"/>
                </a:moveTo>
                <a:lnTo>
                  <a:pt x="4469102" y="0"/>
                </a:lnTo>
                <a:lnTo>
                  <a:pt x="4469102" y="4574363"/>
                </a:lnTo>
                <a:cubicBezTo>
                  <a:pt x="4469102" y="4717953"/>
                  <a:pt x="4352700" y="4834355"/>
                  <a:pt x="4209110" y="4834355"/>
                </a:cubicBezTo>
                <a:lnTo>
                  <a:pt x="25909" y="4834355"/>
                </a:lnTo>
                <a:lnTo>
                  <a:pt x="0" y="48317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5D5E0F-4F0D-13EB-6717-326284F76F85}"/>
              </a:ext>
            </a:extLst>
          </p:cNvPr>
          <p:cNvSpPr txBox="1"/>
          <p:nvPr/>
        </p:nvSpPr>
        <p:spPr>
          <a:xfrm>
            <a:off x="6718300" y="1266825"/>
            <a:ext cx="39671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언디셈버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1B018-27D3-C5DF-F246-E63BF2F6AC93}"/>
              </a:ext>
            </a:extLst>
          </p:cNvPr>
          <p:cNvSpPr txBox="1"/>
          <p:nvPr/>
        </p:nvSpPr>
        <p:spPr>
          <a:xfrm>
            <a:off x="6730999" y="1039604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언디셈버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 라이브 서비스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76310D-FEE0-EE18-19F6-28BFD1361E0D}"/>
              </a:ext>
            </a:extLst>
          </p:cNvPr>
          <p:cNvSpPr txBox="1"/>
          <p:nvPr/>
        </p:nvSpPr>
        <p:spPr>
          <a:xfrm>
            <a:off x="6718300" y="1685229"/>
            <a:ext cx="4726448" cy="657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인력 </a:t>
            </a:r>
            <a:r>
              <a:rPr lang="en-US" altLang="ko-KR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18</a:t>
            </a:r>
            <a:r>
              <a:rPr lang="ko-KR" altLang="en-US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명</a:t>
            </a:r>
            <a:endParaRPr lang="en-US" altLang="ko-KR" sz="13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역할 </a:t>
            </a:r>
            <a:r>
              <a:rPr lang="en-US" altLang="ko-KR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라이브 서비스 </a:t>
            </a:r>
            <a:r>
              <a:rPr lang="en-US" altLang="ko-KR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PM</a:t>
            </a:r>
            <a:endParaRPr lang="ko-KR" altLang="en-US" sz="13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868A15-CD0F-F201-CFF8-1DB70B830D1D}"/>
              </a:ext>
            </a:extLst>
          </p:cNvPr>
          <p:cNvGrpSpPr/>
          <p:nvPr/>
        </p:nvGrpSpPr>
        <p:grpSpPr>
          <a:xfrm>
            <a:off x="7791451" y="2999437"/>
            <a:ext cx="209550" cy="209817"/>
            <a:chOff x="7791451" y="2999437"/>
            <a:chExt cx="209550" cy="209817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51CD7ADA-5766-0E2B-59A5-6BCC9F9F12F3}"/>
                </a:ext>
              </a:extLst>
            </p:cNvPr>
            <p:cNvSpPr/>
            <p:nvPr/>
          </p:nvSpPr>
          <p:spPr>
            <a:xfrm>
              <a:off x="7791451" y="2999437"/>
              <a:ext cx="209550" cy="20981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pic>
          <p:nvPicPr>
            <p:cNvPr id="9" name="그래픽 8" descr="전구 단색으로 채워진">
              <a:extLst>
                <a:ext uri="{FF2B5EF4-FFF2-40B4-BE49-F238E27FC236}">
                  <a16:creationId xmlns:a16="http://schemas.microsoft.com/office/drawing/2014/main" id="{2CAA4422-6255-8DB8-BAF2-040E9E3D85B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815318" y="3023437"/>
              <a:ext cx="161816" cy="16181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921841D-FE46-EF99-BC1E-2785E1E8B19C}"/>
              </a:ext>
            </a:extLst>
          </p:cNvPr>
          <p:cNvSpPr txBox="1"/>
          <p:nvPr/>
        </p:nvSpPr>
        <p:spPr>
          <a:xfrm>
            <a:off x="7977134" y="2953048"/>
            <a:ext cx="87680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주요 업무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7FBEC-025A-34CE-C76F-F611A9068C1F}"/>
              </a:ext>
            </a:extLst>
          </p:cNvPr>
          <p:cNvSpPr txBox="1"/>
          <p:nvPr/>
        </p:nvSpPr>
        <p:spPr>
          <a:xfrm>
            <a:off x="7699375" y="3248074"/>
            <a:ext cx="3967163" cy="1123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프로젝트 일정 및 이슈 관리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대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내외 커뮤니케이션 담당</a:t>
            </a:r>
            <a:endParaRPr lang="en-US" altLang="ko-KR" sz="115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라이브 서비스 전략 방향 분석 및 조율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노하우 자산화 및 개발 리소스 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&amp; </a:t>
            </a: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외주 관리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9821D0C-EBDE-E7EE-9F8A-B52DE03D6299}"/>
              </a:ext>
            </a:extLst>
          </p:cNvPr>
          <p:cNvSpPr/>
          <p:nvPr/>
        </p:nvSpPr>
        <p:spPr>
          <a:xfrm>
            <a:off x="7791451" y="4868908"/>
            <a:ext cx="209550" cy="20981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20" name="グラフィックス 5" descr="Checkmark">
            <a:extLst>
              <a:ext uri="{FF2B5EF4-FFF2-40B4-BE49-F238E27FC236}">
                <a16:creationId xmlns:a16="http://schemas.microsoft.com/office/drawing/2014/main" id="{9DA76BF5-DA09-0EB2-63B3-F2D590E5EC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0891" y="4901258"/>
            <a:ext cx="147583" cy="14758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5D695C2-7156-1677-5BC9-8EEF7D2C4A23}"/>
              </a:ext>
            </a:extLst>
          </p:cNvPr>
          <p:cNvSpPr txBox="1"/>
          <p:nvPr/>
        </p:nvSpPr>
        <p:spPr>
          <a:xfrm>
            <a:off x="7977134" y="4822519"/>
            <a:ext cx="17574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성과 및 결과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D95950-DBAF-0A86-996F-E308D83EB98D}"/>
              </a:ext>
            </a:extLst>
          </p:cNvPr>
          <p:cNvSpPr txBox="1"/>
          <p:nvPr/>
        </p:nvSpPr>
        <p:spPr>
          <a:xfrm>
            <a:off x="7699375" y="5119615"/>
            <a:ext cx="3967163" cy="1123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</a:rPr>
              <a:t>협업 도구 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</a:rPr>
              <a:t>[JIRA] </a:t>
            </a: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</a:rPr>
              <a:t>도입</a:t>
            </a:r>
            <a:endParaRPr lang="en-US" altLang="ko-KR" sz="115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협업 도구 자동 및 고도화 작업 진행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이슈 분류 체계 프로세스 수립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빌드 노트 템플릿 개선</a:t>
            </a:r>
            <a:endParaRPr lang="en-US" altLang="ko-KR" sz="115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831A68-1F77-AB93-2F96-C195A442E85E}"/>
              </a:ext>
            </a:extLst>
          </p:cNvPr>
          <p:cNvSpPr txBox="1"/>
          <p:nvPr/>
        </p:nvSpPr>
        <p:spPr>
          <a:xfrm>
            <a:off x="7818630" y="1421644"/>
            <a:ext cx="136763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202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5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.10 ~ 202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6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01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EDB691D0-8FB6-0B43-740C-7FCBC427E9B5}"/>
              </a:ext>
            </a:extLst>
          </p:cNvPr>
          <p:cNvSpPr/>
          <p:nvPr/>
        </p:nvSpPr>
        <p:spPr>
          <a:xfrm>
            <a:off x="11685588" y="4707970"/>
            <a:ext cx="506412" cy="2159555"/>
          </a:xfrm>
          <a:custGeom>
            <a:avLst/>
            <a:gdLst>
              <a:gd name="connsiteX0" fmla="*/ 102482 w 506412"/>
              <a:gd name="connsiteY0" fmla="*/ 0 h 2159555"/>
              <a:gd name="connsiteX1" fmla="*/ 506412 w 506412"/>
              <a:gd name="connsiteY1" fmla="*/ 0 h 2159555"/>
              <a:gd name="connsiteX2" fmla="*/ 506412 w 506412"/>
              <a:gd name="connsiteY2" fmla="*/ 2159555 h 2159555"/>
              <a:gd name="connsiteX3" fmla="*/ 0 w 506412"/>
              <a:gd name="connsiteY3" fmla="*/ 2159555 h 2159555"/>
              <a:gd name="connsiteX4" fmla="*/ 0 w 506412"/>
              <a:gd name="connsiteY4" fmla="*/ 97104 h 2159555"/>
              <a:gd name="connsiteX5" fmla="*/ 102482 w 506412"/>
              <a:gd name="connsiteY5" fmla="*/ 0 h 2159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6412" h="2159555">
                <a:moveTo>
                  <a:pt x="102482" y="0"/>
                </a:moveTo>
                <a:lnTo>
                  <a:pt x="506412" y="0"/>
                </a:lnTo>
                <a:lnTo>
                  <a:pt x="506412" y="2159555"/>
                </a:lnTo>
                <a:lnTo>
                  <a:pt x="0" y="2159555"/>
                </a:lnTo>
                <a:lnTo>
                  <a:pt x="0" y="97104"/>
                </a:lnTo>
                <a:cubicBezTo>
                  <a:pt x="0" y="43475"/>
                  <a:pt x="45883" y="0"/>
                  <a:pt x="10248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DF1B9B-60EB-4771-A5F8-AAC489BE06BA}"/>
              </a:ext>
            </a:extLst>
          </p:cNvPr>
          <p:cNvSpPr txBox="1"/>
          <p:nvPr/>
        </p:nvSpPr>
        <p:spPr>
          <a:xfrm>
            <a:off x="550863" y="228600"/>
            <a:ext cx="2344737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2026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포트폴리오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17E18E-A7CD-9D8E-8A77-D3405EF3F038}"/>
              </a:ext>
            </a:extLst>
          </p:cNvPr>
          <p:cNvSpPr txBox="1"/>
          <p:nvPr/>
        </p:nvSpPr>
        <p:spPr>
          <a:xfrm>
            <a:off x="9331327" y="228600"/>
            <a:ext cx="2344737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Content 1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8" name="그림 개체 틀 17">
            <a:extLst>
              <a:ext uri="{FF2B5EF4-FFF2-40B4-BE49-F238E27FC236}">
                <a16:creationId xmlns:a16="http://schemas.microsoft.com/office/drawing/2014/main" id="{5FCC0163-AC50-AC51-6974-B1F301ADB89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67" b="7667"/>
          <a:stretch/>
        </p:blipFill>
        <p:spPr>
          <a:xfrm>
            <a:off x="1228725" y="1109663"/>
            <a:ext cx="4865688" cy="2319337"/>
          </a:xfrm>
          <a:custGeom>
            <a:avLst/>
            <a:gdLst>
              <a:gd name="connsiteX0" fmla="*/ 128196 w 4865175"/>
              <a:gd name="connsiteY0" fmla="*/ 0 h 2319034"/>
              <a:gd name="connsiteX1" fmla="*/ 4736979 w 4865175"/>
              <a:gd name="connsiteY1" fmla="*/ 0 h 2319034"/>
              <a:gd name="connsiteX2" fmla="*/ 4865175 w 4865175"/>
              <a:gd name="connsiteY2" fmla="*/ 128196 h 2319034"/>
              <a:gd name="connsiteX3" fmla="*/ 4865175 w 4865175"/>
              <a:gd name="connsiteY3" fmla="*/ 2190838 h 2319034"/>
              <a:gd name="connsiteX4" fmla="*/ 4736979 w 4865175"/>
              <a:gd name="connsiteY4" fmla="*/ 2319034 h 2319034"/>
              <a:gd name="connsiteX5" fmla="*/ 128196 w 4865175"/>
              <a:gd name="connsiteY5" fmla="*/ 2319034 h 2319034"/>
              <a:gd name="connsiteX6" fmla="*/ 0 w 4865175"/>
              <a:gd name="connsiteY6" fmla="*/ 2190838 h 2319034"/>
              <a:gd name="connsiteX7" fmla="*/ 0 w 4865175"/>
              <a:gd name="connsiteY7" fmla="*/ 128196 h 2319034"/>
              <a:gd name="connsiteX8" fmla="*/ 128196 w 4865175"/>
              <a:gd name="connsiteY8" fmla="*/ 0 h 231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65175" h="2319034">
                <a:moveTo>
                  <a:pt x="128196" y="0"/>
                </a:moveTo>
                <a:lnTo>
                  <a:pt x="4736979" y="0"/>
                </a:lnTo>
                <a:cubicBezTo>
                  <a:pt x="4807780" y="0"/>
                  <a:pt x="4865175" y="57395"/>
                  <a:pt x="4865175" y="128196"/>
                </a:cubicBezTo>
                <a:lnTo>
                  <a:pt x="4865175" y="2190838"/>
                </a:lnTo>
                <a:cubicBezTo>
                  <a:pt x="4865175" y="2261639"/>
                  <a:pt x="4807780" y="2319034"/>
                  <a:pt x="4736979" y="2319034"/>
                </a:cubicBezTo>
                <a:lnTo>
                  <a:pt x="128196" y="2319034"/>
                </a:lnTo>
                <a:cubicBezTo>
                  <a:pt x="57395" y="2319034"/>
                  <a:pt x="0" y="2261639"/>
                  <a:pt x="0" y="2190838"/>
                </a:cubicBezTo>
                <a:lnTo>
                  <a:pt x="0" y="128196"/>
                </a:lnTo>
                <a:cubicBezTo>
                  <a:pt x="0" y="57395"/>
                  <a:pt x="57395" y="0"/>
                  <a:pt x="128196" y="0"/>
                </a:cubicBezTo>
                <a:close/>
              </a:path>
            </a:pathLst>
          </a:custGeom>
        </p:spPr>
      </p:pic>
      <p:pic>
        <p:nvPicPr>
          <p:cNvPr id="24" name="그림 개체 틀 23">
            <a:extLst>
              <a:ext uri="{FF2B5EF4-FFF2-40B4-BE49-F238E27FC236}">
                <a16:creationId xmlns:a16="http://schemas.microsoft.com/office/drawing/2014/main" id="{8A2FFB4D-2F69-8A19-3875-1F1F70819F4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8" b="4588"/>
          <a:stretch/>
        </p:blipFill>
        <p:spPr>
          <a:xfrm>
            <a:off x="2208213" y="4029075"/>
            <a:ext cx="4864100" cy="2319338"/>
          </a:xfrm>
          <a:custGeom>
            <a:avLst/>
            <a:gdLst>
              <a:gd name="connsiteX0" fmla="*/ 128196 w 4865175"/>
              <a:gd name="connsiteY0" fmla="*/ 0 h 2319034"/>
              <a:gd name="connsiteX1" fmla="*/ 4736979 w 4865175"/>
              <a:gd name="connsiteY1" fmla="*/ 0 h 2319034"/>
              <a:gd name="connsiteX2" fmla="*/ 4865175 w 4865175"/>
              <a:gd name="connsiteY2" fmla="*/ 128196 h 2319034"/>
              <a:gd name="connsiteX3" fmla="*/ 4865175 w 4865175"/>
              <a:gd name="connsiteY3" fmla="*/ 2190838 h 2319034"/>
              <a:gd name="connsiteX4" fmla="*/ 4736979 w 4865175"/>
              <a:gd name="connsiteY4" fmla="*/ 2319034 h 2319034"/>
              <a:gd name="connsiteX5" fmla="*/ 128196 w 4865175"/>
              <a:gd name="connsiteY5" fmla="*/ 2319034 h 2319034"/>
              <a:gd name="connsiteX6" fmla="*/ 0 w 4865175"/>
              <a:gd name="connsiteY6" fmla="*/ 2190838 h 2319034"/>
              <a:gd name="connsiteX7" fmla="*/ 0 w 4865175"/>
              <a:gd name="connsiteY7" fmla="*/ 128196 h 2319034"/>
              <a:gd name="connsiteX8" fmla="*/ 128196 w 4865175"/>
              <a:gd name="connsiteY8" fmla="*/ 0 h 231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65175" h="2319034">
                <a:moveTo>
                  <a:pt x="128196" y="0"/>
                </a:moveTo>
                <a:lnTo>
                  <a:pt x="4736979" y="0"/>
                </a:lnTo>
                <a:cubicBezTo>
                  <a:pt x="4807780" y="0"/>
                  <a:pt x="4865175" y="57395"/>
                  <a:pt x="4865175" y="128196"/>
                </a:cubicBezTo>
                <a:lnTo>
                  <a:pt x="4865175" y="2190838"/>
                </a:lnTo>
                <a:cubicBezTo>
                  <a:pt x="4865175" y="2261639"/>
                  <a:pt x="4807780" y="2319034"/>
                  <a:pt x="4736979" y="2319034"/>
                </a:cubicBezTo>
                <a:lnTo>
                  <a:pt x="128196" y="2319034"/>
                </a:lnTo>
                <a:cubicBezTo>
                  <a:pt x="57395" y="2319034"/>
                  <a:pt x="0" y="2261639"/>
                  <a:pt x="0" y="2190838"/>
                </a:cubicBezTo>
                <a:lnTo>
                  <a:pt x="0" y="128196"/>
                </a:lnTo>
                <a:cubicBezTo>
                  <a:pt x="0" y="57395"/>
                  <a:pt x="57395" y="0"/>
                  <a:pt x="12819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77983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D91BDDCB-D0B1-F605-4AAD-BC566A65D6F4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8AB001-8354-4418-2B33-B42987D2C843}"/>
              </a:ext>
            </a:extLst>
          </p:cNvPr>
          <p:cNvSpPr txBox="1"/>
          <p:nvPr/>
        </p:nvSpPr>
        <p:spPr>
          <a:xfrm>
            <a:off x="474663" y="1124970"/>
            <a:ext cx="11201400" cy="357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30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프로젝트 합류 이후 시즌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10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업데이트까지 프로젝트 매니저로서 활동한 내용과 준비 과정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C1C8637-B5C2-8C38-8DEA-3F799CBFCF9B}"/>
              </a:ext>
            </a:extLst>
          </p:cNvPr>
          <p:cNvSpPr/>
          <p:nvPr/>
        </p:nvSpPr>
        <p:spPr>
          <a:xfrm>
            <a:off x="8117352" y="1671214"/>
            <a:ext cx="3558711" cy="2744856"/>
          </a:xfrm>
          <a:prstGeom prst="roundRect">
            <a:avLst>
              <a:gd name="adj" fmla="val 5528"/>
            </a:avLst>
          </a:prstGeom>
          <a:solidFill>
            <a:schemeClr val="accent1"/>
          </a:solidFill>
          <a:ln>
            <a:noFill/>
          </a:ln>
          <a:effectLst>
            <a:outerShdw blurRad="114300" dist="381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0" name="화살표: 오각형 9">
            <a:extLst>
              <a:ext uri="{FF2B5EF4-FFF2-40B4-BE49-F238E27FC236}">
                <a16:creationId xmlns:a16="http://schemas.microsoft.com/office/drawing/2014/main" id="{5C89C981-3167-E6CD-7CBC-AFB9D5DDB28F}"/>
              </a:ext>
            </a:extLst>
          </p:cNvPr>
          <p:cNvSpPr/>
          <p:nvPr/>
        </p:nvSpPr>
        <p:spPr>
          <a:xfrm>
            <a:off x="870555" y="4688994"/>
            <a:ext cx="1937330" cy="657922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1" name="화살표: 갈매기형 수장 10">
            <a:extLst>
              <a:ext uri="{FF2B5EF4-FFF2-40B4-BE49-F238E27FC236}">
                <a16:creationId xmlns:a16="http://schemas.microsoft.com/office/drawing/2014/main" id="{873574FD-F779-4321-48EB-1FF13B990FF4}"/>
              </a:ext>
            </a:extLst>
          </p:cNvPr>
          <p:cNvSpPr/>
          <p:nvPr/>
        </p:nvSpPr>
        <p:spPr>
          <a:xfrm>
            <a:off x="2550577" y="4688994"/>
            <a:ext cx="2265048" cy="65792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3" name="화살표: 갈매기형 수장 12">
            <a:extLst>
              <a:ext uri="{FF2B5EF4-FFF2-40B4-BE49-F238E27FC236}">
                <a16:creationId xmlns:a16="http://schemas.microsoft.com/office/drawing/2014/main" id="{736DA7F1-EABA-0C46-3B0F-95A5C7269917}"/>
              </a:ext>
            </a:extLst>
          </p:cNvPr>
          <p:cNvSpPr/>
          <p:nvPr/>
        </p:nvSpPr>
        <p:spPr>
          <a:xfrm>
            <a:off x="4558317" y="4688994"/>
            <a:ext cx="2265048" cy="65792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5" name="화살표: 갈매기형 수장 14">
            <a:extLst>
              <a:ext uri="{FF2B5EF4-FFF2-40B4-BE49-F238E27FC236}">
                <a16:creationId xmlns:a16="http://schemas.microsoft.com/office/drawing/2014/main" id="{3C10856E-0FBD-532B-617A-8AC79D9C4F90}"/>
              </a:ext>
            </a:extLst>
          </p:cNvPr>
          <p:cNvSpPr/>
          <p:nvPr/>
        </p:nvSpPr>
        <p:spPr>
          <a:xfrm>
            <a:off x="6566057" y="4688994"/>
            <a:ext cx="2265048" cy="65792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6" name="화살표: 갈매기형 수장 15">
            <a:extLst>
              <a:ext uri="{FF2B5EF4-FFF2-40B4-BE49-F238E27FC236}">
                <a16:creationId xmlns:a16="http://schemas.microsoft.com/office/drawing/2014/main" id="{3A352946-87D4-9F02-02F0-13FE3F28CD14}"/>
              </a:ext>
            </a:extLst>
          </p:cNvPr>
          <p:cNvSpPr/>
          <p:nvPr/>
        </p:nvSpPr>
        <p:spPr>
          <a:xfrm>
            <a:off x="8573797" y="4688994"/>
            <a:ext cx="2265048" cy="65792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E69AD7B-2F19-1C96-C75C-EAEC41648ABE}"/>
              </a:ext>
            </a:extLst>
          </p:cNvPr>
          <p:cNvSpPr/>
          <p:nvPr/>
        </p:nvSpPr>
        <p:spPr>
          <a:xfrm>
            <a:off x="526086" y="4545489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165E47-28C0-A469-44CC-B4DAB8EC006E}"/>
              </a:ext>
            </a:extLst>
          </p:cNvPr>
          <p:cNvSpPr txBox="1"/>
          <p:nvPr/>
        </p:nvSpPr>
        <p:spPr>
          <a:xfrm>
            <a:off x="457553" y="4545489"/>
            <a:ext cx="876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>
                <a:solidFill>
                  <a:schemeClr val="accent2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진행 단계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3EE51EA-FB28-6AEC-DC7A-7DADA855E84C}"/>
              </a:ext>
            </a:extLst>
          </p:cNvPr>
          <p:cNvGrpSpPr/>
          <p:nvPr/>
        </p:nvGrpSpPr>
        <p:grpSpPr>
          <a:xfrm>
            <a:off x="457553" y="5429782"/>
            <a:ext cx="876804" cy="276999"/>
            <a:chOff x="1105311" y="1067625"/>
            <a:chExt cx="876804" cy="276999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CC3B96B3-DE06-92F3-6A75-BA92C6CA48E7}"/>
                </a:ext>
              </a:extLst>
            </p:cNvPr>
            <p:cNvSpPr/>
            <p:nvPr/>
          </p:nvSpPr>
          <p:spPr>
            <a:xfrm>
              <a:off x="1173844" y="1067625"/>
              <a:ext cx="739739" cy="26161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58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F185A0E-BFDB-9546-AACC-81F3483D5BEE}"/>
                </a:ext>
              </a:extLst>
            </p:cNvPr>
            <p:cNvSpPr txBox="1"/>
            <p:nvPr/>
          </p:nvSpPr>
          <p:spPr>
            <a:xfrm>
              <a:off x="1105311" y="1067625"/>
              <a:ext cx="8768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200">
                  <a:solidFill>
                    <a:schemeClr val="accent2"/>
                  </a:solidFill>
                  <a:latin typeface="프리젠테이션 6 SemiBold" pitchFamily="2" charset="-127"/>
                  <a:ea typeface="프리젠테이션 6 SemiBold" pitchFamily="2" charset="-127"/>
                  <a:cs typeface="Pretendard SemiBold" panose="02000703000000020004" pitchFamily="2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프리젠테이션 6 SemiBold" pitchFamily="2" charset="-127"/>
                  <a:ea typeface="프리젠테이션 6 SemiBold" pitchFamily="2" charset="-127"/>
                  <a:cs typeface="Pretendard SemiBold" panose="02000703000000020004" pitchFamily="2" charset="-127"/>
                </a:rPr>
                <a:t>세부 사항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F328A67-D498-B7F2-E980-2687F4C30926}"/>
              </a:ext>
            </a:extLst>
          </p:cNvPr>
          <p:cNvSpPr txBox="1"/>
          <p:nvPr/>
        </p:nvSpPr>
        <p:spPr>
          <a:xfrm>
            <a:off x="895955" y="5600852"/>
            <a:ext cx="1555145" cy="890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00B0F0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이슈 체계 프로세스 개선</a:t>
            </a:r>
            <a:endParaRPr lang="en-US" altLang="ko-KR" sz="1200" dirty="0">
              <a:solidFill>
                <a:srgbClr val="00B0F0"/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업데이트 스펙 및 일정 산정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WBS </a:t>
            </a:r>
            <a:r>
              <a:rPr lang="ko-KR" altLang="en-US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작성 및 담당자 지정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F8829F-124A-B5DF-1D60-64B64ADC0E66}"/>
              </a:ext>
            </a:extLst>
          </p:cNvPr>
          <p:cNvSpPr txBox="1"/>
          <p:nvPr/>
        </p:nvSpPr>
        <p:spPr>
          <a:xfrm>
            <a:off x="4912353" y="5600852"/>
            <a:ext cx="1555145" cy="890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개발 리소스 관리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외주 관리</a:t>
            </a:r>
            <a:endParaRPr lang="en-US" altLang="ko-KR" sz="1200" dirty="0">
              <a:solidFill>
                <a:srgbClr val="000000">
                  <a:lumMod val="65000"/>
                  <a:lumOff val="35000"/>
                </a:srgb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업데이트 스펙 변경</a:t>
            </a:r>
            <a:endParaRPr lang="en-US" altLang="ko-KR" sz="12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897955-64C1-BABF-85F4-40C4CCB98FD6}"/>
              </a:ext>
            </a:extLst>
          </p:cNvPr>
          <p:cNvSpPr txBox="1"/>
          <p:nvPr/>
        </p:nvSpPr>
        <p:spPr>
          <a:xfrm>
            <a:off x="6920552" y="5600852"/>
            <a:ext cx="1555145" cy="890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업데이트 내역 사전 공지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잔여 이슈 파악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빌드 최종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폴리싱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A72121-79BE-8DFC-42C9-F70B66963B1B}"/>
              </a:ext>
            </a:extLst>
          </p:cNvPr>
          <p:cNvSpPr txBox="1"/>
          <p:nvPr/>
        </p:nvSpPr>
        <p:spPr>
          <a:xfrm>
            <a:off x="8928749" y="5600852"/>
            <a:ext cx="1642835" cy="890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일일 단위 모니터링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시즌 </a:t>
            </a:r>
            <a:r>
              <a:rPr lang="en-US" altLang="ko-KR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11</a:t>
            </a:r>
            <a:r>
              <a:rPr lang="ko-KR" altLang="en-US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 업데이트 스펙 산정</a:t>
            </a:r>
            <a:endParaRPr lang="en-US" altLang="ko-KR" sz="1200" dirty="0">
              <a:solidFill>
                <a:srgbClr val="000000">
                  <a:lumMod val="65000"/>
                  <a:lumOff val="35000"/>
                </a:srgb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시즌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10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개발 포스트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모템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58248C-AE29-962F-EB67-AB23EF442CB8}"/>
              </a:ext>
            </a:extLst>
          </p:cNvPr>
          <p:cNvSpPr txBox="1"/>
          <p:nvPr/>
        </p:nvSpPr>
        <p:spPr>
          <a:xfrm>
            <a:off x="2904154" y="5600852"/>
            <a:ext cx="1555145" cy="890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협업 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JIRA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도입 제안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JIRA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 사용 가이드 제작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BM</a:t>
            </a:r>
            <a:r>
              <a:rPr lang="ko-KR" altLang="en-US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 항목 검토 및 협의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7522D6-5A76-D011-9285-83FE22FFA6BE}"/>
              </a:ext>
            </a:extLst>
          </p:cNvPr>
          <p:cNvSpPr txBox="1"/>
          <p:nvPr/>
        </p:nvSpPr>
        <p:spPr>
          <a:xfrm>
            <a:off x="909248" y="4849896"/>
            <a:ext cx="1555145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10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24BB35-A9DB-ED09-D584-765AE9292ACA}"/>
              </a:ext>
            </a:extLst>
          </p:cNvPr>
          <p:cNvSpPr txBox="1"/>
          <p:nvPr/>
        </p:nvSpPr>
        <p:spPr>
          <a:xfrm>
            <a:off x="2908186" y="4849896"/>
            <a:ext cx="1555145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11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3A5254-1509-EE3A-61A5-334074D0609B}"/>
              </a:ext>
            </a:extLst>
          </p:cNvPr>
          <p:cNvSpPr txBox="1"/>
          <p:nvPr/>
        </p:nvSpPr>
        <p:spPr>
          <a:xfrm>
            <a:off x="8928749" y="4849896"/>
            <a:ext cx="1555145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업데이트 이후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9E03B1-3DCE-6D08-6ECE-07AB9B5670C0}"/>
              </a:ext>
            </a:extLst>
          </p:cNvPr>
          <p:cNvSpPr txBox="1"/>
          <p:nvPr/>
        </p:nvSpPr>
        <p:spPr>
          <a:xfrm>
            <a:off x="6906062" y="4849896"/>
            <a:ext cx="1555145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01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FD5E3A-ED83-4CAA-BADE-9816C2EFFD02}"/>
              </a:ext>
            </a:extLst>
          </p:cNvPr>
          <p:cNvSpPr txBox="1"/>
          <p:nvPr/>
        </p:nvSpPr>
        <p:spPr>
          <a:xfrm>
            <a:off x="4907124" y="4849896"/>
            <a:ext cx="1555145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12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FABE8B1-E405-6468-ADD0-9988878E505D}"/>
              </a:ext>
            </a:extLst>
          </p:cNvPr>
          <p:cNvGrpSpPr/>
          <p:nvPr/>
        </p:nvGrpSpPr>
        <p:grpSpPr>
          <a:xfrm>
            <a:off x="8502216" y="2061725"/>
            <a:ext cx="209550" cy="209817"/>
            <a:chOff x="7791450" y="2466469"/>
            <a:chExt cx="333039" cy="333463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BA9BC249-B620-66C8-8B20-9EB131D65522}"/>
                </a:ext>
              </a:extLst>
            </p:cNvPr>
            <p:cNvSpPr/>
            <p:nvPr/>
          </p:nvSpPr>
          <p:spPr>
            <a:xfrm>
              <a:off x="7791450" y="2466469"/>
              <a:ext cx="333039" cy="3334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pic>
          <p:nvPicPr>
            <p:cNvPr id="42" name="그래픽 41" descr="전구 단색으로 채워진">
              <a:extLst>
                <a:ext uri="{FF2B5EF4-FFF2-40B4-BE49-F238E27FC236}">
                  <a16:creationId xmlns:a16="http://schemas.microsoft.com/office/drawing/2014/main" id="{F9E498DD-EDF8-7687-3D23-043448A85796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829382" y="2504613"/>
              <a:ext cx="257175" cy="257175"/>
            </a:xfrm>
            <a:prstGeom prst="rect">
              <a:avLst/>
            </a:prstGeom>
          </p:spPr>
        </p:pic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25F85A2-488E-4F4A-1B9B-632B652340FD}"/>
              </a:ext>
            </a:extLst>
          </p:cNvPr>
          <p:cNvSpPr txBox="1"/>
          <p:nvPr/>
        </p:nvSpPr>
        <p:spPr>
          <a:xfrm>
            <a:off x="8687899" y="2035000"/>
            <a:ext cx="876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>
                <a:solidFill>
                  <a:schemeClr val="accent2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업무 성과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2A04F8-DEC5-40E5-90A0-0C2B6D0C2F04}"/>
              </a:ext>
            </a:extLst>
          </p:cNvPr>
          <p:cNvSpPr txBox="1"/>
          <p:nvPr/>
        </p:nvSpPr>
        <p:spPr>
          <a:xfrm>
            <a:off x="8410140" y="2320194"/>
            <a:ext cx="2973135" cy="613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20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defRPr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프로세스 재정립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협업 툴 도입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BB6936D-12BC-3001-DF1F-3B1C3B1E90C4}"/>
              </a:ext>
            </a:extLst>
          </p:cNvPr>
          <p:cNvGrpSpPr/>
          <p:nvPr/>
        </p:nvGrpSpPr>
        <p:grpSpPr>
          <a:xfrm>
            <a:off x="8502216" y="3218235"/>
            <a:ext cx="209550" cy="209817"/>
            <a:chOff x="7791451" y="3808120"/>
            <a:chExt cx="209550" cy="209817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37DE9E23-6E28-BB31-6B0D-468B6E5CC702}"/>
                </a:ext>
              </a:extLst>
            </p:cNvPr>
            <p:cNvSpPr/>
            <p:nvPr/>
          </p:nvSpPr>
          <p:spPr>
            <a:xfrm>
              <a:off x="7791451" y="3808120"/>
              <a:ext cx="209550" cy="20981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pic>
          <p:nvPicPr>
            <p:cNvPr id="47" name="グラフィックス 2" descr="User">
              <a:extLst>
                <a:ext uri="{FF2B5EF4-FFF2-40B4-BE49-F238E27FC236}">
                  <a16:creationId xmlns:a16="http://schemas.microsoft.com/office/drawing/2014/main" id="{FD067C19-9248-400E-1302-2A4A16902AB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18552" y="3835355"/>
              <a:ext cx="155348" cy="155346"/>
            </a:xfrm>
            <a:prstGeom prst="rect">
              <a:avLst/>
            </a:prstGeom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D98B5B90-EC7A-9B3E-567C-9DB6A911989B}"/>
              </a:ext>
            </a:extLst>
          </p:cNvPr>
          <p:cNvSpPr txBox="1"/>
          <p:nvPr/>
        </p:nvSpPr>
        <p:spPr>
          <a:xfrm>
            <a:off x="8687899" y="3191510"/>
            <a:ext cx="876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>
                <a:solidFill>
                  <a:schemeClr val="accent2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기여도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FA603A-1E89-4F94-0FF2-B0118C9C0A3B}"/>
              </a:ext>
            </a:extLst>
          </p:cNvPr>
          <p:cNvSpPr txBox="1"/>
          <p:nvPr/>
        </p:nvSpPr>
        <p:spPr>
          <a:xfrm>
            <a:off x="8361917" y="3517850"/>
            <a:ext cx="876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srgbClr val="00B0F0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100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%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F3C1A0-DD01-BB92-5E6A-F17887454111}"/>
              </a:ext>
            </a:extLst>
          </p:cNvPr>
          <p:cNvSpPr txBox="1"/>
          <p:nvPr/>
        </p:nvSpPr>
        <p:spPr>
          <a:xfrm>
            <a:off x="9125328" y="3423117"/>
            <a:ext cx="2217484" cy="613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20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일정 및 이슈 관리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내외 커뮤니케이션 담당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0401DE-C1AC-FC76-180D-FB4C104DBD0F}"/>
              </a:ext>
            </a:extLst>
          </p:cNvPr>
          <p:cNvSpPr txBox="1"/>
          <p:nvPr/>
        </p:nvSpPr>
        <p:spPr>
          <a:xfrm>
            <a:off x="465138" y="706566"/>
            <a:ext cx="39671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시즌 </a:t>
            </a: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10 </a:t>
            </a: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업데이트 준비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2A6D71-F12D-2364-FE73-E50C466806EF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언디셈버</a:t>
            </a:r>
            <a:r>
              <a:rPr lang="ko-KR" altLang="en-US" dirty="0">
                <a:solidFill>
                  <a:srgbClr val="000000"/>
                </a:solidFill>
              </a:rPr>
              <a:t> 라이브 서비스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7" name="그림 개체 틀 16">
            <a:extLst>
              <a:ext uri="{FF2B5EF4-FFF2-40B4-BE49-F238E27FC236}">
                <a16:creationId xmlns:a16="http://schemas.microsoft.com/office/drawing/2014/main" id="{175C67EB-9FEE-00A3-BD8C-DE7A85B80FA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2" b="4462"/>
          <a:stretch/>
        </p:blipFill>
        <p:spPr>
          <a:xfrm>
            <a:off x="549275" y="1671638"/>
            <a:ext cx="7418388" cy="2744787"/>
          </a:xfrm>
          <a:custGeom>
            <a:avLst/>
            <a:gdLst>
              <a:gd name="connsiteX0" fmla="*/ 117711 w 7417700"/>
              <a:gd name="connsiteY0" fmla="*/ 0 h 2744856"/>
              <a:gd name="connsiteX1" fmla="*/ 7265964 w 7417700"/>
              <a:gd name="connsiteY1" fmla="*/ 0 h 2744856"/>
              <a:gd name="connsiteX2" fmla="*/ 7417700 w 7417700"/>
              <a:gd name="connsiteY2" fmla="*/ 151736 h 2744856"/>
              <a:gd name="connsiteX3" fmla="*/ 7417700 w 7417700"/>
              <a:gd name="connsiteY3" fmla="*/ 2593120 h 2744856"/>
              <a:gd name="connsiteX4" fmla="*/ 7265964 w 7417700"/>
              <a:gd name="connsiteY4" fmla="*/ 2744856 h 2744856"/>
              <a:gd name="connsiteX5" fmla="*/ 117711 w 7417700"/>
              <a:gd name="connsiteY5" fmla="*/ 2744856 h 2744856"/>
              <a:gd name="connsiteX6" fmla="*/ 10418 w 7417700"/>
              <a:gd name="connsiteY6" fmla="*/ 2700414 h 2744856"/>
              <a:gd name="connsiteX7" fmla="*/ 0 w 7417700"/>
              <a:gd name="connsiteY7" fmla="*/ 2684962 h 2744856"/>
              <a:gd name="connsiteX8" fmla="*/ 0 w 7417700"/>
              <a:gd name="connsiteY8" fmla="*/ 59894 h 2744856"/>
              <a:gd name="connsiteX9" fmla="*/ 10418 w 7417700"/>
              <a:gd name="connsiteY9" fmla="*/ 44443 h 2744856"/>
              <a:gd name="connsiteX10" fmla="*/ 117711 w 7417700"/>
              <a:gd name="connsiteY10" fmla="*/ 0 h 2744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417700" h="2744856">
                <a:moveTo>
                  <a:pt x="117711" y="0"/>
                </a:moveTo>
                <a:lnTo>
                  <a:pt x="7265964" y="0"/>
                </a:lnTo>
                <a:cubicBezTo>
                  <a:pt x="7349765" y="0"/>
                  <a:pt x="7417700" y="67935"/>
                  <a:pt x="7417700" y="151736"/>
                </a:cubicBezTo>
                <a:lnTo>
                  <a:pt x="7417700" y="2593120"/>
                </a:lnTo>
                <a:cubicBezTo>
                  <a:pt x="7417700" y="2676921"/>
                  <a:pt x="7349765" y="2744856"/>
                  <a:pt x="7265964" y="2744856"/>
                </a:cubicBezTo>
                <a:lnTo>
                  <a:pt x="117711" y="2744856"/>
                </a:lnTo>
                <a:cubicBezTo>
                  <a:pt x="75811" y="2744856"/>
                  <a:pt x="37877" y="2727872"/>
                  <a:pt x="10418" y="2700414"/>
                </a:cubicBezTo>
                <a:lnTo>
                  <a:pt x="0" y="2684962"/>
                </a:lnTo>
                <a:lnTo>
                  <a:pt x="0" y="59894"/>
                </a:lnTo>
                <a:lnTo>
                  <a:pt x="10418" y="44443"/>
                </a:lnTo>
                <a:cubicBezTo>
                  <a:pt x="37877" y="16984"/>
                  <a:pt x="75811" y="0"/>
                  <a:pt x="117711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959279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AF5CF-1DD7-4DC5-663D-CE37D5BA4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B44E0B8-C788-8283-1824-95073A4A4494}"/>
              </a:ext>
            </a:extLst>
          </p:cNvPr>
          <p:cNvSpPr/>
          <p:nvPr/>
        </p:nvSpPr>
        <p:spPr>
          <a:xfrm>
            <a:off x="515938" y="2086010"/>
            <a:ext cx="5580062" cy="2485987"/>
          </a:xfrm>
          <a:prstGeom prst="roundRect">
            <a:avLst>
              <a:gd name="adj" fmla="val 10755"/>
            </a:avLst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3BD38-EB75-0CDD-AF2C-7D55F8B5D9AE}"/>
              </a:ext>
            </a:extLst>
          </p:cNvPr>
          <p:cNvSpPr txBox="1"/>
          <p:nvPr/>
        </p:nvSpPr>
        <p:spPr>
          <a:xfrm>
            <a:off x="474662" y="1124307"/>
            <a:ext cx="6504635" cy="679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35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이슈 누락 방지 및 히스토리 추적을 위해 스프레드 시트를 활용하여 별도의 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개별 문서를 제작하여 관리하였습니다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이를 기반으로 프로젝트를 관리한 결과 개발 안정성 확보에 크게 기여할 수 있었습니다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86D2F695-E60E-6B2F-E77B-5B50B4983AE6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5BB75E7-3864-3554-19EA-4D3EEBCA92B5}"/>
              </a:ext>
            </a:extLst>
          </p:cNvPr>
          <p:cNvSpPr/>
          <p:nvPr/>
        </p:nvSpPr>
        <p:spPr>
          <a:xfrm>
            <a:off x="529174" y="1957198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773DDF-B4E4-7FB6-2B20-2812028ED7D8}"/>
              </a:ext>
            </a:extLst>
          </p:cNvPr>
          <p:cNvSpPr txBox="1"/>
          <p:nvPr/>
        </p:nvSpPr>
        <p:spPr>
          <a:xfrm>
            <a:off x="460641" y="1957419"/>
            <a:ext cx="876804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문서 이미지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B6174B2-DFFD-8807-9BCE-19BCB978943F}"/>
              </a:ext>
            </a:extLst>
          </p:cNvPr>
          <p:cNvSpPr/>
          <p:nvPr/>
        </p:nvSpPr>
        <p:spPr>
          <a:xfrm>
            <a:off x="515938" y="4860235"/>
            <a:ext cx="5580062" cy="1485004"/>
          </a:xfrm>
          <a:prstGeom prst="roundRect">
            <a:avLst>
              <a:gd name="adj" fmla="val 10553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27A307E-02B8-FE81-0556-DFA5607A4425}"/>
              </a:ext>
            </a:extLst>
          </p:cNvPr>
          <p:cNvSpPr/>
          <p:nvPr/>
        </p:nvSpPr>
        <p:spPr>
          <a:xfrm>
            <a:off x="529174" y="4734399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61186D-5518-DE29-14FB-849AF7E2DA79}"/>
              </a:ext>
            </a:extLst>
          </p:cNvPr>
          <p:cNvSpPr txBox="1"/>
          <p:nvPr/>
        </p:nvSpPr>
        <p:spPr>
          <a:xfrm>
            <a:off x="460641" y="4734620"/>
            <a:ext cx="876804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문서 소개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23A87C-1972-DB15-1A8B-F98523421041}"/>
              </a:ext>
            </a:extLst>
          </p:cNvPr>
          <p:cNvSpPr txBox="1"/>
          <p:nvPr/>
        </p:nvSpPr>
        <p:spPr>
          <a:xfrm>
            <a:off x="1044806" y="5086025"/>
            <a:ext cx="4522392" cy="824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프로젝트 관리를 위해 별도로 제작하여 사용한 개인용 관리 문서입니다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문서는 구글 스프레드 시트를 활용하여 제작하였으며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사용 목적은 라이브 서비스 중 발생하는</a:t>
            </a:r>
            <a:endParaRPr lang="en-US" altLang="ko-KR" sz="11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이슈 누락 방지 및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히스토리 적재 목적으로 사용하였습니다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5A258D6-8518-A194-49EE-2A6EB9F35011}"/>
              </a:ext>
            </a:extLst>
          </p:cNvPr>
          <p:cNvSpPr/>
          <p:nvPr/>
        </p:nvSpPr>
        <p:spPr>
          <a:xfrm>
            <a:off x="6543040" y="2058944"/>
            <a:ext cx="5133023" cy="4259229"/>
          </a:xfrm>
          <a:prstGeom prst="roundRect">
            <a:avLst>
              <a:gd name="adj" fmla="val 6498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66A4C5C-0500-B8C9-C93F-AF8F06212101}"/>
              </a:ext>
            </a:extLst>
          </p:cNvPr>
          <p:cNvSpPr/>
          <p:nvPr/>
        </p:nvSpPr>
        <p:spPr>
          <a:xfrm>
            <a:off x="6623027" y="1957198"/>
            <a:ext cx="906827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9FE7E0-67D7-3CD9-1A09-43AC5708C582}"/>
              </a:ext>
            </a:extLst>
          </p:cNvPr>
          <p:cNvSpPr txBox="1"/>
          <p:nvPr/>
        </p:nvSpPr>
        <p:spPr>
          <a:xfrm>
            <a:off x="6543040" y="1957419"/>
            <a:ext cx="10668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주요 </a:t>
            </a:r>
            <a:r>
              <a:rPr lang="ko-KR" altLang="en-US" sz="1150" dirty="0">
                <a:solidFill>
                  <a:srgbClr val="262626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구성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42E3F5-7CF0-8604-8EF7-5F1F2CB2747C}"/>
              </a:ext>
            </a:extLst>
          </p:cNvPr>
          <p:cNvSpPr txBox="1"/>
          <p:nvPr/>
        </p:nvSpPr>
        <p:spPr>
          <a:xfrm>
            <a:off x="7076440" y="2467659"/>
            <a:ext cx="1361271" cy="269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프로젝트 타임라인 시트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BBD396-DE4B-E84A-4276-EC3B13EE57CE}"/>
              </a:ext>
            </a:extLst>
          </p:cNvPr>
          <p:cNvSpPr txBox="1"/>
          <p:nvPr/>
        </p:nvSpPr>
        <p:spPr>
          <a:xfrm>
            <a:off x="6782409" y="2745464"/>
            <a:ext cx="3932487" cy="570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전반적인 프로젝트 일정에 대해 직관적으로 파악할 수 있도록 정리하였으며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주요 일정은 분기별로 분류하여 주로 업데이트나 빌드 관련 일정을 기입하여 관리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ED78C2D-3C3F-7C1B-EF92-48AB6EA23F58}"/>
              </a:ext>
            </a:extLst>
          </p:cNvPr>
          <p:cNvSpPr/>
          <p:nvPr/>
        </p:nvSpPr>
        <p:spPr>
          <a:xfrm>
            <a:off x="6862043" y="2494015"/>
            <a:ext cx="251721" cy="241956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34" name="그래픽 33" descr="전구 단색으로 채워진">
            <a:extLst>
              <a:ext uri="{FF2B5EF4-FFF2-40B4-BE49-F238E27FC236}">
                <a16:creationId xmlns:a16="http://schemas.microsoft.com/office/drawing/2014/main" id="{B2C51DE5-B32A-650A-303C-6E11899C72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307" y="2520396"/>
            <a:ext cx="189193" cy="18919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0959F1B-F073-1D3B-66B0-B30A0D888556}"/>
              </a:ext>
            </a:extLst>
          </p:cNvPr>
          <p:cNvSpPr txBox="1"/>
          <p:nvPr/>
        </p:nvSpPr>
        <p:spPr>
          <a:xfrm>
            <a:off x="7117351" y="3781738"/>
            <a:ext cx="1091966" cy="269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라이브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&amp;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개발 시트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44BFA2-F3DC-0894-1C57-865F0354D1A9}"/>
              </a:ext>
            </a:extLst>
          </p:cNvPr>
          <p:cNvSpPr txBox="1"/>
          <p:nvPr/>
        </p:nvSpPr>
        <p:spPr>
          <a:xfrm>
            <a:off x="6782409" y="4045904"/>
            <a:ext cx="3983783" cy="570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일일 단위로 리스트를 세분화하여 이슈를 관리하였으며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발생한 이슈 중에서 우선순위를 지정하여 빠른 라이브 이슈 대응 및 개발 스펙 확정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80CF08A-AB9C-EDBE-5791-0A558F816447}"/>
              </a:ext>
            </a:extLst>
          </p:cNvPr>
          <p:cNvSpPr/>
          <p:nvPr/>
        </p:nvSpPr>
        <p:spPr>
          <a:xfrm>
            <a:off x="6862043" y="3794455"/>
            <a:ext cx="251721" cy="241956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39" name="그래픽 38" descr="전구 단색으로 채워진">
            <a:extLst>
              <a:ext uri="{FF2B5EF4-FFF2-40B4-BE49-F238E27FC236}">
                <a16:creationId xmlns:a16="http://schemas.microsoft.com/office/drawing/2014/main" id="{C5155DE5-4BF6-D970-6128-ED30990AF27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307" y="3832749"/>
            <a:ext cx="189193" cy="189193"/>
          </a:xfrm>
          <a:prstGeom prst="rect">
            <a:avLst/>
          </a:prstGeom>
        </p:spPr>
      </p:pic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6B22B70C-33BD-28C1-56D1-0C6C15144B88}"/>
              </a:ext>
            </a:extLst>
          </p:cNvPr>
          <p:cNvSpPr/>
          <p:nvPr/>
        </p:nvSpPr>
        <p:spPr>
          <a:xfrm>
            <a:off x="6862043" y="5102376"/>
            <a:ext cx="251721" cy="241956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17C629-353A-5A7D-3F8B-A07EBB8CCF85}"/>
              </a:ext>
            </a:extLst>
          </p:cNvPr>
          <p:cNvSpPr txBox="1"/>
          <p:nvPr/>
        </p:nvSpPr>
        <p:spPr>
          <a:xfrm>
            <a:off x="7113986" y="5082177"/>
            <a:ext cx="1024639" cy="269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지라 이슈 리스트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1AA8CA-18A2-A3CA-67E0-A43C1DE6427E}"/>
              </a:ext>
            </a:extLst>
          </p:cNvPr>
          <p:cNvSpPr txBox="1"/>
          <p:nvPr/>
        </p:nvSpPr>
        <p:spPr>
          <a:xfrm>
            <a:off x="6782409" y="5343787"/>
            <a:ext cx="4458272" cy="570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게임 진행에 큰 영향을 끼치는 이슈를 별도로 취합하여 관리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이후 지속적인 모니터링 및 주기적 리마인드를 통해 이슈 수정 및 사후 대책 방안 마련에 참고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4" name="그래픽 43" descr="전구 단색으로 채워진">
            <a:extLst>
              <a:ext uri="{FF2B5EF4-FFF2-40B4-BE49-F238E27FC236}">
                <a16:creationId xmlns:a16="http://schemas.microsoft.com/office/drawing/2014/main" id="{787D91E2-181E-EE7D-8B7F-B78F34251A1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307" y="5118719"/>
            <a:ext cx="189193" cy="1891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2D9407-12C2-C4C2-68F0-C93AB45AF790}"/>
              </a:ext>
            </a:extLst>
          </p:cNvPr>
          <p:cNvSpPr txBox="1"/>
          <p:nvPr/>
        </p:nvSpPr>
        <p:spPr>
          <a:xfrm>
            <a:off x="465138" y="706566"/>
            <a:ext cx="51020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프로젝트 관리 방식 </a:t>
            </a: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: </a:t>
            </a:r>
            <a:r>
              <a:rPr lang="en-US" altLang="ko-KR" sz="26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To-Do </a:t>
            </a:r>
            <a:r>
              <a:rPr lang="ko-KR" altLang="en-US" sz="26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리스트 제작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1EFBDD-3199-4338-B40B-AE3CF95B86A9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언디셈버</a:t>
            </a:r>
            <a:r>
              <a:rPr lang="ko-KR" altLang="en-US" dirty="0">
                <a:solidFill>
                  <a:srgbClr val="000000"/>
                </a:solidFill>
              </a:rPr>
              <a:t> 라이브 서비스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6728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90590-B14D-3916-CF7D-ED5100FD6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F84E616-87A1-BEE8-5CF1-2EE5DDDAF9C6}"/>
              </a:ext>
            </a:extLst>
          </p:cNvPr>
          <p:cNvSpPr/>
          <p:nvPr/>
        </p:nvSpPr>
        <p:spPr>
          <a:xfrm>
            <a:off x="515938" y="4860235"/>
            <a:ext cx="3564427" cy="1485004"/>
          </a:xfrm>
          <a:prstGeom prst="roundRect">
            <a:avLst>
              <a:gd name="adj" fmla="val 10553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36629-F814-C224-5240-68CFDA9F5856}"/>
              </a:ext>
            </a:extLst>
          </p:cNvPr>
          <p:cNvSpPr txBox="1"/>
          <p:nvPr/>
        </p:nvSpPr>
        <p:spPr>
          <a:xfrm>
            <a:off x="1029709" y="5184906"/>
            <a:ext cx="2563356" cy="824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작성 기준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라이브 서버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주요 담당자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PD 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및 기획실장</a:t>
            </a:r>
            <a:endParaRPr lang="en-US" altLang="ko-KR" sz="11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관리 목적 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라이브 이슈 누락 방지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9930693-380E-CFC6-6239-0A5EA8DF37EB}"/>
              </a:ext>
            </a:extLst>
          </p:cNvPr>
          <p:cNvSpPr/>
          <p:nvPr/>
        </p:nvSpPr>
        <p:spPr>
          <a:xfrm>
            <a:off x="529174" y="2086009"/>
            <a:ext cx="3564427" cy="2485987"/>
          </a:xfrm>
          <a:prstGeom prst="roundRect">
            <a:avLst>
              <a:gd name="adj" fmla="val 10755"/>
            </a:avLst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50CFDA8-4B11-714A-6669-B2D94E233FC3}"/>
              </a:ext>
            </a:extLst>
          </p:cNvPr>
          <p:cNvSpPr/>
          <p:nvPr/>
        </p:nvSpPr>
        <p:spPr>
          <a:xfrm>
            <a:off x="529174" y="4734399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33E04-880D-8272-3CA7-17F9C5ABBF8E}"/>
              </a:ext>
            </a:extLst>
          </p:cNvPr>
          <p:cNvSpPr txBox="1"/>
          <p:nvPr/>
        </p:nvSpPr>
        <p:spPr>
          <a:xfrm>
            <a:off x="474662" y="1124307"/>
            <a:ext cx="6504635" cy="679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35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타임라인과 라이브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&amp;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시트는 일정 및 이슈 위주로 일일 단위 최신화를 통해 누락을 방지하였으며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지라 이슈 리스트는 심각도가 높거나 타 부서의 업무 지원이 지속적으로 필요한 이슈 위주로 관리하였습니다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.</a:t>
            </a:r>
            <a:endParaRPr kumimoji="0" lang="en-US" altLang="ko-KR" sz="13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106901D3-98DC-1B90-24F0-520BEF881D9C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819325-09EF-6FBF-31F1-CA47414A946D}"/>
              </a:ext>
            </a:extLst>
          </p:cNvPr>
          <p:cNvSpPr txBox="1"/>
          <p:nvPr/>
        </p:nvSpPr>
        <p:spPr>
          <a:xfrm>
            <a:off x="460641" y="4734620"/>
            <a:ext cx="876804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문서 소개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A2DDE-2FD9-FDDE-DBD6-EFBC83B5BEC4}"/>
              </a:ext>
            </a:extLst>
          </p:cNvPr>
          <p:cNvSpPr txBox="1"/>
          <p:nvPr/>
        </p:nvSpPr>
        <p:spPr>
          <a:xfrm>
            <a:off x="465138" y="706566"/>
            <a:ext cx="51020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6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To-Do </a:t>
            </a:r>
            <a:r>
              <a:rPr lang="ko-KR" altLang="en-US" sz="26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리스트 주요 구성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78C52D-277A-F937-6802-611365FF7E98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언디셈버</a:t>
            </a:r>
            <a:r>
              <a:rPr lang="ko-KR" altLang="en-US" dirty="0">
                <a:solidFill>
                  <a:srgbClr val="000000"/>
                </a:solidFill>
              </a:rPr>
              <a:t> 라이브 서비스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BC8402C-F780-8A25-1B78-B92EC754C0B0}"/>
              </a:ext>
            </a:extLst>
          </p:cNvPr>
          <p:cNvSpPr/>
          <p:nvPr/>
        </p:nvSpPr>
        <p:spPr>
          <a:xfrm>
            <a:off x="4313786" y="2086009"/>
            <a:ext cx="3564427" cy="2485987"/>
          </a:xfrm>
          <a:prstGeom prst="roundRect">
            <a:avLst>
              <a:gd name="adj" fmla="val 10755"/>
            </a:avLst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7A5194-4761-D721-D8D7-34FBBF67C87F}"/>
              </a:ext>
            </a:extLst>
          </p:cNvPr>
          <p:cNvSpPr/>
          <p:nvPr/>
        </p:nvSpPr>
        <p:spPr>
          <a:xfrm>
            <a:off x="8098399" y="2086009"/>
            <a:ext cx="3564427" cy="2485987"/>
          </a:xfrm>
          <a:prstGeom prst="roundRect">
            <a:avLst>
              <a:gd name="adj" fmla="val 10755"/>
            </a:avLst>
          </a:prstGeom>
          <a:blipFill>
            <a:blip r:embed="rId4"/>
            <a:stretch>
              <a:fillRect/>
            </a:stretch>
          </a:blip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3D57FEB-81CE-402E-BD7F-99F973485B6C}"/>
              </a:ext>
            </a:extLst>
          </p:cNvPr>
          <p:cNvSpPr/>
          <p:nvPr/>
        </p:nvSpPr>
        <p:spPr>
          <a:xfrm>
            <a:off x="529174" y="1957198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00F035-D881-BC81-C84D-B6D4E5DE798E}"/>
              </a:ext>
            </a:extLst>
          </p:cNvPr>
          <p:cNvSpPr txBox="1"/>
          <p:nvPr/>
        </p:nvSpPr>
        <p:spPr>
          <a:xfrm>
            <a:off x="460641" y="1957419"/>
            <a:ext cx="876804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라이브 시트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72D35B2-9A85-5A36-8BA5-70F519C3A442}"/>
              </a:ext>
            </a:extLst>
          </p:cNvPr>
          <p:cNvSpPr/>
          <p:nvPr/>
        </p:nvSpPr>
        <p:spPr>
          <a:xfrm>
            <a:off x="4313786" y="1957198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4990A6-160D-0359-F239-C22CF4E5A697}"/>
              </a:ext>
            </a:extLst>
          </p:cNvPr>
          <p:cNvSpPr txBox="1"/>
          <p:nvPr/>
        </p:nvSpPr>
        <p:spPr>
          <a:xfrm>
            <a:off x="4245253" y="1957419"/>
            <a:ext cx="876804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개발 시트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51008AD-BBB9-27C9-5268-EC7A4770AC04}"/>
              </a:ext>
            </a:extLst>
          </p:cNvPr>
          <p:cNvSpPr/>
          <p:nvPr/>
        </p:nvSpPr>
        <p:spPr>
          <a:xfrm>
            <a:off x="8098398" y="1949283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D30407-358B-7A5F-FE4B-EF395F2FBAB1}"/>
              </a:ext>
            </a:extLst>
          </p:cNvPr>
          <p:cNvSpPr txBox="1"/>
          <p:nvPr/>
        </p:nvSpPr>
        <p:spPr>
          <a:xfrm>
            <a:off x="8029865" y="1949504"/>
            <a:ext cx="8768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지라 이슈 시트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E495FAB4-B0F9-60EC-E9C6-94A2615A6569}"/>
              </a:ext>
            </a:extLst>
          </p:cNvPr>
          <p:cNvSpPr/>
          <p:nvPr/>
        </p:nvSpPr>
        <p:spPr>
          <a:xfrm>
            <a:off x="4313785" y="4854601"/>
            <a:ext cx="3564427" cy="1485004"/>
          </a:xfrm>
          <a:prstGeom prst="roundRect">
            <a:avLst>
              <a:gd name="adj" fmla="val 10553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31492366-37DB-B36C-D627-88C280D1F916}"/>
              </a:ext>
            </a:extLst>
          </p:cNvPr>
          <p:cNvSpPr/>
          <p:nvPr/>
        </p:nvSpPr>
        <p:spPr>
          <a:xfrm>
            <a:off x="8166932" y="4854601"/>
            <a:ext cx="3564427" cy="1485004"/>
          </a:xfrm>
          <a:prstGeom prst="roundRect">
            <a:avLst>
              <a:gd name="adj" fmla="val 10553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309792B5-1E1D-8AF6-5F30-1DE584E48D67}"/>
              </a:ext>
            </a:extLst>
          </p:cNvPr>
          <p:cNvSpPr/>
          <p:nvPr/>
        </p:nvSpPr>
        <p:spPr>
          <a:xfrm>
            <a:off x="4382318" y="4719838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856A33-DC5F-CF0E-0F54-A24C80324467}"/>
              </a:ext>
            </a:extLst>
          </p:cNvPr>
          <p:cNvSpPr txBox="1"/>
          <p:nvPr/>
        </p:nvSpPr>
        <p:spPr>
          <a:xfrm>
            <a:off x="4313785" y="4720059"/>
            <a:ext cx="876804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문서 </a:t>
            </a:r>
            <a:r>
              <a:rPr lang="ko-KR" altLang="en-US" sz="1150" dirty="0">
                <a:solidFill>
                  <a:srgbClr val="262626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소개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571A3585-6C78-39FF-7752-8A2491566FFA}"/>
              </a:ext>
            </a:extLst>
          </p:cNvPr>
          <p:cNvSpPr/>
          <p:nvPr/>
        </p:nvSpPr>
        <p:spPr>
          <a:xfrm>
            <a:off x="8166931" y="4725472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F4FD279-CCE8-1053-057F-16B5F540E8FB}"/>
              </a:ext>
            </a:extLst>
          </p:cNvPr>
          <p:cNvSpPr txBox="1"/>
          <p:nvPr/>
        </p:nvSpPr>
        <p:spPr>
          <a:xfrm>
            <a:off x="8098398" y="4725693"/>
            <a:ext cx="876804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문서 </a:t>
            </a:r>
            <a:r>
              <a:rPr lang="ko-KR" altLang="en-US" sz="1150" dirty="0">
                <a:solidFill>
                  <a:srgbClr val="262626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소개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FFC6B90-EC3B-A555-BC89-C90CCDD6000F}"/>
              </a:ext>
            </a:extLst>
          </p:cNvPr>
          <p:cNvSpPr txBox="1"/>
          <p:nvPr/>
        </p:nvSpPr>
        <p:spPr>
          <a:xfrm>
            <a:off x="4814320" y="5184906"/>
            <a:ext cx="2563356" cy="824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작성 기준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(DEV, QA) 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서버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주요 담당자 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PD 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및 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PM, 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퍼블리셔 </a:t>
            </a:r>
            <a:r>
              <a:rPr lang="ko-KR" altLang="en-US" sz="110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사업실</a:t>
            </a:r>
            <a:endParaRPr lang="en-US" altLang="ko-KR" sz="11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관리 목적 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중 발생한 이슈 처리 및 논의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C0F977-A7EA-DF78-4295-C75F6F434229}"/>
              </a:ext>
            </a:extLst>
          </p:cNvPr>
          <p:cNvSpPr txBox="1"/>
          <p:nvPr/>
        </p:nvSpPr>
        <p:spPr>
          <a:xfrm>
            <a:off x="8598934" y="5184906"/>
            <a:ext cx="2563356" cy="824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작성 기준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라이브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&amp;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서버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주요 담당자 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PM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관리 목적 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등록된 이슈의 처리 누락 방지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8478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4285FCF-E01C-1E8D-2157-894E562535D5}"/>
              </a:ext>
            </a:extLst>
          </p:cNvPr>
          <p:cNvSpPr/>
          <p:nvPr/>
        </p:nvSpPr>
        <p:spPr>
          <a:xfrm>
            <a:off x="515938" y="2086010"/>
            <a:ext cx="5580062" cy="2485987"/>
          </a:xfrm>
          <a:prstGeom prst="roundRect">
            <a:avLst>
              <a:gd name="adj" fmla="val 10755"/>
            </a:avLst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CC6AAF-4FE6-0295-48BA-838BE2B971E8}"/>
              </a:ext>
            </a:extLst>
          </p:cNvPr>
          <p:cNvSpPr txBox="1"/>
          <p:nvPr/>
        </p:nvSpPr>
        <p:spPr>
          <a:xfrm>
            <a:off x="474662" y="1124307"/>
            <a:ext cx="5440945" cy="679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35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효율적인 업무를 위해 협업 도구인 아사나의 자동화 설정 및 고도화 작업을 진행하였습니다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이를 통해 구성원이 온전히 개발에만 매진할 수 있는 환경 구축에 기여할 수 있었습니다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.</a:t>
            </a: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3106D4DD-7560-EA26-931E-EFEAEDA3A7DB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09E3DA-B4B3-F0BF-020B-CF46C27C6DE8}"/>
              </a:ext>
            </a:extLst>
          </p:cNvPr>
          <p:cNvSpPr/>
          <p:nvPr/>
        </p:nvSpPr>
        <p:spPr>
          <a:xfrm>
            <a:off x="529174" y="1957198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27E656-F1CC-5ADE-6E92-85D68003E582}"/>
              </a:ext>
            </a:extLst>
          </p:cNvPr>
          <p:cNvSpPr txBox="1"/>
          <p:nvPr/>
        </p:nvSpPr>
        <p:spPr>
          <a:xfrm>
            <a:off x="460641" y="1957419"/>
            <a:ext cx="876804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50" dirty="0">
                <a:solidFill>
                  <a:srgbClr val="262626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예시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 이미지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E186292-E10D-B575-142C-1AD3B95C55CA}"/>
              </a:ext>
            </a:extLst>
          </p:cNvPr>
          <p:cNvSpPr/>
          <p:nvPr/>
        </p:nvSpPr>
        <p:spPr>
          <a:xfrm>
            <a:off x="515938" y="4860235"/>
            <a:ext cx="5580062" cy="1485004"/>
          </a:xfrm>
          <a:prstGeom prst="roundRect">
            <a:avLst>
              <a:gd name="adj" fmla="val 10553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154398C-63A9-949F-0A51-EF54B472F65C}"/>
              </a:ext>
            </a:extLst>
          </p:cNvPr>
          <p:cNvSpPr/>
          <p:nvPr/>
        </p:nvSpPr>
        <p:spPr>
          <a:xfrm>
            <a:off x="529174" y="4734399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9B2E8B-DE38-D3C9-947C-B6B727318B1B}"/>
              </a:ext>
            </a:extLst>
          </p:cNvPr>
          <p:cNvSpPr txBox="1"/>
          <p:nvPr/>
        </p:nvSpPr>
        <p:spPr>
          <a:xfrm>
            <a:off x="460641" y="4734620"/>
            <a:ext cx="876804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활용 방안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BF7AFA-E7F0-60A1-993D-B24C4FEDB21C}"/>
              </a:ext>
            </a:extLst>
          </p:cNvPr>
          <p:cNvSpPr txBox="1"/>
          <p:nvPr/>
        </p:nvSpPr>
        <p:spPr>
          <a:xfrm>
            <a:off x="1075276" y="5086025"/>
            <a:ext cx="4461478" cy="824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프로젝트에서 일정 관리는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[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아사나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]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를 사용하여 관리하였습니다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프로젝트 내에서 팀별로 구분하여 각 팀별 일정을 파악하고자 하였으며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빌드 일정별로 나누어 해당 빌드의 스펙과 잔여 이슈를 파악하며 프로젝트를 관리하였습니다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7152B00-5289-80F0-F979-CE52FE7C594D}"/>
              </a:ext>
            </a:extLst>
          </p:cNvPr>
          <p:cNvSpPr/>
          <p:nvPr/>
        </p:nvSpPr>
        <p:spPr>
          <a:xfrm>
            <a:off x="6543040" y="2058944"/>
            <a:ext cx="5133023" cy="4259229"/>
          </a:xfrm>
          <a:prstGeom prst="roundRect">
            <a:avLst>
              <a:gd name="adj" fmla="val 6498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5469FAE-DB16-0B50-DE39-1844CC3CA074}"/>
              </a:ext>
            </a:extLst>
          </p:cNvPr>
          <p:cNvSpPr/>
          <p:nvPr/>
        </p:nvSpPr>
        <p:spPr>
          <a:xfrm>
            <a:off x="6623027" y="1957198"/>
            <a:ext cx="906827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5BD637-0340-3A74-7C61-941C3FC122CB}"/>
              </a:ext>
            </a:extLst>
          </p:cNvPr>
          <p:cNvSpPr txBox="1"/>
          <p:nvPr/>
        </p:nvSpPr>
        <p:spPr>
          <a:xfrm>
            <a:off x="6543040" y="1957419"/>
            <a:ext cx="10668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핵심 기능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3AA05B-763B-AD34-1E2F-AF35AF950EC9}"/>
              </a:ext>
            </a:extLst>
          </p:cNvPr>
          <p:cNvSpPr txBox="1"/>
          <p:nvPr/>
        </p:nvSpPr>
        <p:spPr>
          <a:xfrm>
            <a:off x="7085821" y="2465223"/>
            <a:ext cx="1388522" cy="269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50" dirty="0">
                <a:solidFill>
                  <a:srgbClr val="000000">
                    <a:lumMod val="75000"/>
                    <a:lumOff val="25000"/>
                  </a:srgbClr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목표 버전 대시보드 제작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606DF3-7A10-5C26-3F1D-C66771AFABBB}"/>
              </a:ext>
            </a:extLst>
          </p:cNvPr>
          <p:cNvSpPr txBox="1"/>
          <p:nvPr/>
        </p:nvSpPr>
        <p:spPr>
          <a:xfrm>
            <a:off x="6782409" y="2745464"/>
            <a:ext cx="3472425" cy="570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빌드 업데이트 및 패치 일정에 맞춰 수정 버전 지정 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(ex. 02.10 CDN)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각 팀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작업자별 할당 업무 및 잔여 이슈 파악에 용이하였음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C05B346-B2E9-0A32-31C8-4ACA52E3043D}"/>
              </a:ext>
            </a:extLst>
          </p:cNvPr>
          <p:cNvSpPr/>
          <p:nvPr/>
        </p:nvSpPr>
        <p:spPr>
          <a:xfrm>
            <a:off x="6862043" y="2494015"/>
            <a:ext cx="251721" cy="241956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34" name="그래픽 33" descr="전구 단색으로 채워진">
            <a:extLst>
              <a:ext uri="{FF2B5EF4-FFF2-40B4-BE49-F238E27FC236}">
                <a16:creationId xmlns:a16="http://schemas.microsoft.com/office/drawing/2014/main" id="{B75E0498-272E-D436-9025-3E1B29FFE49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307" y="2520396"/>
            <a:ext cx="189193" cy="18919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15BE4FA-08BA-2EC0-7725-B70C8E10264A}"/>
              </a:ext>
            </a:extLst>
          </p:cNvPr>
          <p:cNvSpPr txBox="1"/>
          <p:nvPr/>
        </p:nvSpPr>
        <p:spPr>
          <a:xfrm>
            <a:off x="7085821" y="3792693"/>
            <a:ext cx="1249060" cy="269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이슈별 우선순위 지정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7F4B2F-0336-1A11-D439-603A74E91476}"/>
              </a:ext>
            </a:extLst>
          </p:cNvPr>
          <p:cNvSpPr txBox="1"/>
          <p:nvPr/>
        </p:nvSpPr>
        <p:spPr>
          <a:xfrm>
            <a:off x="6782409" y="4045904"/>
            <a:ext cx="3906839" cy="570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일감 등록 시 일정에 따른 우선순위 지정으로 누락 방지</a:t>
            </a:r>
            <a:endParaRPr lang="en-US" altLang="ko-KR" sz="11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마감일에 가까워진 미해결 이슈를 조기에 파악하고 빠른 대응이 가능하도록 관리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65AE06C-87E3-6D62-C0DA-A13AD724CB9B}"/>
              </a:ext>
            </a:extLst>
          </p:cNvPr>
          <p:cNvSpPr/>
          <p:nvPr/>
        </p:nvSpPr>
        <p:spPr>
          <a:xfrm>
            <a:off x="6862043" y="3794455"/>
            <a:ext cx="251721" cy="241956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39" name="그래픽 38" descr="전구 단색으로 채워진">
            <a:extLst>
              <a:ext uri="{FF2B5EF4-FFF2-40B4-BE49-F238E27FC236}">
                <a16:creationId xmlns:a16="http://schemas.microsoft.com/office/drawing/2014/main" id="{34B9DDD4-3FFE-4089-6DF4-8579B3E81C9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307" y="3832749"/>
            <a:ext cx="189193" cy="189193"/>
          </a:xfrm>
          <a:prstGeom prst="rect">
            <a:avLst/>
          </a:prstGeom>
        </p:spPr>
      </p:pic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024AAF9-CA7E-AE82-7B11-D5FCCBB39060}"/>
              </a:ext>
            </a:extLst>
          </p:cNvPr>
          <p:cNvSpPr/>
          <p:nvPr/>
        </p:nvSpPr>
        <p:spPr>
          <a:xfrm>
            <a:off x="6862043" y="5093045"/>
            <a:ext cx="251721" cy="241956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C4205F-479D-13F7-F7B2-FFBBA0320A97}"/>
              </a:ext>
            </a:extLst>
          </p:cNvPr>
          <p:cNvSpPr txBox="1"/>
          <p:nvPr/>
        </p:nvSpPr>
        <p:spPr>
          <a:xfrm>
            <a:off x="7076440" y="5083211"/>
            <a:ext cx="1752403" cy="269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ko-KR" altLang="en-US" sz="1150" dirty="0">
                <a:solidFill>
                  <a:srgbClr val="000000">
                    <a:lumMod val="75000"/>
                    <a:lumOff val="25000"/>
                  </a:srgbClr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구성원 니즈를 반영한 보드 구성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A4D929-CC75-71F1-4D98-D707D62CDAF5}"/>
              </a:ext>
            </a:extLst>
          </p:cNvPr>
          <p:cNvSpPr txBox="1"/>
          <p:nvPr/>
        </p:nvSpPr>
        <p:spPr>
          <a:xfrm>
            <a:off x="6782409" y="5343787"/>
            <a:ext cx="4115229" cy="570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부서별로 희망하는 협업 툴 세팅이 달라 요구사항에 맞춰 아사나 프로젝트 구성</a:t>
            </a:r>
            <a:endParaRPr lang="en-US" altLang="ko-KR" sz="11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무분별한 수정으로 협업자의 혼란 방지를 위해 전사 대상 협업 툴 수정 관련 안내 진행</a:t>
            </a:r>
            <a:endParaRPr lang="en-US" altLang="ko-KR" sz="11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4" name="그래픽 43" descr="전구 단색으로 채워진">
            <a:extLst>
              <a:ext uri="{FF2B5EF4-FFF2-40B4-BE49-F238E27FC236}">
                <a16:creationId xmlns:a16="http://schemas.microsoft.com/office/drawing/2014/main" id="{CD2F11CC-57F9-FCD3-D0D4-4632816620D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307" y="5118719"/>
            <a:ext cx="189193" cy="1891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2F79AD-5E18-DC51-D8F4-5D2D9F7D470F}"/>
              </a:ext>
            </a:extLst>
          </p:cNvPr>
          <p:cNvSpPr txBox="1"/>
          <p:nvPr/>
        </p:nvSpPr>
        <p:spPr>
          <a:xfrm>
            <a:off x="465138" y="706566"/>
            <a:ext cx="479732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프로젝트 관리 방식 </a:t>
            </a: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: </a:t>
            </a:r>
            <a:r>
              <a:rPr lang="ko-KR" altLang="en-US" sz="26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협업 도구 고도화 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0D9E00-D478-EFCB-B24E-2AEC61D03887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언디셈버</a:t>
            </a:r>
            <a:r>
              <a:rPr lang="ko-KR" altLang="en-US" dirty="0">
                <a:solidFill>
                  <a:srgbClr val="000000"/>
                </a:solidFill>
              </a:rPr>
              <a:t> 라이브 서비스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1436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C7AB1-C15B-59C2-993F-425444B79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3C3931D-C334-BD5D-6973-399686FE7FE0}"/>
              </a:ext>
            </a:extLst>
          </p:cNvPr>
          <p:cNvSpPr/>
          <p:nvPr/>
        </p:nvSpPr>
        <p:spPr>
          <a:xfrm>
            <a:off x="515938" y="2086010"/>
            <a:ext cx="5580062" cy="2485987"/>
          </a:xfrm>
          <a:prstGeom prst="roundRect">
            <a:avLst>
              <a:gd name="adj" fmla="val 10755"/>
            </a:avLst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0F3427-D23F-5489-3ADE-621564FB1852}"/>
              </a:ext>
            </a:extLst>
          </p:cNvPr>
          <p:cNvSpPr txBox="1"/>
          <p:nvPr/>
        </p:nvSpPr>
        <p:spPr>
          <a:xfrm>
            <a:off x="474662" y="1124307"/>
            <a:ext cx="6639102" cy="679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35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리소스는 스프레드 시트를 통해 관리하였으며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 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형상 관리에서 </a:t>
            </a:r>
            <a:r>
              <a:rPr lang="ko-KR" altLang="en-US" dirty="0" err="1">
                <a:solidFill>
                  <a:srgbClr val="000000">
                    <a:lumMod val="65000"/>
                    <a:lumOff val="35000"/>
                  </a:srgbClr>
                </a:solidFill>
              </a:rPr>
              <a:t>에셋과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 비교하여 리소스 버전을 관리하였습니다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또한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리소스 명 규약을 통해 중복 혹은 누락된 리소스명에 대한 관리를 추가로 진행하였습니다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FFBF6916-9A5A-875B-37F7-71F48C25B13F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125363C-A9E1-70D5-B687-68D29BFD4335}"/>
              </a:ext>
            </a:extLst>
          </p:cNvPr>
          <p:cNvSpPr/>
          <p:nvPr/>
        </p:nvSpPr>
        <p:spPr>
          <a:xfrm>
            <a:off x="529174" y="1957198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D71D10-4102-5BD4-22DA-BC21A73AEF1F}"/>
              </a:ext>
            </a:extLst>
          </p:cNvPr>
          <p:cNvSpPr txBox="1"/>
          <p:nvPr/>
        </p:nvSpPr>
        <p:spPr>
          <a:xfrm>
            <a:off x="460641" y="1957419"/>
            <a:ext cx="876804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문서 이미지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69483C7-829E-40B4-A46A-AB02C3576110}"/>
              </a:ext>
            </a:extLst>
          </p:cNvPr>
          <p:cNvSpPr/>
          <p:nvPr/>
        </p:nvSpPr>
        <p:spPr>
          <a:xfrm>
            <a:off x="515938" y="4860235"/>
            <a:ext cx="5580062" cy="1485004"/>
          </a:xfrm>
          <a:prstGeom prst="roundRect">
            <a:avLst>
              <a:gd name="adj" fmla="val 10553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52F8711-EDB4-AAB8-EF9F-8CA9332C22CF}"/>
              </a:ext>
            </a:extLst>
          </p:cNvPr>
          <p:cNvSpPr/>
          <p:nvPr/>
        </p:nvSpPr>
        <p:spPr>
          <a:xfrm>
            <a:off x="529174" y="4734399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C020D2-6DE0-B4E7-D7A7-97777C253DC5}"/>
              </a:ext>
            </a:extLst>
          </p:cNvPr>
          <p:cNvSpPr txBox="1"/>
          <p:nvPr/>
        </p:nvSpPr>
        <p:spPr>
          <a:xfrm>
            <a:off x="460641" y="4734620"/>
            <a:ext cx="876804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활용 방안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1C5DD5-F56C-ECFF-554C-35D9958F0975}"/>
              </a:ext>
            </a:extLst>
          </p:cNvPr>
          <p:cNvSpPr txBox="1"/>
          <p:nvPr/>
        </p:nvSpPr>
        <p:spPr>
          <a:xfrm>
            <a:off x="701789" y="5086025"/>
            <a:ext cx="5208478" cy="824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기획 발주 이후 제작된 아트 리소스에 대한 경로 지정 및 리소스명 설정을 관리하는 문서입니다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리소스명은 기획팀에서 작명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10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에셋은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지정한 </a:t>
            </a:r>
            <a:r>
              <a:rPr lang="ko-KR" altLang="en-US" sz="110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공유폴더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경로에 저장하여 타 부서에서도 쉽게 조회할 수 있도록</a:t>
            </a:r>
            <a:endParaRPr lang="en-US" altLang="ko-KR" sz="11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규약을 정하였습니다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86D0902-F321-272B-36F3-80A005B0A3F8}"/>
              </a:ext>
            </a:extLst>
          </p:cNvPr>
          <p:cNvSpPr/>
          <p:nvPr/>
        </p:nvSpPr>
        <p:spPr>
          <a:xfrm>
            <a:off x="6543040" y="2058944"/>
            <a:ext cx="5133023" cy="4259229"/>
          </a:xfrm>
          <a:prstGeom prst="roundRect">
            <a:avLst>
              <a:gd name="adj" fmla="val 6498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170B334-59B3-3F31-C6DE-5A9EC789A3F7}"/>
              </a:ext>
            </a:extLst>
          </p:cNvPr>
          <p:cNvSpPr/>
          <p:nvPr/>
        </p:nvSpPr>
        <p:spPr>
          <a:xfrm>
            <a:off x="6623027" y="1957198"/>
            <a:ext cx="906827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820504-86C8-0E35-9BE7-7B55D98C959A}"/>
              </a:ext>
            </a:extLst>
          </p:cNvPr>
          <p:cNvSpPr txBox="1"/>
          <p:nvPr/>
        </p:nvSpPr>
        <p:spPr>
          <a:xfrm>
            <a:off x="6543040" y="1957419"/>
            <a:ext cx="10668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핵심 기능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333C05-F897-2151-F80D-C3D6887640BD}"/>
              </a:ext>
            </a:extLst>
          </p:cNvPr>
          <p:cNvSpPr txBox="1"/>
          <p:nvPr/>
        </p:nvSpPr>
        <p:spPr>
          <a:xfrm>
            <a:off x="7085821" y="2473644"/>
            <a:ext cx="1276311" cy="269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업무별 담당 부서 지정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EAB40A-B633-2B4E-5145-AAFE1122BCF4}"/>
              </a:ext>
            </a:extLst>
          </p:cNvPr>
          <p:cNvSpPr txBox="1"/>
          <p:nvPr/>
        </p:nvSpPr>
        <p:spPr>
          <a:xfrm>
            <a:off x="6782409" y="2745464"/>
            <a:ext cx="3877985" cy="570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문서 내에서도 업무에 따라 담당하는 부서가 달라 문제 발생 시 빠른 대처를 위해</a:t>
            </a:r>
            <a:endParaRPr lang="en-US" altLang="ko-KR" sz="11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담당 부서에 대해 기입하여 관리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0847BCB3-0D19-A59E-A86F-895E2B288F49}"/>
              </a:ext>
            </a:extLst>
          </p:cNvPr>
          <p:cNvSpPr/>
          <p:nvPr/>
        </p:nvSpPr>
        <p:spPr>
          <a:xfrm>
            <a:off x="6862043" y="2494015"/>
            <a:ext cx="251721" cy="241956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34" name="그래픽 33" descr="전구 단색으로 채워진">
            <a:extLst>
              <a:ext uri="{FF2B5EF4-FFF2-40B4-BE49-F238E27FC236}">
                <a16:creationId xmlns:a16="http://schemas.microsoft.com/office/drawing/2014/main" id="{DA45A7DD-EB87-FFD8-6B80-4C3B076C752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307" y="2520396"/>
            <a:ext cx="189193" cy="18919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A4E09C5-3AC4-FECA-0F2F-39A8905CE1C3}"/>
              </a:ext>
            </a:extLst>
          </p:cNvPr>
          <p:cNvSpPr txBox="1"/>
          <p:nvPr/>
        </p:nvSpPr>
        <p:spPr>
          <a:xfrm>
            <a:off x="7113764" y="3782664"/>
            <a:ext cx="1500732" cy="269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리소스 업데이트 버전 기입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419200-B3BB-044E-BA59-73329FF619FC}"/>
              </a:ext>
            </a:extLst>
          </p:cNvPr>
          <p:cNvSpPr txBox="1"/>
          <p:nvPr/>
        </p:nvSpPr>
        <p:spPr>
          <a:xfrm>
            <a:off x="6782409" y="4045904"/>
            <a:ext cx="4144083" cy="570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제작한 리소스가 어떤 빌드 버전에 추가되었는지 추적을 위해 업데이트 시점별로 분류</a:t>
            </a:r>
            <a:endParaRPr lang="en-US" altLang="ko-KR" sz="11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이를 활용하여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항후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업데이트 시 컨셉 반영 등의 업무에 참고하여 리소스 제작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8D0F9C4-0A6E-A5C9-7119-BE2EE9487E7A}"/>
              </a:ext>
            </a:extLst>
          </p:cNvPr>
          <p:cNvSpPr/>
          <p:nvPr/>
        </p:nvSpPr>
        <p:spPr>
          <a:xfrm>
            <a:off x="6862043" y="3794455"/>
            <a:ext cx="251721" cy="241956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39" name="그래픽 38" descr="전구 단색으로 채워진">
            <a:extLst>
              <a:ext uri="{FF2B5EF4-FFF2-40B4-BE49-F238E27FC236}">
                <a16:creationId xmlns:a16="http://schemas.microsoft.com/office/drawing/2014/main" id="{15B9D6F7-E037-0880-628A-79754EFCF34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307" y="3832749"/>
            <a:ext cx="189193" cy="189193"/>
          </a:xfrm>
          <a:prstGeom prst="rect">
            <a:avLst/>
          </a:prstGeom>
        </p:spPr>
      </p:pic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0004FC2-0983-6E74-5535-89A45148B3C5}"/>
              </a:ext>
            </a:extLst>
          </p:cNvPr>
          <p:cNvSpPr/>
          <p:nvPr/>
        </p:nvSpPr>
        <p:spPr>
          <a:xfrm>
            <a:off x="6862043" y="5093045"/>
            <a:ext cx="251721" cy="241956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961DE3-7448-A3B3-09F2-A799A2483290}"/>
              </a:ext>
            </a:extLst>
          </p:cNvPr>
          <p:cNvSpPr txBox="1"/>
          <p:nvPr/>
        </p:nvSpPr>
        <p:spPr>
          <a:xfrm>
            <a:off x="7085821" y="5063321"/>
            <a:ext cx="1164101" cy="269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ko-KR" altLang="en-US" sz="1150" dirty="0">
                <a:solidFill>
                  <a:srgbClr val="000000">
                    <a:lumMod val="75000"/>
                    <a:lumOff val="25000"/>
                  </a:srgbClr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리소스 경로 통일화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9A3B37-F2BB-3313-E4E9-7648ADEE0DD7}"/>
              </a:ext>
            </a:extLst>
          </p:cNvPr>
          <p:cNvSpPr txBox="1"/>
          <p:nvPr/>
        </p:nvSpPr>
        <p:spPr>
          <a:xfrm>
            <a:off x="6782409" y="5343787"/>
            <a:ext cx="4487126" cy="570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개인적으로 리소스를 관리하는 구성원이 있어 타 인원이 조회가 안되거나 유실되는 상황 발생</a:t>
            </a:r>
            <a:endParaRPr lang="en-US" altLang="ko-KR" sz="11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공유 폴더를 개설하여 각 파트별로 폴더를 나누고 리소스 타입별로 분류하여 관리</a:t>
            </a:r>
            <a:endParaRPr lang="en-US" altLang="ko-KR" sz="11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4" name="그래픽 43" descr="전구 단색으로 채워진">
            <a:extLst>
              <a:ext uri="{FF2B5EF4-FFF2-40B4-BE49-F238E27FC236}">
                <a16:creationId xmlns:a16="http://schemas.microsoft.com/office/drawing/2014/main" id="{893870BE-4889-7D60-3CAC-7ECEB6A4A65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307" y="5118719"/>
            <a:ext cx="189193" cy="1891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BBE282-2D0E-14DE-DD78-3BD63A96B749}"/>
              </a:ext>
            </a:extLst>
          </p:cNvPr>
          <p:cNvSpPr txBox="1"/>
          <p:nvPr/>
        </p:nvSpPr>
        <p:spPr>
          <a:xfrm>
            <a:off x="465138" y="706566"/>
            <a:ext cx="479732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프로젝트 관리 방식 </a:t>
            </a: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: </a:t>
            </a: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리소스 관리</a:t>
            </a:r>
            <a:r>
              <a:rPr lang="ko-KR" altLang="en-US" sz="26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 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16E56-7DD5-839A-3E20-04DCEF6A62F4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언디셈버</a:t>
            </a:r>
            <a:r>
              <a:rPr lang="ko-KR" altLang="en-US" dirty="0">
                <a:solidFill>
                  <a:srgbClr val="000000"/>
                </a:solidFill>
              </a:rPr>
              <a:t> 라이브 서비스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7608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6D9A81F5-6B1D-F02A-111A-65DCFF8D4F23}"/>
              </a:ext>
            </a:extLst>
          </p:cNvPr>
          <p:cNvSpPr/>
          <p:nvPr/>
        </p:nvSpPr>
        <p:spPr>
          <a:xfrm flipH="1">
            <a:off x="7732837" y="-9938"/>
            <a:ext cx="4469102" cy="4841534"/>
          </a:xfrm>
          <a:custGeom>
            <a:avLst/>
            <a:gdLst>
              <a:gd name="connsiteX0" fmla="*/ 0 w 4469102"/>
              <a:gd name="connsiteY0" fmla="*/ 0 h 4834355"/>
              <a:gd name="connsiteX1" fmla="*/ 4469102 w 4469102"/>
              <a:gd name="connsiteY1" fmla="*/ 0 h 4834355"/>
              <a:gd name="connsiteX2" fmla="*/ 4469102 w 4469102"/>
              <a:gd name="connsiteY2" fmla="*/ 4574363 h 4834355"/>
              <a:gd name="connsiteX3" fmla="*/ 4209110 w 4469102"/>
              <a:gd name="connsiteY3" fmla="*/ 4834355 h 4834355"/>
              <a:gd name="connsiteX4" fmla="*/ 25909 w 4469102"/>
              <a:gd name="connsiteY4" fmla="*/ 4834355 h 4834355"/>
              <a:gd name="connsiteX5" fmla="*/ 0 w 4469102"/>
              <a:gd name="connsiteY5" fmla="*/ 4831743 h 4834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9102" h="4834355">
                <a:moveTo>
                  <a:pt x="0" y="0"/>
                </a:moveTo>
                <a:lnTo>
                  <a:pt x="4469102" y="0"/>
                </a:lnTo>
                <a:lnTo>
                  <a:pt x="4469102" y="4574363"/>
                </a:lnTo>
                <a:cubicBezTo>
                  <a:pt x="4469102" y="4717953"/>
                  <a:pt x="4352700" y="4834355"/>
                  <a:pt x="4209110" y="4834355"/>
                </a:cubicBezTo>
                <a:lnTo>
                  <a:pt x="25909" y="4834355"/>
                </a:lnTo>
                <a:lnTo>
                  <a:pt x="0" y="48317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81A4920-A4D5-634B-1324-3A6057F07E3E}"/>
              </a:ext>
            </a:extLst>
          </p:cNvPr>
          <p:cNvSpPr/>
          <p:nvPr/>
        </p:nvSpPr>
        <p:spPr>
          <a:xfrm>
            <a:off x="1067561" y="2862034"/>
            <a:ext cx="168965" cy="407937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163666A-F7D8-317B-5964-D931055E35EC}"/>
              </a:ext>
            </a:extLst>
          </p:cNvPr>
          <p:cNvSpPr/>
          <p:nvPr/>
        </p:nvSpPr>
        <p:spPr>
          <a:xfrm>
            <a:off x="1067561" y="3965712"/>
            <a:ext cx="168965" cy="407937"/>
          </a:xfrm>
          <a:prstGeom prst="rect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6ACC134C-C432-59FF-A21B-9A998E359CF5}"/>
              </a:ext>
            </a:extLst>
          </p:cNvPr>
          <p:cNvSpPr/>
          <p:nvPr/>
        </p:nvSpPr>
        <p:spPr>
          <a:xfrm>
            <a:off x="975176" y="5077572"/>
            <a:ext cx="346728" cy="432000"/>
          </a:xfrm>
          <a:prstGeom prst="downArrow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B0C61-0C74-6F63-8208-59762015A1AA}"/>
              </a:ext>
            </a:extLst>
          </p:cNvPr>
          <p:cNvSpPr txBox="1"/>
          <p:nvPr/>
        </p:nvSpPr>
        <p:spPr>
          <a:xfrm>
            <a:off x="474664" y="1124970"/>
            <a:ext cx="4819244" cy="679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35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개요 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: 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각 팀별 이슈 공유 창구 부족으로 인한 주간 미팅 제안</a:t>
            </a:r>
            <a:endParaRPr lang="en-US" altLang="ko-KR" dirty="0">
              <a:solidFill>
                <a:srgbClr val="000000">
                  <a:lumMod val="65000"/>
                  <a:lumOff val="35000"/>
                </a:srgbClr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결과 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타 부서의 도움이 필요한 이슈의 빠른 내용 파악 및 해결에 기여</a:t>
            </a:r>
          </a:p>
        </p:txBody>
      </p: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E3DED652-1CD0-4D25-78AB-3FE2D49E8B36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F3CF8D8A-5680-34E7-1A1C-5E02DDE06E66}"/>
              </a:ext>
            </a:extLst>
          </p:cNvPr>
          <p:cNvSpPr/>
          <p:nvPr/>
        </p:nvSpPr>
        <p:spPr>
          <a:xfrm>
            <a:off x="724660" y="2056963"/>
            <a:ext cx="854766" cy="854766"/>
          </a:xfrm>
          <a:prstGeom prst="donut">
            <a:avLst>
              <a:gd name="adj" fmla="val 18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381C59D-5E92-9C48-A6AE-63556722DBCF}"/>
              </a:ext>
            </a:extLst>
          </p:cNvPr>
          <p:cNvSpPr/>
          <p:nvPr/>
        </p:nvSpPr>
        <p:spPr>
          <a:xfrm>
            <a:off x="1451113" y="2253514"/>
            <a:ext cx="1729409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2" name="원형: 비어 있음 11">
            <a:extLst>
              <a:ext uri="{FF2B5EF4-FFF2-40B4-BE49-F238E27FC236}">
                <a16:creationId xmlns:a16="http://schemas.microsoft.com/office/drawing/2014/main" id="{8A7F3810-CCC0-C998-4D4F-CFDB5B59DF11}"/>
              </a:ext>
            </a:extLst>
          </p:cNvPr>
          <p:cNvSpPr/>
          <p:nvPr/>
        </p:nvSpPr>
        <p:spPr>
          <a:xfrm>
            <a:off x="724660" y="3199812"/>
            <a:ext cx="854766" cy="854766"/>
          </a:xfrm>
          <a:prstGeom prst="donut">
            <a:avLst>
              <a:gd name="adj" fmla="val 1898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0A1356B-1585-969F-B6BB-8766E2ACBA72}"/>
              </a:ext>
            </a:extLst>
          </p:cNvPr>
          <p:cNvSpPr/>
          <p:nvPr/>
        </p:nvSpPr>
        <p:spPr>
          <a:xfrm>
            <a:off x="1451113" y="3396363"/>
            <a:ext cx="1729409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5" name="원형: 비어 있음 14">
            <a:extLst>
              <a:ext uri="{FF2B5EF4-FFF2-40B4-BE49-F238E27FC236}">
                <a16:creationId xmlns:a16="http://schemas.microsoft.com/office/drawing/2014/main" id="{907D7C4E-FB91-9DB6-583F-8FA78D8F313E}"/>
              </a:ext>
            </a:extLst>
          </p:cNvPr>
          <p:cNvSpPr/>
          <p:nvPr/>
        </p:nvSpPr>
        <p:spPr>
          <a:xfrm>
            <a:off x="724660" y="4342661"/>
            <a:ext cx="854766" cy="854766"/>
          </a:xfrm>
          <a:prstGeom prst="donut">
            <a:avLst>
              <a:gd name="adj" fmla="val 1898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4EBCCD-6DEA-2F6A-FB11-BD4F3533A880}"/>
              </a:ext>
            </a:extLst>
          </p:cNvPr>
          <p:cNvSpPr/>
          <p:nvPr/>
        </p:nvSpPr>
        <p:spPr>
          <a:xfrm>
            <a:off x="1451113" y="4539212"/>
            <a:ext cx="1729409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8" name="원형: 비어 있음 17">
            <a:extLst>
              <a:ext uri="{FF2B5EF4-FFF2-40B4-BE49-F238E27FC236}">
                <a16:creationId xmlns:a16="http://schemas.microsoft.com/office/drawing/2014/main" id="{389466D4-188C-DC60-43C9-83E9B0763F1B}"/>
              </a:ext>
            </a:extLst>
          </p:cNvPr>
          <p:cNvSpPr/>
          <p:nvPr/>
        </p:nvSpPr>
        <p:spPr>
          <a:xfrm>
            <a:off x="724660" y="5485509"/>
            <a:ext cx="854766" cy="854766"/>
          </a:xfrm>
          <a:prstGeom prst="donut">
            <a:avLst>
              <a:gd name="adj" fmla="val 18989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8071772-979A-9D1F-8247-05319C3866C7}"/>
              </a:ext>
            </a:extLst>
          </p:cNvPr>
          <p:cNvSpPr/>
          <p:nvPr/>
        </p:nvSpPr>
        <p:spPr>
          <a:xfrm>
            <a:off x="1451113" y="5682060"/>
            <a:ext cx="1729409" cy="46166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9CA32F-F8C1-030B-ED9E-836DE9E90251}"/>
              </a:ext>
            </a:extLst>
          </p:cNvPr>
          <p:cNvSpPr txBox="1"/>
          <p:nvPr/>
        </p:nvSpPr>
        <p:spPr>
          <a:xfrm>
            <a:off x="3269596" y="2177421"/>
            <a:ext cx="3278462" cy="592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팀별로 이슈에 대한 공유가 되지 않아 메이저 이슈 발생 시 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이슈 파악에 많은 시간이 소요되고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일정 산정에도 어려움이 발생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86C86B-767B-C0AF-48C9-C74F759F5D4D}"/>
              </a:ext>
            </a:extLst>
          </p:cNvPr>
          <p:cNvSpPr txBox="1"/>
          <p:nvPr/>
        </p:nvSpPr>
        <p:spPr>
          <a:xfrm>
            <a:off x="3269596" y="3320270"/>
            <a:ext cx="2994731" cy="592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PD, PM, </a:t>
            </a: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각 팀장 대상으로 주 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회 주간 미팅 진행을 제안</a:t>
            </a:r>
            <a:endParaRPr lang="en-US" altLang="ko-KR" sz="115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일시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매주 월요일 오전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11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D70B3C-76D7-5FB1-A223-79CE90A4AEFA}"/>
              </a:ext>
            </a:extLst>
          </p:cNvPr>
          <p:cNvSpPr txBox="1"/>
          <p:nvPr/>
        </p:nvSpPr>
        <p:spPr>
          <a:xfrm>
            <a:off x="3269596" y="4463119"/>
            <a:ext cx="3332964" cy="592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주간 미팅의 주요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아젠다는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타 부서 작업과 연계되거나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특정 작업으로 인해 발생 가능한 사이드 이펙트에 대한 사전 공지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72DEEE-0DD6-63AD-F894-00C2E0D30497}"/>
              </a:ext>
            </a:extLst>
          </p:cNvPr>
          <p:cNvSpPr txBox="1"/>
          <p:nvPr/>
        </p:nvSpPr>
        <p:spPr>
          <a:xfrm>
            <a:off x="3269596" y="5605967"/>
            <a:ext cx="2670924" cy="592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주간 미팅을 통해 사전에 이슈를 공유하고 인지하여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이슈 발생 시 원활한 소통 및 빠른 이슈 처리가 가능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BD2FD5-9688-5646-20C1-6B3A3B6B7ED4}"/>
              </a:ext>
            </a:extLst>
          </p:cNvPr>
          <p:cNvSpPr txBox="1"/>
          <p:nvPr/>
        </p:nvSpPr>
        <p:spPr>
          <a:xfrm>
            <a:off x="1574007" y="2345847"/>
            <a:ext cx="615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단계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1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85560E-0D57-7D0C-A786-2A7BA28FA01F}"/>
              </a:ext>
            </a:extLst>
          </p:cNvPr>
          <p:cNvSpPr txBox="1"/>
          <p:nvPr/>
        </p:nvSpPr>
        <p:spPr>
          <a:xfrm>
            <a:off x="1574007" y="3488696"/>
            <a:ext cx="615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단계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2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EC5C0E-2864-1348-D13B-5213A2D5016A}"/>
              </a:ext>
            </a:extLst>
          </p:cNvPr>
          <p:cNvSpPr txBox="1"/>
          <p:nvPr/>
        </p:nvSpPr>
        <p:spPr>
          <a:xfrm>
            <a:off x="1574007" y="4631545"/>
            <a:ext cx="615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단계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3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4986D6-6B0E-1978-F6FD-055DB6CD7DB9}"/>
              </a:ext>
            </a:extLst>
          </p:cNvPr>
          <p:cNvSpPr txBox="1"/>
          <p:nvPr/>
        </p:nvSpPr>
        <p:spPr>
          <a:xfrm>
            <a:off x="1574007" y="5774393"/>
            <a:ext cx="615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단계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4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</p:txBody>
      </p:sp>
      <p:pic>
        <p:nvPicPr>
          <p:cNvPr id="36" name="그래픽 35" descr="이사회 단색으로 채워진">
            <a:extLst>
              <a:ext uri="{FF2B5EF4-FFF2-40B4-BE49-F238E27FC236}">
                <a16:creationId xmlns:a16="http://schemas.microsoft.com/office/drawing/2014/main" id="{E610C0BA-69DE-894C-47F4-05F72376DF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83943" y="3459095"/>
            <a:ext cx="336200" cy="336200"/>
          </a:xfrm>
          <a:prstGeom prst="rect">
            <a:avLst/>
          </a:prstGeom>
        </p:spPr>
      </p:pic>
      <p:pic>
        <p:nvPicPr>
          <p:cNvPr id="38" name="그래픽 37" descr="체크리스트 단색으로 채워진">
            <a:extLst>
              <a:ext uri="{FF2B5EF4-FFF2-40B4-BE49-F238E27FC236}">
                <a16:creationId xmlns:a16="http://schemas.microsoft.com/office/drawing/2014/main" id="{F6FD5E7A-1AB7-0DF6-1D17-28A46F6B67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83943" y="4601944"/>
            <a:ext cx="336200" cy="336200"/>
          </a:xfrm>
          <a:prstGeom prst="rect">
            <a:avLst/>
          </a:prstGeom>
        </p:spPr>
      </p:pic>
      <p:pic>
        <p:nvPicPr>
          <p:cNvPr id="40" name="그래픽 39" descr="아이디어를 가진 사람 단색으로 채워진">
            <a:extLst>
              <a:ext uri="{FF2B5EF4-FFF2-40B4-BE49-F238E27FC236}">
                <a16:creationId xmlns:a16="http://schemas.microsoft.com/office/drawing/2014/main" id="{40E71AAA-B085-0E58-02B9-FB777BE151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83943" y="5744792"/>
            <a:ext cx="336200" cy="336200"/>
          </a:xfrm>
          <a:prstGeom prst="rect">
            <a:avLst/>
          </a:prstGeom>
        </p:spPr>
      </p:pic>
      <p:pic>
        <p:nvPicPr>
          <p:cNvPr id="42" name="그래픽 41" descr="느낌표 단색으로 채워진">
            <a:extLst>
              <a:ext uri="{FF2B5EF4-FFF2-40B4-BE49-F238E27FC236}">
                <a16:creationId xmlns:a16="http://schemas.microsoft.com/office/drawing/2014/main" id="{B5787255-F8EC-8302-4607-9C618E88DB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83943" y="2316246"/>
            <a:ext cx="336200" cy="336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AB379E-0E1A-0194-BA89-829A8E699FD0}"/>
              </a:ext>
            </a:extLst>
          </p:cNvPr>
          <p:cNvSpPr txBox="1"/>
          <p:nvPr/>
        </p:nvSpPr>
        <p:spPr>
          <a:xfrm>
            <a:off x="465138" y="706566"/>
            <a:ext cx="39671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주간 미팅 제안 및 실행 결과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14A236-49CF-74D2-229C-295F994A0C7F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언디셈버</a:t>
            </a:r>
            <a:r>
              <a:rPr lang="ko-KR" altLang="en-US" dirty="0">
                <a:solidFill>
                  <a:srgbClr val="000000"/>
                </a:solidFill>
              </a:rPr>
              <a:t> 라이브 서비스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4" name="그림 개체 틀 3">
            <a:extLst>
              <a:ext uri="{FF2B5EF4-FFF2-40B4-BE49-F238E27FC236}">
                <a16:creationId xmlns:a16="http://schemas.microsoft.com/office/drawing/2014/main" id="{904A6AE6-8D06-6359-E904-AC9A51E7AA9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8" r="27468"/>
          <a:stretch/>
        </p:blipFill>
        <p:spPr>
          <a:xfrm>
            <a:off x="6650038" y="1235075"/>
            <a:ext cx="3819525" cy="5121275"/>
          </a:xfrm>
          <a:custGeom>
            <a:avLst/>
            <a:gdLst>
              <a:gd name="connsiteX0" fmla="*/ 177985 w 3219700"/>
              <a:gd name="connsiteY0" fmla="*/ 0 h 4316412"/>
              <a:gd name="connsiteX1" fmla="*/ 3041715 w 3219700"/>
              <a:gd name="connsiteY1" fmla="*/ 0 h 4316412"/>
              <a:gd name="connsiteX2" fmla="*/ 3219700 w 3219700"/>
              <a:gd name="connsiteY2" fmla="*/ 177985 h 4316412"/>
              <a:gd name="connsiteX3" fmla="*/ 3219700 w 3219700"/>
              <a:gd name="connsiteY3" fmla="*/ 4138427 h 4316412"/>
              <a:gd name="connsiteX4" fmla="*/ 3041715 w 3219700"/>
              <a:gd name="connsiteY4" fmla="*/ 4316412 h 4316412"/>
              <a:gd name="connsiteX5" fmla="*/ 177985 w 3219700"/>
              <a:gd name="connsiteY5" fmla="*/ 4316412 h 4316412"/>
              <a:gd name="connsiteX6" fmla="*/ 0 w 3219700"/>
              <a:gd name="connsiteY6" fmla="*/ 4138427 h 4316412"/>
              <a:gd name="connsiteX7" fmla="*/ 0 w 3219700"/>
              <a:gd name="connsiteY7" fmla="*/ 177985 h 4316412"/>
              <a:gd name="connsiteX8" fmla="*/ 177985 w 3219700"/>
              <a:gd name="connsiteY8" fmla="*/ 0 h 431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19700" h="4316412">
                <a:moveTo>
                  <a:pt x="177985" y="0"/>
                </a:moveTo>
                <a:lnTo>
                  <a:pt x="3041715" y="0"/>
                </a:lnTo>
                <a:cubicBezTo>
                  <a:pt x="3140013" y="0"/>
                  <a:pt x="3219700" y="79687"/>
                  <a:pt x="3219700" y="177985"/>
                </a:cubicBezTo>
                <a:lnTo>
                  <a:pt x="3219700" y="4138427"/>
                </a:lnTo>
                <a:cubicBezTo>
                  <a:pt x="3219700" y="4236725"/>
                  <a:pt x="3140013" y="4316412"/>
                  <a:pt x="3041715" y="4316412"/>
                </a:cubicBezTo>
                <a:lnTo>
                  <a:pt x="177985" y="4316412"/>
                </a:lnTo>
                <a:cubicBezTo>
                  <a:pt x="79687" y="4316412"/>
                  <a:pt x="0" y="4236725"/>
                  <a:pt x="0" y="4138427"/>
                </a:cubicBezTo>
                <a:lnTo>
                  <a:pt x="0" y="177985"/>
                </a:lnTo>
                <a:cubicBezTo>
                  <a:pt x="0" y="79687"/>
                  <a:pt x="79687" y="0"/>
                  <a:pt x="177985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063E9B2-4308-13B7-46CE-2CD3E12733A3}"/>
              </a:ext>
            </a:extLst>
          </p:cNvPr>
          <p:cNvSpPr/>
          <p:nvPr/>
        </p:nvSpPr>
        <p:spPr>
          <a:xfrm>
            <a:off x="9482750" y="1064136"/>
            <a:ext cx="906827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C3DFB9-1934-0023-53C3-ABD5014B1D69}"/>
              </a:ext>
            </a:extLst>
          </p:cNvPr>
          <p:cNvSpPr txBox="1"/>
          <p:nvPr/>
        </p:nvSpPr>
        <p:spPr>
          <a:xfrm>
            <a:off x="9402763" y="1064357"/>
            <a:ext cx="10668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회의록 이미지</a:t>
            </a:r>
          </a:p>
        </p:txBody>
      </p:sp>
    </p:spTree>
    <p:extLst>
      <p:ext uri="{BB962C8B-B14F-4D97-AF65-F5344CB8AC3E}">
        <p14:creationId xmlns:p14="http://schemas.microsoft.com/office/powerpoint/2010/main" val="1555937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B246E93-0A7E-EF9A-EA54-F9B76C64B392}"/>
              </a:ext>
            </a:extLst>
          </p:cNvPr>
          <p:cNvSpPr/>
          <p:nvPr/>
        </p:nvSpPr>
        <p:spPr>
          <a:xfrm>
            <a:off x="476931" y="4303457"/>
            <a:ext cx="4563868" cy="2041779"/>
          </a:xfrm>
          <a:prstGeom prst="roundRect">
            <a:avLst/>
          </a:prstGeom>
          <a:solidFill>
            <a:schemeClr val="bg1">
              <a:alpha val="84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00DE801-0658-299E-C7E7-8CFB8F7E38FE}"/>
              </a:ext>
            </a:extLst>
          </p:cNvPr>
          <p:cNvSpPr/>
          <p:nvPr/>
        </p:nvSpPr>
        <p:spPr>
          <a:xfrm>
            <a:off x="474664" y="2163150"/>
            <a:ext cx="4563868" cy="2041779"/>
          </a:xfrm>
          <a:prstGeom prst="roundRect">
            <a:avLst/>
          </a:prstGeom>
          <a:solidFill>
            <a:schemeClr val="bg1">
              <a:alpha val="84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6" name="그림 개체 틀 5">
            <a:extLst>
              <a:ext uri="{FF2B5EF4-FFF2-40B4-BE49-F238E27FC236}">
                <a16:creationId xmlns:a16="http://schemas.microsoft.com/office/drawing/2014/main" id="{072C2347-98A6-E6E3-21B8-E28E53B97B5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/>
          <a:stretch>
            <a:fillRect/>
          </a:stretch>
        </p:blipFill>
        <p:spPr>
          <a:xfrm>
            <a:off x="5176838" y="4303713"/>
            <a:ext cx="6499225" cy="2041525"/>
          </a:xfrm>
          <a:custGeom>
            <a:avLst/>
            <a:gdLst>
              <a:gd name="connsiteX0" fmla="*/ 340303 w 6498945"/>
              <a:gd name="connsiteY0" fmla="*/ 0 h 2041779"/>
              <a:gd name="connsiteX1" fmla="*/ 6158642 w 6498945"/>
              <a:gd name="connsiteY1" fmla="*/ 0 h 2041779"/>
              <a:gd name="connsiteX2" fmla="*/ 6498945 w 6498945"/>
              <a:gd name="connsiteY2" fmla="*/ 340303 h 2041779"/>
              <a:gd name="connsiteX3" fmla="*/ 6498945 w 6498945"/>
              <a:gd name="connsiteY3" fmla="*/ 1701476 h 2041779"/>
              <a:gd name="connsiteX4" fmla="*/ 6158642 w 6498945"/>
              <a:gd name="connsiteY4" fmla="*/ 2041779 h 2041779"/>
              <a:gd name="connsiteX5" fmla="*/ 340303 w 6498945"/>
              <a:gd name="connsiteY5" fmla="*/ 2041779 h 2041779"/>
              <a:gd name="connsiteX6" fmla="*/ 0 w 6498945"/>
              <a:gd name="connsiteY6" fmla="*/ 1701476 h 2041779"/>
              <a:gd name="connsiteX7" fmla="*/ 0 w 6498945"/>
              <a:gd name="connsiteY7" fmla="*/ 340303 h 2041779"/>
              <a:gd name="connsiteX8" fmla="*/ 340303 w 6498945"/>
              <a:gd name="connsiteY8" fmla="*/ 0 h 204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98945" h="2041779">
                <a:moveTo>
                  <a:pt x="340303" y="0"/>
                </a:moveTo>
                <a:lnTo>
                  <a:pt x="6158642" y="0"/>
                </a:lnTo>
                <a:cubicBezTo>
                  <a:pt x="6346586" y="0"/>
                  <a:pt x="6498945" y="152359"/>
                  <a:pt x="6498945" y="340303"/>
                </a:cubicBezTo>
                <a:lnTo>
                  <a:pt x="6498945" y="1701476"/>
                </a:lnTo>
                <a:cubicBezTo>
                  <a:pt x="6498945" y="1889420"/>
                  <a:pt x="6346586" y="2041779"/>
                  <a:pt x="6158642" y="2041779"/>
                </a:cubicBezTo>
                <a:lnTo>
                  <a:pt x="340303" y="2041779"/>
                </a:lnTo>
                <a:cubicBezTo>
                  <a:pt x="152359" y="2041779"/>
                  <a:pt x="0" y="1889420"/>
                  <a:pt x="0" y="1701476"/>
                </a:cubicBezTo>
                <a:lnTo>
                  <a:pt x="0" y="340303"/>
                </a:lnTo>
                <a:cubicBezTo>
                  <a:pt x="0" y="152359"/>
                  <a:pt x="152359" y="0"/>
                  <a:pt x="340303" y="0"/>
                </a:cubicBezTo>
                <a:close/>
              </a:path>
            </a:pathLst>
          </a:custGeom>
        </p:spPr>
      </p:pic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4EA5DA58-3F70-23E7-A1E5-AE9E1781C33F}"/>
              </a:ext>
            </a:extLst>
          </p:cNvPr>
          <p:cNvSpPr/>
          <p:nvPr/>
        </p:nvSpPr>
        <p:spPr>
          <a:xfrm>
            <a:off x="5177117" y="4303458"/>
            <a:ext cx="6498945" cy="2041779"/>
          </a:xfrm>
          <a:prstGeom prst="roundRect">
            <a:avLst/>
          </a:prstGeom>
          <a:solidFill>
            <a:schemeClr val="accent2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10" name="그림 개체 틀 9">
            <a:extLst>
              <a:ext uri="{FF2B5EF4-FFF2-40B4-BE49-F238E27FC236}">
                <a16:creationId xmlns:a16="http://schemas.microsoft.com/office/drawing/2014/main" id="{89A25549-F088-40BC-B30E-836A2B7FEFB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" r="1647"/>
          <a:stretch/>
        </p:blipFill>
        <p:spPr>
          <a:xfrm>
            <a:off x="5176838" y="2162175"/>
            <a:ext cx="6499225" cy="2043113"/>
          </a:xfrm>
          <a:custGeom>
            <a:avLst/>
            <a:gdLst>
              <a:gd name="connsiteX0" fmla="*/ 340303 w 6498945"/>
              <a:gd name="connsiteY0" fmla="*/ 0 h 2041779"/>
              <a:gd name="connsiteX1" fmla="*/ 6158642 w 6498945"/>
              <a:gd name="connsiteY1" fmla="*/ 0 h 2041779"/>
              <a:gd name="connsiteX2" fmla="*/ 6498945 w 6498945"/>
              <a:gd name="connsiteY2" fmla="*/ 340303 h 2041779"/>
              <a:gd name="connsiteX3" fmla="*/ 6498945 w 6498945"/>
              <a:gd name="connsiteY3" fmla="*/ 1701476 h 2041779"/>
              <a:gd name="connsiteX4" fmla="*/ 6158642 w 6498945"/>
              <a:gd name="connsiteY4" fmla="*/ 2041779 h 2041779"/>
              <a:gd name="connsiteX5" fmla="*/ 340303 w 6498945"/>
              <a:gd name="connsiteY5" fmla="*/ 2041779 h 2041779"/>
              <a:gd name="connsiteX6" fmla="*/ 0 w 6498945"/>
              <a:gd name="connsiteY6" fmla="*/ 1701476 h 2041779"/>
              <a:gd name="connsiteX7" fmla="*/ 0 w 6498945"/>
              <a:gd name="connsiteY7" fmla="*/ 340303 h 2041779"/>
              <a:gd name="connsiteX8" fmla="*/ 340303 w 6498945"/>
              <a:gd name="connsiteY8" fmla="*/ 0 h 204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98945" h="2041779">
                <a:moveTo>
                  <a:pt x="340303" y="0"/>
                </a:moveTo>
                <a:lnTo>
                  <a:pt x="6158642" y="0"/>
                </a:lnTo>
                <a:cubicBezTo>
                  <a:pt x="6346586" y="0"/>
                  <a:pt x="6498945" y="152359"/>
                  <a:pt x="6498945" y="340303"/>
                </a:cubicBezTo>
                <a:lnTo>
                  <a:pt x="6498945" y="1701476"/>
                </a:lnTo>
                <a:cubicBezTo>
                  <a:pt x="6498945" y="1889420"/>
                  <a:pt x="6346586" y="2041779"/>
                  <a:pt x="6158642" y="2041779"/>
                </a:cubicBezTo>
                <a:lnTo>
                  <a:pt x="340303" y="2041779"/>
                </a:lnTo>
                <a:cubicBezTo>
                  <a:pt x="152359" y="2041779"/>
                  <a:pt x="0" y="1889420"/>
                  <a:pt x="0" y="1701476"/>
                </a:cubicBezTo>
                <a:lnTo>
                  <a:pt x="0" y="340303"/>
                </a:lnTo>
                <a:cubicBezTo>
                  <a:pt x="0" y="152359"/>
                  <a:pt x="152359" y="0"/>
                  <a:pt x="340303" y="0"/>
                </a:cubicBezTo>
                <a:close/>
              </a:path>
            </a:pathLst>
          </a:custGeom>
        </p:spPr>
      </p:pic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A01ABEE9-DF9F-B55F-A2AE-1680E1C0911A}"/>
              </a:ext>
            </a:extLst>
          </p:cNvPr>
          <p:cNvSpPr/>
          <p:nvPr/>
        </p:nvSpPr>
        <p:spPr>
          <a:xfrm>
            <a:off x="5177116" y="2162792"/>
            <a:ext cx="6498945" cy="2041779"/>
          </a:xfrm>
          <a:prstGeom prst="roundRect">
            <a:avLst/>
          </a:prstGeom>
          <a:solidFill>
            <a:schemeClr val="accent2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F14153-2984-06CD-DFB3-2319E5E8A809}"/>
              </a:ext>
            </a:extLst>
          </p:cNvPr>
          <p:cNvSpPr txBox="1"/>
          <p:nvPr/>
        </p:nvSpPr>
        <p:spPr>
          <a:xfrm>
            <a:off x="725052" y="2270682"/>
            <a:ext cx="876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As-Is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  <a:alpha val="80000"/>
                </a:scheme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D29B33-B9BB-A176-20C7-2AE4101A365F}"/>
              </a:ext>
            </a:extLst>
          </p:cNvPr>
          <p:cNvSpPr txBox="1"/>
          <p:nvPr/>
        </p:nvSpPr>
        <p:spPr>
          <a:xfrm>
            <a:off x="1164215" y="2592836"/>
            <a:ext cx="3528000" cy="559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250" dirty="0">
                <a:solidFill>
                  <a:srgbClr val="262626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관리되지 않는 이슈</a:t>
            </a:r>
            <a:endParaRPr kumimoji="0" lang="ko-KR" altLang="en-US" sz="22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6E46AF-1580-8DE6-1D38-694E6F7C124D}"/>
              </a:ext>
            </a:extLst>
          </p:cNvPr>
          <p:cNvSpPr txBox="1"/>
          <p:nvPr/>
        </p:nvSpPr>
        <p:spPr>
          <a:xfrm>
            <a:off x="738498" y="3275511"/>
            <a:ext cx="2725426" cy="6356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라이브 및 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QA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리포팅 이슈들의 처리 우선순위가</a:t>
            </a:r>
            <a:endParaRPr kumimoji="0" lang="en-US" altLang="ko-KR" sz="12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정해지지 않아 다수의 이슈들이 방치되었음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  <a:endParaRPr kumimoji="0" lang="ko-KR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13A6CA-679A-CD21-99D3-CC0679E56C9E}"/>
              </a:ext>
            </a:extLst>
          </p:cNvPr>
          <p:cNvSpPr txBox="1"/>
          <p:nvPr/>
        </p:nvSpPr>
        <p:spPr>
          <a:xfrm>
            <a:off x="1164215" y="4755272"/>
            <a:ext cx="3528000" cy="559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리포팅 이슈에 대한 처리 방안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76794D-E22B-53CB-9BA7-E196722B652C}"/>
              </a:ext>
            </a:extLst>
          </p:cNvPr>
          <p:cNvSpPr txBox="1"/>
          <p:nvPr/>
        </p:nvSpPr>
        <p:spPr>
          <a:xfrm>
            <a:off x="738498" y="5437947"/>
            <a:ext cx="2994731" cy="6356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QA </a:t>
            </a:r>
            <a:r>
              <a:rPr lang="ko-KR" altLang="en-US" sz="12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및 운영팀에서 리포팅 되는 이슈들의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처리 방안이</a:t>
            </a:r>
            <a:endParaRPr kumimoji="0" lang="en-US" altLang="ko-KR" sz="12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모호하고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이슈 분류도 잘 이루어지지 않았음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  <a:endParaRPr kumimoji="0" lang="ko-KR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0F204C-046D-D8B6-9109-36E6C6FB3F28}"/>
              </a:ext>
            </a:extLst>
          </p:cNvPr>
          <p:cNvSpPr txBox="1"/>
          <p:nvPr/>
        </p:nvSpPr>
        <p:spPr>
          <a:xfrm>
            <a:off x="725052" y="4407021"/>
            <a:ext cx="876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As-Is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  <a:alpha val="80000"/>
                </a:scheme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CC6AAF-4FE6-0295-48BA-838BE2B971E8}"/>
              </a:ext>
            </a:extLst>
          </p:cNvPr>
          <p:cNvSpPr txBox="1"/>
          <p:nvPr/>
        </p:nvSpPr>
        <p:spPr>
          <a:xfrm>
            <a:off x="474663" y="1124307"/>
            <a:ext cx="4957764" cy="679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35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이슈 상태 및 우선순위에 대한 체계를 확립 </a:t>
            </a:r>
            <a:endParaRPr kumimoji="0" lang="en-US" altLang="ko-KR" sz="13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발생하는 이슈 처리에 대한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 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프로세스를 수립</a:t>
            </a: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3106D4DD-7560-EA26-931E-EFEAEDA3A7DB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DF06A8-4C7F-07AD-2FDC-EE54C43E5A84}"/>
              </a:ext>
            </a:extLst>
          </p:cNvPr>
          <p:cNvSpPr txBox="1"/>
          <p:nvPr/>
        </p:nvSpPr>
        <p:spPr>
          <a:xfrm>
            <a:off x="5821961" y="2592836"/>
            <a:ext cx="3967163" cy="559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5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개선된 사항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40C603-218C-6D31-6238-456428B1ABB7}"/>
              </a:ext>
            </a:extLst>
          </p:cNvPr>
          <p:cNvSpPr txBox="1"/>
          <p:nvPr/>
        </p:nvSpPr>
        <p:spPr>
          <a:xfrm>
            <a:off x="5386231" y="2270682"/>
            <a:ext cx="876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  <a:alpha val="90000"/>
                  </a:scheme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To-Be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  <a:alpha val="90000"/>
                </a:scheme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7B66C2-3DB1-036C-48DB-F4500B88C4F2}"/>
              </a:ext>
            </a:extLst>
          </p:cNvPr>
          <p:cNvSpPr txBox="1"/>
          <p:nvPr/>
        </p:nvSpPr>
        <p:spPr>
          <a:xfrm>
            <a:off x="5445873" y="3275511"/>
            <a:ext cx="4859022" cy="6356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이슈의 상태와 심각도에 대해 정리한 문서를 토대로 유관 부서 및 이해관계자와 </a:t>
            </a:r>
            <a:r>
              <a:rPr lang="ko-KR" altLang="en-US" sz="1250" dirty="0">
                <a:solidFill>
                  <a:srgbClr val="FFFFFF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협의 진행</a:t>
            </a:r>
            <a:endParaRPr lang="en-US" altLang="ko-KR" sz="1250" dirty="0">
              <a:solidFill>
                <a:srgbClr val="FFFFFF"/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협의 완료 후 확립한 이슈 체계에 따라 이슈 처리 진행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BDB070C-66CE-2463-9A3C-6C8652EF0F7A}"/>
              </a:ext>
            </a:extLst>
          </p:cNvPr>
          <p:cNvSpPr/>
          <p:nvPr/>
        </p:nvSpPr>
        <p:spPr>
          <a:xfrm>
            <a:off x="5498853" y="2792866"/>
            <a:ext cx="287411" cy="276261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67" name="그래픽 66" descr="전구 단색으로 채워진">
            <a:extLst>
              <a:ext uri="{FF2B5EF4-FFF2-40B4-BE49-F238E27FC236}">
                <a16:creationId xmlns:a16="http://schemas.microsoft.com/office/drawing/2014/main" id="{D03F793A-CB76-4B8B-8D33-39977A2117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4550" y="2822988"/>
            <a:ext cx="216018" cy="216018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F9056D2E-6CA6-2B5A-9ED6-0CC221A12FA5}"/>
              </a:ext>
            </a:extLst>
          </p:cNvPr>
          <p:cNvSpPr txBox="1"/>
          <p:nvPr/>
        </p:nvSpPr>
        <p:spPr>
          <a:xfrm>
            <a:off x="5386231" y="4407021"/>
            <a:ext cx="876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  <a:alpha val="90000"/>
                  </a:scheme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To-Be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  <a:alpha val="90000"/>
                </a:scheme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2BF2B8D-FF66-B187-F520-E31721D383A1}"/>
              </a:ext>
            </a:extLst>
          </p:cNvPr>
          <p:cNvSpPr txBox="1"/>
          <p:nvPr/>
        </p:nvSpPr>
        <p:spPr>
          <a:xfrm>
            <a:off x="5821961" y="4755779"/>
            <a:ext cx="3967163" cy="559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5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개선된 사항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96A1E2C-916D-BBA1-F64B-5B6E57F51CC0}"/>
              </a:ext>
            </a:extLst>
          </p:cNvPr>
          <p:cNvSpPr txBox="1"/>
          <p:nvPr/>
        </p:nvSpPr>
        <p:spPr>
          <a:xfrm>
            <a:off x="5445873" y="5438454"/>
            <a:ext cx="6014788" cy="6356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리포팅 이슈는 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1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차로 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PM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 확인 후 각 팀의 팀장들에게 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JIRA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티켓 전달</a:t>
            </a:r>
            <a:endParaRPr kumimoji="0" lang="en-US" altLang="ko-KR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팀장이 내용 확인 후 작업 담당자에게 할당 </a:t>
            </a:r>
            <a:r>
              <a:rPr lang="ko-KR" altLang="en-US" sz="1250" dirty="0">
                <a:solidFill>
                  <a:srgbClr val="FFFFFF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→ 작업 완료 후 </a:t>
            </a:r>
            <a:r>
              <a:rPr lang="en-US" altLang="ko-KR" sz="1250" dirty="0">
                <a:solidFill>
                  <a:srgbClr val="FFFFFF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PM</a:t>
            </a:r>
            <a:r>
              <a:rPr lang="ko-KR" altLang="en-US" sz="1250" dirty="0">
                <a:solidFill>
                  <a:srgbClr val="FFFFFF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에게 전달하면 </a:t>
            </a:r>
            <a:r>
              <a:rPr lang="en-US" altLang="ko-KR" sz="1250" dirty="0">
                <a:solidFill>
                  <a:srgbClr val="FFFFFF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PM</a:t>
            </a:r>
            <a:r>
              <a:rPr lang="ko-KR" altLang="en-US" sz="1250" dirty="0">
                <a:solidFill>
                  <a:srgbClr val="FFFFFF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 확인 후 이슈 </a:t>
            </a:r>
            <a:r>
              <a:rPr lang="ko-KR" altLang="en-US" sz="1250" dirty="0" err="1">
                <a:solidFill>
                  <a:srgbClr val="FFFFFF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클로징</a:t>
            </a:r>
            <a:r>
              <a:rPr lang="ko-KR" altLang="en-US" sz="1250" dirty="0">
                <a:solidFill>
                  <a:srgbClr val="FFFFFF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진행</a:t>
            </a:r>
            <a:endParaRPr kumimoji="0" lang="ko-KR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9B6DAD34-B582-3D8A-E6D3-E08BFCEC52F7}"/>
              </a:ext>
            </a:extLst>
          </p:cNvPr>
          <p:cNvSpPr/>
          <p:nvPr/>
        </p:nvSpPr>
        <p:spPr>
          <a:xfrm>
            <a:off x="5498853" y="4955809"/>
            <a:ext cx="287411" cy="276261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72" name="그래픽 71" descr="전구 단색으로 채워진">
            <a:extLst>
              <a:ext uri="{FF2B5EF4-FFF2-40B4-BE49-F238E27FC236}">
                <a16:creationId xmlns:a16="http://schemas.microsoft.com/office/drawing/2014/main" id="{0B7D2CF6-6E88-F293-301D-8FE4C039618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4550" y="4985931"/>
            <a:ext cx="216018" cy="2160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B22B74-E2FA-A401-78A0-0A314C1BE220}"/>
              </a:ext>
            </a:extLst>
          </p:cNvPr>
          <p:cNvSpPr txBox="1"/>
          <p:nvPr/>
        </p:nvSpPr>
        <p:spPr>
          <a:xfrm>
            <a:off x="465138" y="706566"/>
            <a:ext cx="39671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이슈 체계 확립 및 프로세스 수립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8DB84-76C5-3C35-D4CB-E9C74864FC99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언디셈버</a:t>
            </a:r>
            <a:r>
              <a:rPr lang="ko-KR" altLang="en-US" dirty="0">
                <a:solidFill>
                  <a:srgbClr val="000000"/>
                </a:solidFill>
              </a:rPr>
              <a:t> 라이브 서비스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D95CC1F-66A2-2869-A2A9-248CFB30B514}"/>
              </a:ext>
            </a:extLst>
          </p:cNvPr>
          <p:cNvSpPr/>
          <p:nvPr/>
        </p:nvSpPr>
        <p:spPr>
          <a:xfrm>
            <a:off x="738498" y="2792865"/>
            <a:ext cx="287411" cy="276261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11" name="그래픽 10" descr="느낌표 단색으로 채워진">
            <a:extLst>
              <a:ext uri="{FF2B5EF4-FFF2-40B4-BE49-F238E27FC236}">
                <a16:creationId xmlns:a16="http://schemas.microsoft.com/office/drawing/2014/main" id="{0D0DB945-2F8D-3710-3AE4-7D1950124C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74195" y="2822987"/>
            <a:ext cx="216018" cy="216018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8372D9B-396D-6985-079D-D5BA18715769}"/>
              </a:ext>
            </a:extLst>
          </p:cNvPr>
          <p:cNvSpPr/>
          <p:nvPr/>
        </p:nvSpPr>
        <p:spPr>
          <a:xfrm>
            <a:off x="738498" y="4953630"/>
            <a:ext cx="287411" cy="276261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17" name="그래픽 16" descr="느낌표 단색으로 채워진">
            <a:extLst>
              <a:ext uri="{FF2B5EF4-FFF2-40B4-BE49-F238E27FC236}">
                <a16:creationId xmlns:a16="http://schemas.microsoft.com/office/drawing/2014/main" id="{02431A82-4754-D292-893D-1E28223165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74195" y="4983752"/>
            <a:ext cx="216018" cy="21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46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4285FCF-E01C-1E8D-2157-894E562535D5}"/>
              </a:ext>
            </a:extLst>
          </p:cNvPr>
          <p:cNvSpPr/>
          <p:nvPr/>
        </p:nvSpPr>
        <p:spPr>
          <a:xfrm>
            <a:off x="515938" y="2086010"/>
            <a:ext cx="5580062" cy="2485987"/>
          </a:xfrm>
          <a:prstGeom prst="roundRect">
            <a:avLst>
              <a:gd name="adj" fmla="val 10755"/>
            </a:avLst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CC6AAF-4FE6-0295-48BA-838BE2B971E8}"/>
              </a:ext>
            </a:extLst>
          </p:cNvPr>
          <p:cNvSpPr txBox="1"/>
          <p:nvPr/>
        </p:nvSpPr>
        <p:spPr>
          <a:xfrm>
            <a:off x="474663" y="1124307"/>
            <a:ext cx="5338308" cy="679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35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시즌 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10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업데이트 이후 주요 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KPI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지표와 항목별 설명 내용입니다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마케팅을 진행하지 않았음에도 </a:t>
            </a:r>
            <a:r>
              <a:rPr lang="ko-KR" altLang="en-US" dirty="0">
                <a:solidFill>
                  <a:srgbClr val="00B0F0"/>
                </a:solidFill>
              </a:rPr>
              <a:t>이전 시즌 대비 약 </a:t>
            </a:r>
            <a:r>
              <a:rPr lang="en-US" altLang="ko-KR" dirty="0">
                <a:solidFill>
                  <a:srgbClr val="00B0F0"/>
                </a:solidFill>
              </a:rPr>
              <a:t>2</a:t>
            </a:r>
            <a:r>
              <a:rPr lang="ko-KR" altLang="en-US" dirty="0">
                <a:solidFill>
                  <a:srgbClr val="00B0F0"/>
                </a:solidFill>
              </a:rPr>
              <a:t>배 이상의 지표 상승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이 이루어졌습니다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.</a:t>
            </a: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3106D4DD-7560-EA26-931E-EFEAEDA3A7DB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09E3DA-B4B3-F0BF-020B-CF46C27C6DE8}"/>
              </a:ext>
            </a:extLst>
          </p:cNvPr>
          <p:cNvSpPr/>
          <p:nvPr/>
        </p:nvSpPr>
        <p:spPr>
          <a:xfrm>
            <a:off x="529174" y="1957198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27E656-F1CC-5ADE-6E92-85D68003E582}"/>
              </a:ext>
            </a:extLst>
          </p:cNvPr>
          <p:cNvSpPr txBox="1"/>
          <p:nvPr/>
        </p:nvSpPr>
        <p:spPr>
          <a:xfrm>
            <a:off x="460641" y="1957419"/>
            <a:ext cx="876804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50" dirty="0">
                <a:solidFill>
                  <a:srgbClr val="262626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주요 </a:t>
            </a:r>
            <a:r>
              <a:rPr lang="en-US" altLang="ko-KR" sz="1150" dirty="0">
                <a:solidFill>
                  <a:srgbClr val="262626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KPI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E186292-E10D-B575-142C-1AD3B95C55CA}"/>
              </a:ext>
            </a:extLst>
          </p:cNvPr>
          <p:cNvSpPr/>
          <p:nvPr/>
        </p:nvSpPr>
        <p:spPr>
          <a:xfrm>
            <a:off x="515938" y="4860235"/>
            <a:ext cx="5580062" cy="1485004"/>
          </a:xfrm>
          <a:prstGeom prst="roundRect">
            <a:avLst>
              <a:gd name="adj" fmla="val 10553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154398C-63A9-949F-0A51-EF54B472F65C}"/>
              </a:ext>
            </a:extLst>
          </p:cNvPr>
          <p:cNvSpPr/>
          <p:nvPr/>
        </p:nvSpPr>
        <p:spPr>
          <a:xfrm>
            <a:off x="529174" y="4734399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9B2E8B-DE38-D3C9-947C-B6B727318B1B}"/>
              </a:ext>
            </a:extLst>
          </p:cNvPr>
          <p:cNvSpPr txBox="1"/>
          <p:nvPr/>
        </p:nvSpPr>
        <p:spPr>
          <a:xfrm>
            <a:off x="460641" y="4734620"/>
            <a:ext cx="876804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지표 설명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BF7AFA-E7F0-60A1-993D-B24C4FEDB21C}"/>
              </a:ext>
            </a:extLst>
          </p:cNvPr>
          <p:cNvSpPr txBox="1"/>
          <p:nvPr/>
        </p:nvSpPr>
        <p:spPr>
          <a:xfrm>
            <a:off x="1110510" y="5086025"/>
            <a:ext cx="4390946" cy="824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시즌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10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직전 시즌인 시즌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9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에 비해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DAU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는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배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매출은 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1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배 가량 증가하였습니다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마케팅을 진행하지 않았음에도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사전에 공개한 업데이트 내역을 토대로 유저분들이</a:t>
            </a:r>
            <a:endParaRPr lang="en-US" altLang="ko-KR" sz="11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많은 기대를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해주셨고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이에 상응하는 업데이트가 진행되어 달성할 수 있었다고 생각합니다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7152B00-5289-80F0-F979-CE52FE7C594D}"/>
              </a:ext>
            </a:extLst>
          </p:cNvPr>
          <p:cNvSpPr/>
          <p:nvPr/>
        </p:nvSpPr>
        <p:spPr>
          <a:xfrm>
            <a:off x="6543040" y="2058944"/>
            <a:ext cx="5133023" cy="4259229"/>
          </a:xfrm>
          <a:prstGeom prst="roundRect">
            <a:avLst>
              <a:gd name="adj" fmla="val 6498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5469FAE-DB16-0B50-DE39-1844CC3CA074}"/>
              </a:ext>
            </a:extLst>
          </p:cNvPr>
          <p:cNvSpPr/>
          <p:nvPr/>
        </p:nvSpPr>
        <p:spPr>
          <a:xfrm>
            <a:off x="6623027" y="1957198"/>
            <a:ext cx="906827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5BD637-0340-3A74-7C61-941C3FC122CB}"/>
              </a:ext>
            </a:extLst>
          </p:cNvPr>
          <p:cNvSpPr txBox="1"/>
          <p:nvPr/>
        </p:nvSpPr>
        <p:spPr>
          <a:xfrm>
            <a:off x="6543040" y="1957419"/>
            <a:ext cx="106680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항목별 설명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3AA05B-763B-AD34-1E2F-AF35AF950EC9}"/>
              </a:ext>
            </a:extLst>
          </p:cNvPr>
          <p:cNvSpPr txBox="1"/>
          <p:nvPr/>
        </p:nvSpPr>
        <p:spPr>
          <a:xfrm>
            <a:off x="7203913" y="2483854"/>
            <a:ext cx="470000" cy="269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DAU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606DF3-7A10-5C26-3F1D-C66771AFABBB}"/>
              </a:ext>
            </a:extLst>
          </p:cNvPr>
          <p:cNvSpPr txBox="1"/>
          <p:nvPr/>
        </p:nvSpPr>
        <p:spPr>
          <a:xfrm>
            <a:off x="6782409" y="2745464"/>
            <a:ext cx="4705134" cy="570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언디셈버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게임 특성상 시즌 업데이트 초기에 많은 유저가 유입된다는 데이터가 있었음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따라서 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KPI 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설계 초반 이전 시즌과 비슷한 수치를 예상하였지만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 2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배 이상의 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DAU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를 달성하였음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C05B346-B2E9-0A32-31C8-4ACA52E3043D}"/>
              </a:ext>
            </a:extLst>
          </p:cNvPr>
          <p:cNvSpPr/>
          <p:nvPr/>
        </p:nvSpPr>
        <p:spPr>
          <a:xfrm>
            <a:off x="6862043" y="2494015"/>
            <a:ext cx="251721" cy="241956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34" name="그래픽 33" descr="전구 단색으로 채워진">
            <a:extLst>
              <a:ext uri="{FF2B5EF4-FFF2-40B4-BE49-F238E27FC236}">
                <a16:creationId xmlns:a16="http://schemas.microsoft.com/office/drawing/2014/main" id="{B75E0498-272E-D436-9025-3E1B29FFE49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307" y="2520396"/>
            <a:ext cx="189193" cy="18919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15BE4FA-08BA-2EC0-7725-B70C8E10264A}"/>
              </a:ext>
            </a:extLst>
          </p:cNvPr>
          <p:cNvSpPr txBox="1"/>
          <p:nvPr/>
        </p:nvSpPr>
        <p:spPr>
          <a:xfrm>
            <a:off x="7234371" y="3559433"/>
            <a:ext cx="409086" cy="269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매출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7F4B2F-0336-1A11-D439-603A74E91476}"/>
              </a:ext>
            </a:extLst>
          </p:cNvPr>
          <p:cNvSpPr txBox="1"/>
          <p:nvPr/>
        </p:nvSpPr>
        <p:spPr>
          <a:xfrm>
            <a:off x="6782409" y="3821043"/>
            <a:ext cx="4775666" cy="570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시즌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9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에 비해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BM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항목의 수는 줄었지만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이와는 정반대로 매출은 증가하였음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업데이트 직전 판매 상품의 항목과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BM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가격 등을 사업실과 주기적으로 논의하며 매출 견인에 기여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65AE06C-87E3-6D62-C0DA-A13AD724CB9B}"/>
              </a:ext>
            </a:extLst>
          </p:cNvPr>
          <p:cNvSpPr/>
          <p:nvPr/>
        </p:nvSpPr>
        <p:spPr>
          <a:xfrm>
            <a:off x="6862043" y="3569594"/>
            <a:ext cx="251721" cy="241956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39" name="그래픽 38" descr="전구 단색으로 채워진">
            <a:extLst>
              <a:ext uri="{FF2B5EF4-FFF2-40B4-BE49-F238E27FC236}">
                <a16:creationId xmlns:a16="http://schemas.microsoft.com/office/drawing/2014/main" id="{34B9DDD4-3FFE-4089-6DF4-8579B3E81C9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307" y="3595975"/>
            <a:ext cx="189193" cy="18919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CC4205F-479D-13F7-F7B2-FFBBA0320A97}"/>
              </a:ext>
            </a:extLst>
          </p:cNvPr>
          <p:cNvSpPr txBox="1"/>
          <p:nvPr/>
        </p:nvSpPr>
        <p:spPr>
          <a:xfrm>
            <a:off x="7302338" y="4635012"/>
            <a:ext cx="647934" cy="269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ARPPU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A4D929-CC75-71F1-4D98-D707D62CDAF5}"/>
              </a:ext>
            </a:extLst>
          </p:cNvPr>
          <p:cNvSpPr txBox="1"/>
          <p:nvPr/>
        </p:nvSpPr>
        <p:spPr>
          <a:xfrm>
            <a:off x="6782409" y="4896622"/>
            <a:ext cx="4310795" cy="824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지표 데이터 수집 기간이 짧아서 다소 높은 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ARPPU </a:t>
            </a:r>
            <a:r>
              <a:rPr lang="ko-KR" altLang="en-US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수치가 나왔다고 생각하지만</a:t>
            </a:r>
            <a:r>
              <a:rPr lang="en-US" altLang="ko-KR" sz="11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이전 시즌들과 비교해서는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배에서 많게는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3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배 가량 상승하였다는 점에서 게임성과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BM </a:t>
            </a:r>
            <a:endParaRPr lang="en-US" altLang="ko-KR" sz="11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두 마리 토끼를 모두 잡은 업데이트였다고 생각함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024AAF9-CA7E-AE82-7B11-D5FCCBB39060}"/>
              </a:ext>
            </a:extLst>
          </p:cNvPr>
          <p:cNvSpPr/>
          <p:nvPr/>
        </p:nvSpPr>
        <p:spPr>
          <a:xfrm>
            <a:off x="6862043" y="4645173"/>
            <a:ext cx="251721" cy="241956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44" name="그래픽 43" descr="전구 단색으로 채워진">
            <a:extLst>
              <a:ext uri="{FF2B5EF4-FFF2-40B4-BE49-F238E27FC236}">
                <a16:creationId xmlns:a16="http://schemas.microsoft.com/office/drawing/2014/main" id="{CD2F11CC-57F9-FCD3-D0D4-4632816620D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307" y="4671554"/>
            <a:ext cx="189193" cy="1891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A7550A-10DA-37A6-1B62-8DC9EEF4BC84}"/>
              </a:ext>
            </a:extLst>
          </p:cNvPr>
          <p:cNvSpPr txBox="1"/>
          <p:nvPr/>
        </p:nvSpPr>
        <p:spPr>
          <a:xfrm>
            <a:off x="465138" y="706566"/>
            <a:ext cx="461071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시즌 </a:t>
            </a: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10 </a:t>
            </a: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업데이트 이후 </a:t>
            </a:r>
            <a:r>
              <a:rPr lang="ko-KR" altLang="en-US" sz="26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결과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3B8E4-16C4-23A4-4279-D4A0FFF7680D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언디셈버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 라이브 서비스</a:t>
            </a:r>
          </a:p>
        </p:txBody>
      </p:sp>
    </p:spTree>
    <p:extLst>
      <p:ext uri="{BB962C8B-B14F-4D97-AF65-F5344CB8AC3E}">
        <p14:creationId xmlns:p14="http://schemas.microsoft.com/office/powerpoint/2010/main" val="1029708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CB81E5CC-886A-0BB4-E1F7-1E7105BE328E}"/>
              </a:ext>
            </a:extLst>
          </p:cNvPr>
          <p:cNvSpPr/>
          <p:nvPr/>
        </p:nvSpPr>
        <p:spPr>
          <a:xfrm>
            <a:off x="7585783" y="4555456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51BE35B-FB21-6CAC-BCC0-6D769E85C6C5}"/>
              </a:ext>
            </a:extLst>
          </p:cNvPr>
          <p:cNvSpPr txBox="1"/>
          <p:nvPr/>
        </p:nvSpPr>
        <p:spPr>
          <a:xfrm>
            <a:off x="7517250" y="4545624"/>
            <a:ext cx="876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얻은 결과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D793330-6F30-4B7C-501E-4B8239E27F4D}"/>
              </a:ext>
            </a:extLst>
          </p:cNvPr>
          <p:cNvSpPr/>
          <p:nvPr/>
        </p:nvSpPr>
        <p:spPr>
          <a:xfrm>
            <a:off x="2026680" y="1974285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58CD84-672A-0DAA-B9B5-4ED83EA0BD7C}"/>
              </a:ext>
            </a:extLst>
          </p:cNvPr>
          <p:cNvSpPr txBox="1"/>
          <p:nvPr/>
        </p:nvSpPr>
        <p:spPr>
          <a:xfrm>
            <a:off x="1958147" y="1964453"/>
            <a:ext cx="876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성장 포인트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C8B5EA6-FB48-BACC-2B06-9AEC78986893}"/>
              </a:ext>
            </a:extLst>
          </p:cNvPr>
          <p:cNvSpPr/>
          <p:nvPr/>
        </p:nvSpPr>
        <p:spPr>
          <a:xfrm>
            <a:off x="797799" y="2343476"/>
            <a:ext cx="3197500" cy="1686527"/>
          </a:xfrm>
          <a:prstGeom prst="roundRect">
            <a:avLst>
              <a:gd name="adj" fmla="val 17104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4D79FF-3885-3DFA-FDD5-FC0B0A077CF1}"/>
              </a:ext>
            </a:extLst>
          </p:cNvPr>
          <p:cNvSpPr txBox="1"/>
          <p:nvPr/>
        </p:nvSpPr>
        <p:spPr>
          <a:xfrm>
            <a:off x="474662" y="1124970"/>
            <a:ext cx="6174745" cy="657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30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1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명의 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PM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으로 프로젝트를 관리한다는 점에서 부담감이 있었지만 함께 하는 동료들과 합을 맞춰</a:t>
            </a:r>
            <a:endParaRPr lang="en-US" altLang="ko-KR" dirty="0">
              <a:solidFill>
                <a:srgbClr val="000000">
                  <a:lumMod val="65000"/>
                  <a:lumOff val="35000"/>
                </a:srgbClr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좋은 결과를 만들었다고 생각합니다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.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4B53F11D-CE4E-2258-76E8-A4531E83A9DE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FC52749-D4F7-C2E3-629B-52C502BA36AE}"/>
              </a:ext>
            </a:extLst>
          </p:cNvPr>
          <p:cNvSpPr/>
          <p:nvPr/>
        </p:nvSpPr>
        <p:spPr>
          <a:xfrm>
            <a:off x="2026680" y="4289520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C36892-4CB2-CE18-1DD8-871BB2F33FE9}"/>
              </a:ext>
            </a:extLst>
          </p:cNvPr>
          <p:cNvSpPr txBox="1"/>
          <p:nvPr/>
        </p:nvSpPr>
        <p:spPr>
          <a:xfrm>
            <a:off x="1958147" y="4279688"/>
            <a:ext cx="876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부족 포인트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C5822CF-77EF-E1A8-3F6A-11A05733DE60}"/>
              </a:ext>
            </a:extLst>
          </p:cNvPr>
          <p:cNvSpPr/>
          <p:nvPr/>
        </p:nvSpPr>
        <p:spPr>
          <a:xfrm>
            <a:off x="797799" y="4658711"/>
            <a:ext cx="3197500" cy="1686527"/>
          </a:xfrm>
          <a:prstGeom prst="roundRect">
            <a:avLst>
              <a:gd name="adj" fmla="val 17104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F54C7F3-69B4-9D55-5EFE-37C69FB511FB}"/>
              </a:ext>
            </a:extLst>
          </p:cNvPr>
          <p:cNvCxnSpPr/>
          <p:nvPr/>
        </p:nvCxnSpPr>
        <p:spPr>
          <a:xfrm>
            <a:off x="996593" y="2845941"/>
            <a:ext cx="285621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0865783-D0CD-A1EB-DD0D-B25A11D1BE05}"/>
              </a:ext>
            </a:extLst>
          </p:cNvPr>
          <p:cNvSpPr txBox="1"/>
          <p:nvPr/>
        </p:nvSpPr>
        <p:spPr>
          <a:xfrm>
            <a:off x="1230433" y="2492202"/>
            <a:ext cx="2332233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체계적인 관리 방식 습득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05C179-4A17-5D04-52F2-7326B0B29D27}"/>
              </a:ext>
            </a:extLst>
          </p:cNvPr>
          <p:cNvSpPr txBox="1"/>
          <p:nvPr/>
        </p:nvSpPr>
        <p:spPr>
          <a:xfrm>
            <a:off x="968441" y="3112987"/>
            <a:ext cx="2856216" cy="591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50" dirty="0">
                <a:solidFill>
                  <a:srgbClr val="262626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To-Do</a:t>
            </a:r>
            <a:r>
              <a:rPr lang="ko-KR" altLang="en-US" sz="1150" dirty="0">
                <a:solidFill>
                  <a:srgbClr val="262626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 리스트를 통해 이슈 관리 능력을 향상</a:t>
            </a:r>
            <a:endParaRPr lang="en-US" altLang="ko-KR" sz="1150" dirty="0">
              <a:solidFill>
                <a:srgbClr val="262626"/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보다 세밀한 일정 및 인력 관리 가능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2052A01-9E8E-7837-33A8-F4C21A51D35F}"/>
              </a:ext>
            </a:extLst>
          </p:cNvPr>
          <p:cNvCxnSpPr/>
          <p:nvPr/>
        </p:nvCxnSpPr>
        <p:spPr>
          <a:xfrm>
            <a:off x="996593" y="5164386"/>
            <a:ext cx="285621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5097B78-25BF-36E8-2C1D-7E473CC8EF18}"/>
              </a:ext>
            </a:extLst>
          </p:cNvPr>
          <p:cNvSpPr txBox="1"/>
          <p:nvPr/>
        </p:nvSpPr>
        <p:spPr>
          <a:xfrm>
            <a:off x="1230433" y="4810647"/>
            <a:ext cx="2332233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업무 과부하 대응 부족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A248C4-31C0-B03B-8A7A-A032FB4AE9C8}"/>
              </a:ext>
            </a:extLst>
          </p:cNvPr>
          <p:cNvSpPr txBox="1"/>
          <p:nvPr/>
        </p:nvSpPr>
        <p:spPr>
          <a:xfrm>
            <a:off x="968441" y="5431432"/>
            <a:ext cx="2856216" cy="591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소규모 프로젝트 특성상 작업자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1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인에게 할당되는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50" dirty="0">
                <a:solidFill>
                  <a:srgbClr val="262626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이슈가 많아 이로 인한 부담감과 피로감이 증가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8741CE3-C6C8-AB5C-1650-1D003684DD14}"/>
              </a:ext>
            </a:extLst>
          </p:cNvPr>
          <p:cNvSpPr/>
          <p:nvPr/>
        </p:nvSpPr>
        <p:spPr>
          <a:xfrm>
            <a:off x="7585783" y="1974285"/>
            <a:ext cx="739739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28FBA5-CD56-734F-DE80-A7A09719046D}"/>
              </a:ext>
            </a:extLst>
          </p:cNvPr>
          <p:cNvSpPr txBox="1"/>
          <p:nvPr/>
        </p:nvSpPr>
        <p:spPr>
          <a:xfrm>
            <a:off x="7517250" y="1964453"/>
            <a:ext cx="876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인사이트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96C1AF3-F870-0A14-908C-2191F3184188}"/>
              </a:ext>
            </a:extLst>
          </p:cNvPr>
          <p:cNvSpPr/>
          <p:nvPr/>
        </p:nvSpPr>
        <p:spPr>
          <a:xfrm>
            <a:off x="8086435" y="2343476"/>
            <a:ext cx="3066501" cy="1973238"/>
          </a:xfrm>
          <a:prstGeom prst="roundRect">
            <a:avLst>
              <a:gd name="adj" fmla="val 17104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72F5279-22D4-9431-F291-8964377BD016}"/>
              </a:ext>
            </a:extLst>
          </p:cNvPr>
          <p:cNvSpPr txBox="1"/>
          <p:nvPr/>
        </p:nvSpPr>
        <p:spPr>
          <a:xfrm>
            <a:off x="8454324" y="2530966"/>
            <a:ext cx="2332233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기술 지식 함양의 필요성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95831FB-2F20-DF7B-3D68-D0D7B76C4B01}"/>
              </a:ext>
            </a:extLst>
          </p:cNvPr>
          <p:cNvSpPr txBox="1"/>
          <p:nvPr/>
        </p:nvSpPr>
        <p:spPr>
          <a:xfrm>
            <a:off x="8932215" y="3211548"/>
            <a:ext cx="1367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F84A4A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AI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84A4A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활용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rgbClr val="F84A4A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A6A8C99-72D3-D902-D0D9-A8E957283BCD}"/>
              </a:ext>
            </a:extLst>
          </p:cNvPr>
          <p:cNvSpPr txBox="1"/>
          <p:nvPr/>
        </p:nvSpPr>
        <p:spPr>
          <a:xfrm>
            <a:off x="9419409" y="3000523"/>
            <a:ext cx="1367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4A4A">
                    <a:lumMod val="40000"/>
                    <a:lumOff val="60000"/>
                  </a:srgbClr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빌드 관리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F84A4A">
                  <a:lumMod val="40000"/>
                  <a:lumOff val="60000"/>
                </a:srgbClr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2E8E866-9B4C-3F4A-3E3D-06654DD76241}"/>
              </a:ext>
            </a:extLst>
          </p:cNvPr>
          <p:cNvSpPr txBox="1"/>
          <p:nvPr/>
        </p:nvSpPr>
        <p:spPr>
          <a:xfrm>
            <a:off x="8198516" y="3154901"/>
            <a:ext cx="136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F84A4A">
                    <a:lumMod val="50000"/>
                  </a:srgb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방법론 수립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84A4A">
                  <a:lumMod val="50000"/>
                </a:srgbClr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AECE7A-277C-D805-3557-D9DED33EDCEB}"/>
              </a:ext>
            </a:extLst>
          </p:cNvPr>
          <p:cNvSpPr txBox="1"/>
          <p:nvPr/>
        </p:nvSpPr>
        <p:spPr>
          <a:xfrm>
            <a:off x="9420896" y="3565491"/>
            <a:ext cx="1367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4A4A">
                    <a:lumMod val="75000"/>
                  </a:srgbClr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업무 환경 개선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F84A4A">
                  <a:lumMod val="75000"/>
                </a:srgbClr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EA3E73-8C76-FCED-5665-589AEECEA64A}"/>
              </a:ext>
            </a:extLst>
          </p:cNvPr>
          <p:cNvSpPr txBox="1"/>
          <p:nvPr/>
        </p:nvSpPr>
        <p:spPr>
          <a:xfrm>
            <a:off x="8327671" y="3584560"/>
            <a:ext cx="1367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4A4A">
                    <a:lumMod val="40000"/>
                    <a:lumOff val="60000"/>
                  </a:srgbClr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구성원 관리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F84A4A">
                  <a:lumMod val="40000"/>
                  <a:lumOff val="60000"/>
                </a:srgbClr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F2D0A8-D8CA-D3EE-33F3-6E91C38617FA}"/>
              </a:ext>
            </a:extLst>
          </p:cNvPr>
          <p:cNvSpPr txBox="1"/>
          <p:nvPr/>
        </p:nvSpPr>
        <p:spPr>
          <a:xfrm>
            <a:off x="8776576" y="2952148"/>
            <a:ext cx="1367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F84A4A">
                    <a:lumMod val="60000"/>
                    <a:lumOff val="40000"/>
                  </a:srgb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CI/CD </a:t>
            </a:r>
            <a:r>
              <a:rPr lang="ko-KR" altLang="en-US" sz="1100" dirty="0">
                <a:solidFill>
                  <a:srgbClr val="F84A4A">
                    <a:lumMod val="60000"/>
                    <a:lumOff val="40000"/>
                  </a:srgb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배포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F84A4A">
                  <a:lumMod val="60000"/>
                  <a:lumOff val="40000"/>
                </a:srgbClr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AAAD5C06-D561-5112-BCE6-C442725FAE26}"/>
              </a:ext>
            </a:extLst>
          </p:cNvPr>
          <p:cNvSpPr/>
          <p:nvPr/>
        </p:nvSpPr>
        <p:spPr>
          <a:xfrm>
            <a:off x="4758152" y="4918916"/>
            <a:ext cx="6394784" cy="1426322"/>
          </a:xfrm>
          <a:prstGeom prst="roundRect">
            <a:avLst>
              <a:gd name="adj" fmla="val 17104"/>
            </a:avLst>
          </a:prstGeom>
          <a:solidFill>
            <a:schemeClr val="accent2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00C30DD-3D5A-9CF1-B0D1-0C15213922A3}"/>
              </a:ext>
            </a:extLst>
          </p:cNvPr>
          <p:cNvCxnSpPr>
            <a:cxnSpLocks/>
          </p:cNvCxnSpPr>
          <p:nvPr/>
        </p:nvCxnSpPr>
        <p:spPr>
          <a:xfrm>
            <a:off x="4978877" y="5354920"/>
            <a:ext cx="59533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DBEC514-6216-0E61-9154-1434540ADE9E}"/>
              </a:ext>
            </a:extLst>
          </p:cNvPr>
          <p:cNvSpPr txBox="1"/>
          <p:nvPr/>
        </p:nvSpPr>
        <p:spPr>
          <a:xfrm>
            <a:off x="6684951" y="5025025"/>
            <a:ext cx="2541184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프로젝트와 더불어 구성원 관리도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PM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의 역량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D27CF56-7BCB-E786-345C-EC9C5030B2AC}"/>
              </a:ext>
            </a:extLst>
          </p:cNvPr>
          <p:cNvSpPr txBox="1"/>
          <p:nvPr/>
        </p:nvSpPr>
        <p:spPr>
          <a:xfrm>
            <a:off x="5704374" y="5554229"/>
            <a:ext cx="4502339" cy="591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프로젝트 일정과 이슈 관리도 중요하지만 때로는 개발실을 구성하는 구성원들을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돌아보며 그들의 고충을 듣고 해결방안을 모색 하는 것도 중요하다는 것을 배웠습니다</a:t>
            </a:r>
            <a:r>
              <a:rPr lang="en-US" altLang="ko-KR" sz="11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.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499F6C-4495-53F7-6D2F-1593997E76EC}"/>
              </a:ext>
            </a:extLst>
          </p:cNvPr>
          <p:cNvSpPr txBox="1"/>
          <p:nvPr/>
        </p:nvSpPr>
        <p:spPr>
          <a:xfrm>
            <a:off x="465138" y="706566"/>
            <a:ext cx="39671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프로젝트 참여 소감 및 회고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3CE079-D19C-3270-F3DC-34A000FFC6B7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언디셈버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 라이브 서비스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8146D84-E3CF-41A1-F633-681016B206E1}"/>
              </a:ext>
            </a:extLst>
          </p:cNvPr>
          <p:cNvSpPr/>
          <p:nvPr/>
        </p:nvSpPr>
        <p:spPr>
          <a:xfrm>
            <a:off x="4758152" y="2373077"/>
            <a:ext cx="3066501" cy="1973238"/>
          </a:xfrm>
          <a:prstGeom prst="roundRect">
            <a:avLst>
              <a:gd name="adj" fmla="val 17104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95D98-F2BF-D258-D752-E222825A96F5}"/>
              </a:ext>
            </a:extLst>
          </p:cNvPr>
          <p:cNvSpPr txBox="1"/>
          <p:nvPr/>
        </p:nvSpPr>
        <p:spPr>
          <a:xfrm>
            <a:off x="5126041" y="2560567"/>
            <a:ext cx="2332233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안정적인 프로젝트 관리 방식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F151EA7-5EEF-5D62-A862-8F6FFA91C8EF}"/>
              </a:ext>
            </a:extLst>
          </p:cNvPr>
          <p:cNvCxnSpPr/>
          <p:nvPr/>
        </p:nvCxnSpPr>
        <p:spPr>
          <a:xfrm>
            <a:off x="4863370" y="2952148"/>
            <a:ext cx="285621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430CF49-D8FC-EFAC-6F9B-C857F8B1ADE6}"/>
              </a:ext>
            </a:extLst>
          </p:cNvPr>
          <p:cNvSpPr txBox="1"/>
          <p:nvPr/>
        </p:nvSpPr>
        <p:spPr>
          <a:xfrm>
            <a:off x="4863370" y="3207788"/>
            <a:ext cx="2856216" cy="591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구성원 개인의 업무 퍼포먼스를 위해선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공감과 소통을 바탕으로 합을 맞추는 것이 중요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0D7490E5-42C6-6B32-0DF0-AAE11E936109}"/>
              </a:ext>
            </a:extLst>
          </p:cNvPr>
          <p:cNvCxnSpPr/>
          <p:nvPr/>
        </p:nvCxnSpPr>
        <p:spPr>
          <a:xfrm>
            <a:off x="8137556" y="2952564"/>
            <a:ext cx="285621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674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F31D0-D791-F284-9BD4-9318630C9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EF5642-17FA-6B0C-6036-07BDAB811E1D}"/>
              </a:ext>
            </a:extLst>
          </p:cNvPr>
          <p:cNvSpPr txBox="1"/>
          <p:nvPr/>
        </p:nvSpPr>
        <p:spPr>
          <a:xfrm>
            <a:off x="839244" y="1365337"/>
            <a:ext cx="50763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프로젝트 네온 개발 관리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878BE5-90A8-D9EF-E56F-9FCA945F4BD8}"/>
              </a:ext>
            </a:extLst>
          </p:cNvPr>
          <p:cNvSpPr txBox="1"/>
          <p:nvPr/>
        </p:nvSpPr>
        <p:spPr>
          <a:xfrm>
            <a:off x="9051418" y="4317000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프로젝트 관리</a:t>
            </a:r>
          </a:p>
        </p:txBody>
      </p:sp>
      <p:sp>
        <p:nvSpPr>
          <p:cNvPr id="6" name="이등변 삼각형 12">
            <a:extLst>
              <a:ext uri="{FF2B5EF4-FFF2-40B4-BE49-F238E27FC236}">
                <a16:creationId xmlns:a16="http://schemas.microsoft.com/office/drawing/2014/main" id="{DF8E4324-E686-1995-FF74-842E586DCC8A}"/>
              </a:ext>
            </a:extLst>
          </p:cNvPr>
          <p:cNvSpPr/>
          <p:nvPr/>
        </p:nvSpPr>
        <p:spPr>
          <a:xfrm rot="5400000">
            <a:off x="8881063" y="4418503"/>
            <a:ext cx="180045" cy="15521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97B69C-043D-40FD-6CFC-7ABA1444ED1C}"/>
              </a:ext>
            </a:extLst>
          </p:cNvPr>
          <p:cNvSpPr txBox="1"/>
          <p:nvPr/>
        </p:nvSpPr>
        <p:spPr>
          <a:xfrm>
            <a:off x="9051418" y="4715109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대</a:t>
            </a:r>
            <a:r>
              <a:rPr kumimoji="0" lang="en-US" altLang="ko-KR" sz="1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/</a:t>
            </a:r>
            <a:r>
              <a:rPr kumimoji="0" lang="ko-KR" alt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내외 커뮤니케이션</a:t>
            </a:r>
          </a:p>
        </p:txBody>
      </p:sp>
      <p:sp>
        <p:nvSpPr>
          <p:cNvPr id="8" name="이등변 삼각형 15">
            <a:extLst>
              <a:ext uri="{FF2B5EF4-FFF2-40B4-BE49-F238E27FC236}">
                <a16:creationId xmlns:a16="http://schemas.microsoft.com/office/drawing/2014/main" id="{40C2B0D8-CF05-F593-DFA7-DBF0AB675980}"/>
              </a:ext>
            </a:extLst>
          </p:cNvPr>
          <p:cNvSpPr/>
          <p:nvPr/>
        </p:nvSpPr>
        <p:spPr>
          <a:xfrm rot="5400000">
            <a:off x="8881063" y="4816612"/>
            <a:ext cx="180045" cy="15521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0139AE-1BEE-775A-8D29-B09785373869}"/>
              </a:ext>
            </a:extLst>
          </p:cNvPr>
          <p:cNvSpPr txBox="1"/>
          <p:nvPr/>
        </p:nvSpPr>
        <p:spPr>
          <a:xfrm>
            <a:off x="9051418" y="5128724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개발 리스크 관리</a:t>
            </a:r>
          </a:p>
        </p:txBody>
      </p:sp>
      <p:sp>
        <p:nvSpPr>
          <p:cNvPr id="10" name="이등변 삼각형 19">
            <a:extLst>
              <a:ext uri="{FF2B5EF4-FFF2-40B4-BE49-F238E27FC236}">
                <a16:creationId xmlns:a16="http://schemas.microsoft.com/office/drawing/2014/main" id="{F78D4560-2263-0E80-A810-F0F16291EC21}"/>
              </a:ext>
            </a:extLst>
          </p:cNvPr>
          <p:cNvSpPr/>
          <p:nvPr/>
        </p:nvSpPr>
        <p:spPr>
          <a:xfrm rot="5400000">
            <a:off x="8881063" y="5230227"/>
            <a:ext cx="180045" cy="15521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10B3EC-1D9C-13F9-2E84-AC3CB336028B}"/>
              </a:ext>
            </a:extLst>
          </p:cNvPr>
          <p:cNvSpPr txBox="1"/>
          <p:nvPr/>
        </p:nvSpPr>
        <p:spPr>
          <a:xfrm>
            <a:off x="839244" y="729668"/>
            <a:ext cx="2079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CONTENT.2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D1ECE-3EE6-D74F-CFAE-3FFA9D71CFD5}"/>
              </a:ext>
            </a:extLst>
          </p:cNvPr>
          <p:cNvSpPr txBox="1"/>
          <p:nvPr/>
        </p:nvSpPr>
        <p:spPr>
          <a:xfrm>
            <a:off x="8326648" y="732787"/>
            <a:ext cx="320666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9900" b="0" i="0" u="none" strike="noStrike" kern="1200" cap="none" spc="0" normalizeH="0" baseline="0" noProof="0" dirty="0">
                <a:ln w="19050">
                  <a:solidFill>
                    <a:srgbClr val="FFFFFF"/>
                  </a:solidFill>
                </a:ln>
                <a:noFill/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02</a:t>
            </a:r>
            <a:endParaRPr kumimoji="0" lang="ko-KR" altLang="en-US" sz="19900" b="0" i="0" u="none" strike="noStrike" kern="1200" cap="none" spc="0" normalizeH="0" baseline="0" noProof="0" dirty="0">
              <a:ln w="19050">
                <a:solidFill>
                  <a:srgbClr val="FFFFFF"/>
                </a:solidFill>
              </a:ln>
              <a:noFill/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46DB18-C71A-CB4D-7A08-3C80666DB598}"/>
              </a:ext>
            </a:extLst>
          </p:cNvPr>
          <p:cNvSpPr txBox="1"/>
          <p:nvPr/>
        </p:nvSpPr>
        <p:spPr>
          <a:xfrm>
            <a:off x="864296" y="2031876"/>
            <a:ext cx="300105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개발 </a:t>
            </a: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PM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709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4CF9F-F320-E834-D9FD-08F94ADB5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0E79CEC1-7251-2AA2-9E97-89C1A841ED1C}"/>
              </a:ext>
            </a:extLst>
          </p:cNvPr>
          <p:cNvSpPr txBox="1"/>
          <p:nvPr/>
        </p:nvSpPr>
        <p:spPr>
          <a:xfrm>
            <a:off x="7699375" y="5119615"/>
            <a:ext cx="3967163" cy="857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</a:rPr>
              <a:t>구성원 대상 정식 데모 빌드 설문 진행</a:t>
            </a:r>
            <a:endParaRPr lang="en-US" altLang="ko-KR" sz="115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주기적인 구성원 면담을 통한 개발 환경 개선</a:t>
            </a:r>
            <a:endParaRPr lang="en-US" altLang="ko-KR" sz="115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프로세스 및 조직 문화 개선</a:t>
            </a:r>
            <a:endParaRPr lang="en-US" altLang="ko-KR" sz="115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4050AC8-F9AC-7068-F730-399158ADF535}"/>
              </a:ext>
            </a:extLst>
          </p:cNvPr>
          <p:cNvSpPr/>
          <p:nvPr/>
        </p:nvSpPr>
        <p:spPr>
          <a:xfrm>
            <a:off x="8701132" y="2359337"/>
            <a:ext cx="1269817" cy="24349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CDBFB77-E2CC-E1E4-854E-BC4056E6B9DE}"/>
              </a:ext>
            </a:extLst>
          </p:cNvPr>
          <p:cNvSpPr/>
          <p:nvPr/>
        </p:nvSpPr>
        <p:spPr>
          <a:xfrm>
            <a:off x="6739500" y="2359338"/>
            <a:ext cx="1144868" cy="24349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2718A6C-4257-1B3E-F7DD-527D7266F0BE}"/>
              </a:ext>
            </a:extLst>
          </p:cNvPr>
          <p:cNvSpPr/>
          <p:nvPr/>
        </p:nvSpPr>
        <p:spPr>
          <a:xfrm>
            <a:off x="7956329" y="2361976"/>
            <a:ext cx="637165" cy="24349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B95EA4F-284E-566E-0521-8746F9C3FB40}"/>
              </a:ext>
            </a:extLst>
          </p:cNvPr>
          <p:cNvSpPr/>
          <p:nvPr/>
        </p:nvSpPr>
        <p:spPr>
          <a:xfrm>
            <a:off x="10031500" y="2359337"/>
            <a:ext cx="637165" cy="24349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A7E7D1-384A-5E93-3AA8-936F6D8839A3}"/>
              </a:ext>
            </a:extLst>
          </p:cNvPr>
          <p:cNvSpPr txBox="1"/>
          <p:nvPr/>
        </p:nvSpPr>
        <p:spPr>
          <a:xfrm>
            <a:off x="10050480" y="2342586"/>
            <a:ext cx="5992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P4V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8AA9CF-1111-D50E-05B3-2BBA65E78AAC}"/>
              </a:ext>
            </a:extLst>
          </p:cNvPr>
          <p:cNvSpPr txBox="1"/>
          <p:nvPr/>
        </p:nvSpPr>
        <p:spPr>
          <a:xfrm>
            <a:off x="8734245" y="2342586"/>
            <a:ext cx="1194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Unreal Engine 5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7B339A-8079-540D-E5A8-FEB8B0E39E7D}"/>
              </a:ext>
            </a:extLst>
          </p:cNvPr>
          <p:cNvSpPr txBox="1"/>
          <p:nvPr/>
        </p:nvSpPr>
        <p:spPr>
          <a:xfrm>
            <a:off x="6774202" y="2342586"/>
            <a:ext cx="1076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Confluence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4951AF-DBDB-40C0-C530-BC4777949468}"/>
              </a:ext>
            </a:extLst>
          </p:cNvPr>
          <p:cNvSpPr txBox="1"/>
          <p:nvPr/>
        </p:nvSpPr>
        <p:spPr>
          <a:xfrm>
            <a:off x="7977134" y="2342586"/>
            <a:ext cx="599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Asana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A6D81408-6916-2F97-765F-71CE58F486C9}"/>
              </a:ext>
            </a:extLst>
          </p:cNvPr>
          <p:cNvSpPr/>
          <p:nvPr/>
        </p:nvSpPr>
        <p:spPr>
          <a:xfrm>
            <a:off x="-9525" y="-9524"/>
            <a:ext cx="4469102" cy="4834355"/>
          </a:xfrm>
          <a:custGeom>
            <a:avLst/>
            <a:gdLst>
              <a:gd name="connsiteX0" fmla="*/ 0 w 4469102"/>
              <a:gd name="connsiteY0" fmla="*/ 0 h 4834355"/>
              <a:gd name="connsiteX1" fmla="*/ 4469102 w 4469102"/>
              <a:gd name="connsiteY1" fmla="*/ 0 h 4834355"/>
              <a:gd name="connsiteX2" fmla="*/ 4469102 w 4469102"/>
              <a:gd name="connsiteY2" fmla="*/ 4574363 h 4834355"/>
              <a:gd name="connsiteX3" fmla="*/ 4209110 w 4469102"/>
              <a:gd name="connsiteY3" fmla="*/ 4834355 h 4834355"/>
              <a:gd name="connsiteX4" fmla="*/ 25909 w 4469102"/>
              <a:gd name="connsiteY4" fmla="*/ 4834355 h 4834355"/>
              <a:gd name="connsiteX5" fmla="*/ 0 w 4469102"/>
              <a:gd name="connsiteY5" fmla="*/ 4831743 h 4834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9102" h="4834355">
                <a:moveTo>
                  <a:pt x="0" y="0"/>
                </a:moveTo>
                <a:lnTo>
                  <a:pt x="4469102" y="0"/>
                </a:lnTo>
                <a:lnTo>
                  <a:pt x="4469102" y="4574363"/>
                </a:lnTo>
                <a:cubicBezTo>
                  <a:pt x="4469102" y="4717953"/>
                  <a:pt x="4352700" y="4834355"/>
                  <a:pt x="4209110" y="4834355"/>
                </a:cubicBezTo>
                <a:lnTo>
                  <a:pt x="25909" y="4834355"/>
                </a:lnTo>
                <a:lnTo>
                  <a:pt x="0" y="48317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A9B956-FB7B-0C5A-7C49-214B36D4CD08}"/>
              </a:ext>
            </a:extLst>
          </p:cNvPr>
          <p:cNvSpPr txBox="1"/>
          <p:nvPr/>
        </p:nvSpPr>
        <p:spPr>
          <a:xfrm>
            <a:off x="6718300" y="1266825"/>
            <a:ext cx="39671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프로젝트 네온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018737-D285-4CE2-956E-92B2C8EF90B5}"/>
              </a:ext>
            </a:extLst>
          </p:cNvPr>
          <p:cNvSpPr txBox="1"/>
          <p:nvPr/>
        </p:nvSpPr>
        <p:spPr>
          <a:xfrm>
            <a:off x="6730999" y="1039604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프로젝트 네온 개발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AB508B-85FF-9FE0-BD49-E8D249A64CB8}"/>
              </a:ext>
            </a:extLst>
          </p:cNvPr>
          <p:cNvSpPr txBox="1"/>
          <p:nvPr/>
        </p:nvSpPr>
        <p:spPr>
          <a:xfrm>
            <a:off x="6718300" y="1685229"/>
            <a:ext cx="4726448" cy="657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인력 </a:t>
            </a:r>
            <a:r>
              <a:rPr lang="en-US" altLang="ko-KR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90</a:t>
            </a:r>
            <a:r>
              <a:rPr lang="ko-KR" altLang="en-US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명 → </a:t>
            </a:r>
            <a:r>
              <a:rPr lang="en-US" altLang="ko-KR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120</a:t>
            </a:r>
            <a:r>
              <a:rPr lang="ko-KR" altLang="en-US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명</a:t>
            </a:r>
            <a:endParaRPr lang="en-US" altLang="ko-KR" sz="13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역할 </a:t>
            </a:r>
            <a:r>
              <a:rPr lang="en-US" altLang="ko-KR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</a:t>
            </a:r>
            <a:r>
              <a:rPr lang="en-US" altLang="ko-KR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PM</a:t>
            </a:r>
            <a:endParaRPr lang="ko-KR" altLang="en-US" sz="13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E10E4C9-4EBC-331D-A60E-F302FCF79159}"/>
              </a:ext>
            </a:extLst>
          </p:cNvPr>
          <p:cNvGrpSpPr/>
          <p:nvPr/>
        </p:nvGrpSpPr>
        <p:grpSpPr>
          <a:xfrm>
            <a:off x="7791451" y="2999437"/>
            <a:ext cx="209550" cy="209817"/>
            <a:chOff x="7791451" y="2999437"/>
            <a:chExt cx="209550" cy="209817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37FFF02-E0AD-86AA-6C18-D1EA6C3A4BC7}"/>
                </a:ext>
              </a:extLst>
            </p:cNvPr>
            <p:cNvSpPr/>
            <p:nvPr/>
          </p:nvSpPr>
          <p:spPr>
            <a:xfrm>
              <a:off x="7791451" y="2999437"/>
              <a:ext cx="209550" cy="20981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pic>
          <p:nvPicPr>
            <p:cNvPr id="9" name="그래픽 8" descr="전구 단색으로 채워진">
              <a:extLst>
                <a:ext uri="{FF2B5EF4-FFF2-40B4-BE49-F238E27FC236}">
                  <a16:creationId xmlns:a16="http://schemas.microsoft.com/office/drawing/2014/main" id="{F88F9847-9E53-4F41-C61C-8B2887D38AD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815318" y="3023437"/>
              <a:ext cx="161816" cy="16181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8F0022C-1099-0FA1-82A8-B83AB2BC3299}"/>
              </a:ext>
            </a:extLst>
          </p:cNvPr>
          <p:cNvSpPr txBox="1"/>
          <p:nvPr/>
        </p:nvSpPr>
        <p:spPr>
          <a:xfrm>
            <a:off x="7977134" y="2953048"/>
            <a:ext cx="87680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주요 업무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42C536-4733-EDF3-ED7E-A13B23873A5E}"/>
              </a:ext>
            </a:extLst>
          </p:cNvPr>
          <p:cNvSpPr txBox="1"/>
          <p:nvPr/>
        </p:nvSpPr>
        <p:spPr>
          <a:xfrm>
            <a:off x="7699375" y="3248074"/>
            <a:ext cx="3967163" cy="1123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>
              <a:lnSpc>
                <a:spcPct val="150000"/>
              </a:lnSpc>
              <a:buFontTx/>
              <a:buAutoNum type="arabicPeriod"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프로젝트 일정 및 이슈 관리</a:t>
            </a:r>
            <a:endParaRPr lang="en-US" altLang="ko-KR" sz="115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228600" lvl="0" indent="-228600">
              <a:lnSpc>
                <a:spcPct val="150000"/>
              </a:lnSpc>
              <a:buFontTx/>
              <a:buAutoNum type="arabicPeriod"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대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내외 커뮤니케이션 담당</a:t>
            </a:r>
            <a:endParaRPr lang="en-US" altLang="ko-KR" sz="115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228600" lvl="0" indent="-228600">
              <a:lnSpc>
                <a:spcPct val="150000"/>
              </a:lnSpc>
              <a:buFontTx/>
              <a:buAutoNum type="arabicPeriod"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노하우 자산화 및 개발 리소스 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&amp; </a:t>
            </a: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외주 관리</a:t>
            </a:r>
            <a:endParaRPr lang="en-US" altLang="ko-KR" sz="115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228600" lvl="0" indent="-228600">
              <a:lnSpc>
                <a:spcPct val="150000"/>
              </a:lnSpc>
              <a:buFontTx/>
              <a:buAutoNum type="arabicPeriod"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리스크 관리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7AE120A-9673-5CB4-ABB4-F94997E94F23}"/>
              </a:ext>
            </a:extLst>
          </p:cNvPr>
          <p:cNvSpPr/>
          <p:nvPr/>
        </p:nvSpPr>
        <p:spPr>
          <a:xfrm>
            <a:off x="7791451" y="4868908"/>
            <a:ext cx="209550" cy="20981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20" name="グラフィックス 5" descr="Checkmark">
            <a:extLst>
              <a:ext uri="{FF2B5EF4-FFF2-40B4-BE49-F238E27FC236}">
                <a16:creationId xmlns:a16="http://schemas.microsoft.com/office/drawing/2014/main" id="{BA167734-94A4-4C4F-FD26-DF76019D798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0891" y="4901258"/>
            <a:ext cx="147583" cy="14758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16AAE1F-6B94-24E1-04EC-602349DD2886}"/>
              </a:ext>
            </a:extLst>
          </p:cNvPr>
          <p:cNvSpPr txBox="1"/>
          <p:nvPr/>
        </p:nvSpPr>
        <p:spPr>
          <a:xfrm>
            <a:off x="7977134" y="4822519"/>
            <a:ext cx="17574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성과 및 결과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6ADCCE-F103-1F78-DE7E-55A949B15797}"/>
              </a:ext>
            </a:extLst>
          </p:cNvPr>
          <p:cNvSpPr txBox="1"/>
          <p:nvPr/>
        </p:nvSpPr>
        <p:spPr>
          <a:xfrm>
            <a:off x="8443120" y="1431734"/>
            <a:ext cx="136763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202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4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.0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~ 2024.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12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CC8511A3-0E0E-033C-FC54-F8C9B1FA64FD}"/>
              </a:ext>
            </a:extLst>
          </p:cNvPr>
          <p:cNvSpPr/>
          <p:nvPr/>
        </p:nvSpPr>
        <p:spPr>
          <a:xfrm>
            <a:off x="11685588" y="4707970"/>
            <a:ext cx="506412" cy="2159555"/>
          </a:xfrm>
          <a:custGeom>
            <a:avLst/>
            <a:gdLst>
              <a:gd name="connsiteX0" fmla="*/ 102482 w 506412"/>
              <a:gd name="connsiteY0" fmla="*/ 0 h 2159555"/>
              <a:gd name="connsiteX1" fmla="*/ 506412 w 506412"/>
              <a:gd name="connsiteY1" fmla="*/ 0 h 2159555"/>
              <a:gd name="connsiteX2" fmla="*/ 506412 w 506412"/>
              <a:gd name="connsiteY2" fmla="*/ 2159555 h 2159555"/>
              <a:gd name="connsiteX3" fmla="*/ 0 w 506412"/>
              <a:gd name="connsiteY3" fmla="*/ 2159555 h 2159555"/>
              <a:gd name="connsiteX4" fmla="*/ 0 w 506412"/>
              <a:gd name="connsiteY4" fmla="*/ 97104 h 2159555"/>
              <a:gd name="connsiteX5" fmla="*/ 102482 w 506412"/>
              <a:gd name="connsiteY5" fmla="*/ 0 h 2159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6412" h="2159555">
                <a:moveTo>
                  <a:pt x="102482" y="0"/>
                </a:moveTo>
                <a:lnTo>
                  <a:pt x="506412" y="0"/>
                </a:lnTo>
                <a:lnTo>
                  <a:pt x="506412" y="2159555"/>
                </a:lnTo>
                <a:lnTo>
                  <a:pt x="0" y="2159555"/>
                </a:lnTo>
                <a:lnTo>
                  <a:pt x="0" y="97104"/>
                </a:lnTo>
                <a:cubicBezTo>
                  <a:pt x="0" y="43475"/>
                  <a:pt x="45883" y="0"/>
                  <a:pt x="10248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5827EA-3050-DB29-17E4-195192BDB60A}"/>
              </a:ext>
            </a:extLst>
          </p:cNvPr>
          <p:cNvSpPr txBox="1"/>
          <p:nvPr/>
        </p:nvSpPr>
        <p:spPr>
          <a:xfrm>
            <a:off x="550863" y="228600"/>
            <a:ext cx="2344737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2026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포트폴리오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93C5A6-B8E1-F0AC-069D-F657846187D6}"/>
              </a:ext>
            </a:extLst>
          </p:cNvPr>
          <p:cNvSpPr txBox="1"/>
          <p:nvPr/>
        </p:nvSpPr>
        <p:spPr>
          <a:xfrm>
            <a:off x="9331327" y="228600"/>
            <a:ext cx="2344737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Content 2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8" name="그림 개체 틀 17">
            <a:extLst>
              <a:ext uri="{FF2B5EF4-FFF2-40B4-BE49-F238E27FC236}">
                <a16:creationId xmlns:a16="http://schemas.microsoft.com/office/drawing/2014/main" id="{AFB6E57A-55CF-81CC-7EF0-F7F5F521E08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7" r="13377"/>
          <a:stretch/>
        </p:blipFill>
        <p:spPr>
          <a:xfrm>
            <a:off x="1228725" y="1109663"/>
            <a:ext cx="4865688" cy="2319337"/>
          </a:xfrm>
          <a:custGeom>
            <a:avLst/>
            <a:gdLst>
              <a:gd name="connsiteX0" fmla="*/ 128196 w 4865175"/>
              <a:gd name="connsiteY0" fmla="*/ 0 h 2319034"/>
              <a:gd name="connsiteX1" fmla="*/ 4736979 w 4865175"/>
              <a:gd name="connsiteY1" fmla="*/ 0 h 2319034"/>
              <a:gd name="connsiteX2" fmla="*/ 4865175 w 4865175"/>
              <a:gd name="connsiteY2" fmla="*/ 128196 h 2319034"/>
              <a:gd name="connsiteX3" fmla="*/ 4865175 w 4865175"/>
              <a:gd name="connsiteY3" fmla="*/ 2190838 h 2319034"/>
              <a:gd name="connsiteX4" fmla="*/ 4736979 w 4865175"/>
              <a:gd name="connsiteY4" fmla="*/ 2319034 h 2319034"/>
              <a:gd name="connsiteX5" fmla="*/ 128196 w 4865175"/>
              <a:gd name="connsiteY5" fmla="*/ 2319034 h 2319034"/>
              <a:gd name="connsiteX6" fmla="*/ 0 w 4865175"/>
              <a:gd name="connsiteY6" fmla="*/ 2190838 h 2319034"/>
              <a:gd name="connsiteX7" fmla="*/ 0 w 4865175"/>
              <a:gd name="connsiteY7" fmla="*/ 128196 h 2319034"/>
              <a:gd name="connsiteX8" fmla="*/ 128196 w 4865175"/>
              <a:gd name="connsiteY8" fmla="*/ 0 h 231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65175" h="2319034">
                <a:moveTo>
                  <a:pt x="128196" y="0"/>
                </a:moveTo>
                <a:lnTo>
                  <a:pt x="4736979" y="0"/>
                </a:lnTo>
                <a:cubicBezTo>
                  <a:pt x="4807780" y="0"/>
                  <a:pt x="4865175" y="57395"/>
                  <a:pt x="4865175" y="128196"/>
                </a:cubicBezTo>
                <a:lnTo>
                  <a:pt x="4865175" y="2190838"/>
                </a:lnTo>
                <a:cubicBezTo>
                  <a:pt x="4865175" y="2261639"/>
                  <a:pt x="4807780" y="2319034"/>
                  <a:pt x="4736979" y="2319034"/>
                </a:cubicBezTo>
                <a:lnTo>
                  <a:pt x="128196" y="2319034"/>
                </a:lnTo>
                <a:cubicBezTo>
                  <a:pt x="57395" y="2319034"/>
                  <a:pt x="0" y="2261639"/>
                  <a:pt x="0" y="2190838"/>
                </a:cubicBezTo>
                <a:lnTo>
                  <a:pt x="0" y="128196"/>
                </a:lnTo>
                <a:cubicBezTo>
                  <a:pt x="0" y="57395"/>
                  <a:pt x="57395" y="0"/>
                  <a:pt x="128196" y="0"/>
                </a:cubicBezTo>
                <a:close/>
              </a:path>
            </a:pathLst>
          </a:custGeom>
        </p:spPr>
      </p:pic>
      <p:pic>
        <p:nvPicPr>
          <p:cNvPr id="24" name="그림 개체 틀 23">
            <a:extLst>
              <a:ext uri="{FF2B5EF4-FFF2-40B4-BE49-F238E27FC236}">
                <a16:creationId xmlns:a16="http://schemas.microsoft.com/office/drawing/2014/main" id="{BCA3995D-3A28-257D-FF94-2D4972775F1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5" r="6845"/>
          <a:stretch/>
        </p:blipFill>
        <p:spPr>
          <a:xfrm>
            <a:off x="2208213" y="4029075"/>
            <a:ext cx="4864100" cy="2319338"/>
          </a:xfrm>
          <a:custGeom>
            <a:avLst/>
            <a:gdLst>
              <a:gd name="connsiteX0" fmla="*/ 128196 w 4865175"/>
              <a:gd name="connsiteY0" fmla="*/ 0 h 2319034"/>
              <a:gd name="connsiteX1" fmla="*/ 4736979 w 4865175"/>
              <a:gd name="connsiteY1" fmla="*/ 0 h 2319034"/>
              <a:gd name="connsiteX2" fmla="*/ 4865175 w 4865175"/>
              <a:gd name="connsiteY2" fmla="*/ 128196 h 2319034"/>
              <a:gd name="connsiteX3" fmla="*/ 4865175 w 4865175"/>
              <a:gd name="connsiteY3" fmla="*/ 2190838 h 2319034"/>
              <a:gd name="connsiteX4" fmla="*/ 4736979 w 4865175"/>
              <a:gd name="connsiteY4" fmla="*/ 2319034 h 2319034"/>
              <a:gd name="connsiteX5" fmla="*/ 128196 w 4865175"/>
              <a:gd name="connsiteY5" fmla="*/ 2319034 h 2319034"/>
              <a:gd name="connsiteX6" fmla="*/ 0 w 4865175"/>
              <a:gd name="connsiteY6" fmla="*/ 2190838 h 2319034"/>
              <a:gd name="connsiteX7" fmla="*/ 0 w 4865175"/>
              <a:gd name="connsiteY7" fmla="*/ 128196 h 2319034"/>
              <a:gd name="connsiteX8" fmla="*/ 128196 w 4865175"/>
              <a:gd name="connsiteY8" fmla="*/ 0 h 231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65175" h="2319034">
                <a:moveTo>
                  <a:pt x="128196" y="0"/>
                </a:moveTo>
                <a:lnTo>
                  <a:pt x="4736979" y="0"/>
                </a:lnTo>
                <a:cubicBezTo>
                  <a:pt x="4807780" y="0"/>
                  <a:pt x="4865175" y="57395"/>
                  <a:pt x="4865175" y="128196"/>
                </a:cubicBezTo>
                <a:lnTo>
                  <a:pt x="4865175" y="2190838"/>
                </a:lnTo>
                <a:cubicBezTo>
                  <a:pt x="4865175" y="2261639"/>
                  <a:pt x="4807780" y="2319034"/>
                  <a:pt x="4736979" y="2319034"/>
                </a:cubicBezTo>
                <a:lnTo>
                  <a:pt x="128196" y="2319034"/>
                </a:lnTo>
                <a:cubicBezTo>
                  <a:pt x="57395" y="2319034"/>
                  <a:pt x="0" y="2261639"/>
                  <a:pt x="0" y="2190838"/>
                </a:cubicBezTo>
                <a:lnTo>
                  <a:pt x="0" y="128196"/>
                </a:lnTo>
                <a:cubicBezTo>
                  <a:pt x="0" y="57395"/>
                  <a:pt x="57395" y="0"/>
                  <a:pt x="12819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94704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980A2-D2CA-5329-9FA5-651BA129E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5BDD989-F64D-6F34-11AC-95D5349A3F37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프로젝트 네온 개발 관리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BF208F-7C67-D388-7E74-71268C5A0CC8}"/>
              </a:ext>
            </a:extLst>
          </p:cNvPr>
          <p:cNvSpPr txBox="1"/>
          <p:nvPr/>
        </p:nvSpPr>
        <p:spPr>
          <a:xfrm>
            <a:off x="465138" y="706566"/>
            <a:ext cx="39671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프로젝트 네온 </a:t>
            </a:r>
            <a:r>
              <a:rPr lang="ko-KR" altLang="en-US" sz="26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활동 내역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177" name="直接连接符 46">
            <a:extLst>
              <a:ext uri="{FF2B5EF4-FFF2-40B4-BE49-F238E27FC236}">
                <a16:creationId xmlns:a16="http://schemas.microsoft.com/office/drawing/2014/main" id="{CC880635-EB19-100B-7C05-0A76EAA808F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54688" y="3495675"/>
            <a:ext cx="0" cy="3362325"/>
          </a:xfrm>
          <a:prstGeom prst="line">
            <a:avLst/>
          </a:prstGeom>
          <a:noFill/>
          <a:ln w="28575" algn="ctr">
            <a:solidFill>
              <a:srgbClr val="7F7F7F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BA887B91-7348-7D5E-92AB-1BBBAD45940E}"/>
              </a:ext>
            </a:extLst>
          </p:cNvPr>
          <p:cNvSpPr/>
          <p:nvPr/>
        </p:nvSpPr>
        <p:spPr>
          <a:xfrm>
            <a:off x="6096000" y="2627776"/>
            <a:ext cx="3486150" cy="15383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/>
              <a:t>알파 빌드 심사가 완료됨에 따라</a:t>
            </a:r>
            <a:endParaRPr lang="en-US" altLang="ko-KR" sz="1100" dirty="0"/>
          </a:p>
          <a:p>
            <a:r>
              <a:rPr lang="ko-KR" altLang="en-US" sz="1100" dirty="0"/>
              <a:t>피드백 및 개선 요청 사항을 반영하여 개발 착수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활동 내역</a:t>
            </a:r>
            <a:endParaRPr lang="en-US" altLang="ko-KR" sz="1100" dirty="0"/>
          </a:p>
          <a:p>
            <a:pPr marL="228600" indent="-228600">
              <a:buAutoNum type="arabicPeriod"/>
            </a:pPr>
            <a:r>
              <a:rPr lang="ko-KR" altLang="en-US" sz="1100" dirty="0"/>
              <a:t>개발 계획 수립 및 환경 구성</a:t>
            </a:r>
            <a:endParaRPr lang="en-US" altLang="ko-KR" sz="1100" dirty="0"/>
          </a:p>
          <a:p>
            <a:r>
              <a:rPr lang="en-US" altLang="ko-KR" sz="1100" dirty="0"/>
              <a:t>    - </a:t>
            </a:r>
            <a:r>
              <a:rPr lang="ko-KR" altLang="en-US" sz="1100" dirty="0"/>
              <a:t>마일스톤 설정 및 일감 배분</a:t>
            </a:r>
            <a:endParaRPr lang="en-US" altLang="ko-KR" sz="1100" dirty="0"/>
          </a:p>
          <a:p>
            <a:r>
              <a:rPr lang="en-US" altLang="ko-KR" sz="1100" dirty="0"/>
              <a:t>    - </a:t>
            </a:r>
            <a:r>
              <a:rPr lang="ko-KR" altLang="en-US" sz="1100" dirty="0"/>
              <a:t>담당자 및 태스크</a:t>
            </a:r>
            <a:r>
              <a:rPr lang="en-US" altLang="ko-KR" sz="1100" dirty="0"/>
              <a:t> </a:t>
            </a:r>
            <a:r>
              <a:rPr lang="ko-KR" altLang="en-US" sz="1100" dirty="0"/>
              <a:t>등록</a:t>
            </a:r>
            <a:r>
              <a:rPr lang="en-US" altLang="ko-KR" sz="1100" dirty="0"/>
              <a:t>,</a:t>
            </a:r>
            <a:r>
              <a:rPr lang="ko-KR" altLang="en-US" sz="1100" dirty="0"/>
              <a:t> </a:t>
            </a:r>
            <a:r>
              <a:rPr lang="en-US" altLang="ko-KR" sz="1100" dirty="0"/>
              <a:t>WBS </a:t>
            </a:r>
            <a:r>
              <a:rPr lang="ko-KR" altLang="en-US" sz="1100" dirty="0"/>
              <a:t>작성</a:t>
            </a:r>
            <a:endParaRPr lang="en-US" altLang="ko-KR" sz="1100" dirty="0"/>
          </a:p>
          <a:p>
            <a:r>
              <a:rPr lang="en-US" altLang="ko-KR" sz="1100" dirty="0"/>
              <a:t>2.   </a:t>
            </a:r>
            <a:r>
              <a:rPr lang="ko-KR" altLang="en-US" sz="1100" dirty="0"/>
              <a:t>협업 프로세스 점검</a:t>
            </a:r>
            <a:endParaRPr lang="en-US" altLang="ko-KR" sz="1100" dirty="0"/>
          </a:p>
        </p:txBody>
      </p:sp>
      <p:sp>
        <p:nvSpPr>
          <p:cNvPr id="184" name="椭圆 56">
            <a:extLst>
              <a:ext uri="{FF2B5EF4-FFF2-40B4-BE49-F238E27FC236}">
                <a16:creationId xmlns:a16="http://schemas.microsoft.com/office/drawing/2014/main" id="{A17C2A89-9CEF-4CDC-8F89-1A06AF575D98}"/>
              </a:ext>
            </a:extLst>
          </p:cNvPr>
          <p:cNvSpPr/>
          <p:nvPr/>
        </p:nvSpPr>
        <p:spPr>
          <a:xfrm>
            <a:off x="5682688" y="3332625"/>
            <a:ext cx="144000" cy="144000"/>
          </a:xfrm>
          <a:prstGeom prst="ellipse">
            <a:avLst/>
          </a:prstGeom>
          <a:solidFill>
            <a:srgbClr val="E9CE05"/>
          </a:solidFill>
          <a:ln w="28575" cap="flat" cmpd="sng" algn="ctr">
            <a:solidFill>
              <a:srgbClr val="A47D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CAE4BAE-CE42-D9C2-5331-2D352BFFCA96}"/>
              </a:ext>
            </a:extLst>
          </p:cNvPr>
          <p:cNvSpPr txBox="1"/>
          <p:nvPr/>
        </p:nvSpPr>
        <p:spPr>
          <a:xfrm>
            <a:off x="4808971" y="3280231"/>
            <a:ext cx="72135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2024.02</a:t>
            </a:r>
            <a:endParaRPr lang="ko-KR" altLang="en-US" sz="14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0A5A2F2-E1E7-3359-0ACE-15D1909AF93A}"/>
              </a:ext>
            </a:extLst>
          </p:cNvPr>
          <p:cNvSpPr txBox="1"/>
          <p:nvPr/>
        </p:nvSpPr>
        <p:spPr>
          <a:xfrm>
            <a:off x="4744850" y="3539039"/>
            <a:ext cx="84959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전투</a:t>
            </a:r>
            <a:r>
              <a:rPr lang="en-US" altLang="ko-KR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 </a:t>
            </a:r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개선 빌드</a:t>
            </a:r>
            <a:endParaRPr lang="en-US" altLang="ko-KR" sz="12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6D8ED472-E567-BEF2-751E-262E2581C22B}"/>
              </a:ext>
            </a:extLst>
          </p:cNvPr>
          <p:cNvSpPr/>
          <p:nvPr/>
        </p:nvSpPr>
        <p:spPr>
          <a:xfrm rot="16200000">
            <a:off x="5515983" y="5669647"/>
            <a:ext cx="292234" cy="25192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649CD4-89DA-CCE8-3FBD-C60F95BB04C7}"/>
              </a:ext>
            </a:extLst>
          </p:cNvPr>
          <p:cNvSpPr/>
          <p:nvPr/>
        </p:nvSpPr>
        <p:spPr>
          <a:xfrm>
            <a:off x="1970112" y="5241771"/>
            <a:ext cx="3486134" cy="11029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811DC6-E942-7D05-4767-FF5B09F36B9A}"/>
              </a:ext>
            </a:extLst>
          </p:cNvPr>
          <p:cNvSpPr/>
          <p:nvPr/>
        </p:nvSpPr>
        <p:spPr>
          <a:xfrm>
            <a:off x="2300686" y="6031637"/>
            <a:ext cx="2736851" cy="177282"/>
          </a:xfrm>
          <a:prstGeom prst="rect">
            <a:avLst/>
          </a:prstGeom>
          <a:solidFill>
            <a:srgbClr val="E9C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0B9551-800C-4B67-978A-815066B56F02}"/>
              </a:ext>
            </a:extLst>
          </p:cNvPr>
          <p:cNvSpPr/>
          <p:nvPr/>
        </p:nvSpPr>
        <p:spPr>
          <a:xfrm>
            <a:off x="1964147" y="5238284"/>
            <a:ext cx="3486131" cy="3039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협업 프로세스 개선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9D91B2-C499-8BBC-95A8-331AA0F30682}"/>
              </a:ext>
            </a:extLst>
          </p:cNvPr>
          <p:cNvSpPr/>
          <p:nvPr/>
        </p:nvSpPr>
        <p:spPr>
          <a:xfrm>
            <a:off x="2210553" y="5542256"/>
            <a:ext cx="3004791" cy="7989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문제점 </a:t>
            </a:r>
            <a:r>
              <a:rPr lang="en-US" altLang="ko-KR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sz="1100" dirty="0" err="1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텐센트의</a:t>
            </a:r>
            <a:r>
              <a:rPr lang="ko-KR" altLang="en-US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개발 스펙 변경 요청 발생</a:t>
            </a:r>
            <a:endParaRPr lang="en-US" altLang="ko-KR" sz="11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R="0" lvl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해결 </a:t>
            </a:r>
            <a:r>
              <a:rPr lang="en-US" altLang="ko-KR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컨퍼런스 콜을 통해 양사 사전 협의 제안</a:t>
            </a:r>
            <a:endParaRPr lang="en-US" altLang="ko-KR" sz="11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R="0" lvl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성과 </a:t>
            </a:r>
            <a:r>
              <a:rPr lang="en-US" altLang="ko-KR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일정 변경 이슈 대응 및 신속한 의견 조율</a:t>
            </a:r>
            <a:r>
              <a:rPr lang="en-US" altLang="ko-KR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</a:p>
        </p:txBody>
      </p:sp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67215DCD-93A9-4984-FD08-3628BDA06AB0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A084E-D2EB-5320-630E-261F87386735}"/>
              </a:ext>
            </a:extLst>
          </p:cNvPr>
          <p:cNvSpPr txBox="1"/>
          <p:nvPr/>
        </p:nvSpPr>
        <p:spPr>
          <a:xfrm>
            <a:off x="474662" y="1124307"/>
            <a:ext cx="5621337" cy="679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35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네온 프로젝트에 합류하여 프로젝트 종료 시점까지의 주요 활동 내역입니다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프로토 타입 개발이 완료된 시점에 합류하였으며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 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약 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3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개월 뒤 풀 프로덕션 단계로 전환하였습니다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.</a:t>
            </a:r>
            <a:endParaRPr kumimoji="0" lang="en-US" altLang="ko-KR" sz="13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317936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64CE5B-E961-3356-F910-2C3DB5A7A8D1}"/>
              </a:ext>
            </a:extLst>
          </p:cNvPr>
          <p:cNvSpPr/>
          <p:nvPr/>
        </p:nvSpPr>
        <p:spPr>
          <a:xfrm flipH="1">
            <a:off x="6096000" y="2659848"/>
            <a:ext cx="3486150" cy="15383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/>
              <a:t>빌드 양산을 위한 </a:t>
            </a:r>
            <a:r>
              <a:rPr lang="ko-KR" altLang="en-US" sz="1100" dirty="0" err="1"/>
              <a:t>텐센트</a:t>
            </a:r>
            <a:r>
              <a:rPr lang="ko-KR" altLang="en-US" sz="1100" dirty="0"/>
              <a:t> 심사 전용 빌드 개발 착수</a:t>
            </a:r>
            <a:endParaRPr lang="en-US" altLang="ko-KR" sz="1100" dirty="0"/>
          </a:p>
          <a:p>
            <a:r>
              <a:rPr lang="ko-KR" altLang="en-US" sz="1100" dirty="0"/>
              <a:t>프로젝트 관리 방안 고도화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주요 활동 내역</a:t>
            </a:r>
            <a:endParaRPr lang="en-US" altLang="ko-KR" sz="1100" dirty="0"/>
          </a:p>
          <a:p>
            <a:pPr marL="228600" indent="-228600">
              <a:buAutoNum type="arabicPeriod"/>
            </a:pPr>
            <a:r>
              <a:rPr lang="ko-KR" altLang="en-US" sz="1100" dirty="0"/>
              <a:t>일정 및 태스크 관리</a:t>
            </a:r>
            <a:endParaRPr lang="en-US" altLang="ko-KR" sz="1100" dirty="0"/>
          </a:p>
          <a:p>
            <a:r>
              <a:rPr lang="en-US" altLang="ko-KR" sz="1100" dirty="0"/>
              <a:t>    - </a:t>
            </a:r>
            <a:r>
              <a:rPr lang="ko-KR" altLang="en-US" sz="1100" dirty="0"/>
              <a:t>커뮤니케이션을 통한 체계적인 일정 관리</a:t>
            </a:r>
            <a:endParaRPr lang="en-US" altLang="ko-KR" sz="1100" dirty="0"/>
          </a:p>
          <a:p>
            <a:r>
              <a:rPr lang="en-US" altLang="ko-KR" sz="1100" dirty="0"/>
              <a:t>    - </a:t>
            </a:r>
            <a:r>
              <a:rPr lang="ko-KR" altLang="en-US" sz="1100" dirty="0"/>
              <a:t>변경요청 기록부를 활용한 빠른 의사결정 기여</a:t>
            </a:r>
            <a:endParaRPr lang="en-US" altLang="ko-KR" sz="1100" dirty="0"/>
          </a:p>
          <a:p>
            <a:r>
              <a:rPr lang="en-US" altLang="ko-KR" sz="1100" dirty="0"/>
              <a:t>2. BTS </a:t>
            </a:r>
            <a:r>
              <a:rPr lang="ko-KR" altLang="en-US" sz="1100" dirty="0"/>
              <a:t>및 </a:t>
            </a:r>
            <a:r>
              <a:rPr lang="en-US" altLang="ko-KR" sz="1100" dirty="0"/>
              <a:t>QA </a:t>
            </a:r>
            <a:r>
              <a:rPr lang="ko-KR" altLang="en-US" sz="1100" dirty="0"/>
              <a:t>관리</a:t>
            </a:r>
            <a:endParaRPr lang="en-US" altLang="ko-KR" sz="1100" dirty="0"/>
          </a:p>
        </p:txBody>
      </p:sp>
      <p:cxnSp>
        <p:nvCxnSpPr>
          <p:cNvPr id="3076" name="直接连接符 46">
            <a:extLst>
              <a:ext uri="{FF2B5EF4-FFF2-40B4-BE49-F238E27FC236}">
                <a16:creationId xmlns:a16="http://schemas.microsoft.com/office/drawing/2014/main" id="{E1B2BAF4-CEA8-6F7D-A8D8-BFECB51630FB}"/>
              </a:ext>
            </a:extLst>
          </p:cNvPr>
          <p:cNvCxnSpPr>
            <a:cxnSpLocks noChangeShapeType="1"/>
            <a:endCxn id="75" idx="0"/>
          </p:cNvCxnSpPr>
          <p:nvPr/>
        </p:nvCxnSpPr>
        <p:spPr bwMode="auto">
          <a:xfrm>
            <a:off x="5745163" y="0"/>
            <a:ext cx="7847" cy="5478926"/>
          </a:xfrm>
          <a:prstGeom prst="line">
            <a:avLst/>
          </a:prstGeom>
          <a:noFill/>
          <a:ln w="28575" algn="ctr">
            <a:solidFill>
              <a:srgbClr val="7F7F7F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" name="椭圆 56">
            <a:extLst>
              <a:ext uri="{FF2B5EF4-FFF2-40B4-BE49-F238E27FC236}">
                <a16:creationId xmlns:a16="http://schemas.microsoft.com/office/drawing/2014/main" id="{469F1FE5-7DE7-4F92-A33B-F0A0D6B7C75B}"/>
              </a:ext>
            </a:extLst>
          </p:cNvPr>
          <p:cNvSpPr/>
          <p:nvPr/>
        </p:nvSpPr>
        <p:spPr>
          <a:xfrm>
            <a:off x="5681010" y="1230310"/>
            <a:ext cx="144000" cy="144000"/>
          </a:xfrm>
          <a:prstGeom prst="ellipse">
            <a:avLst/>
          </a:prstGeom>
          <a:solidFill>
            <a:srgbClr val="E9CE05"/>
          </a:solidFill>
          <a:ln w="28575" cap="flat" cmpd="sng" algn="ctr">
            <a:solidFill>
              <a:srgbClr val="A47D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1633A495-DFD3-4E24-A276-7B2A875F0A04}"/>
              </a:ext>
            </a:extLst>
          </p:cNvPr>
          <p:cNvSpPr/>
          <p:nvPr/>
        </p:nvSpPr>
        <p:spPr>
          <a:xfrm>
            <a:off x="5681055" y="3357000"/>
            <a:ext cx="144000" cy="144000"/>
          </a:xfrm>
          <a:prstGeom prst="ellipse">
            <a:avLst/>
          </a:prstGeom>
          <a:solidFill>
            <a:srgbClr val="E9CE05"/>
          </a:solidFill>
          <a:ln w="28575" cap="flat" cmpd="sng" algn="ctr">
            <a:solidFill>
              <a:srgbClr val="A47D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18AF269C-771D-4D32-AB80-55B64E37903A}"/>
              </a:ext>
            </a:extLst>
          </p:cNvPr>
          <p:cNvSpPr/>
          <p:nvPr/>
        </p:nvSpPr>
        <p:spPr>
          <a:xfrm>
            <a:off x="5681010" y="5478926"/>
            <a:ext cx="144000" cy="144000"/>
          </a:xfrm>
          <a:prstGeom prst="ellipse">
            <a:avLst/>
          </a:prstGeom>
          <a:solidFill>
            <a:srgbClr val="E9CE05"/>
          </a:solidFill>
          <a:ln w="28575" cap="flat" cmpd="sng" algn="ctr">
            <a:solidFill>
              <a:srgbClr val="A47D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FA7D87-A504-5CDE-7466-338C2D3E6B2A}"/>
              </a:ext>
            </a:extLst>
          </p:cNvPr>
          <p:cNvSpPr/>
          <p:nvPr/>
        </p:nvSpPr>
        <p:spPr>
          <a:xfrm>
            <a:off x="6096000" y="564347"/>
            <a:ext cx="3486150" cy="15383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/>
              <a:t>주요 컨텐츠 및 시스템 개발 완료</a:t>
            </a:r>
            <a:endParaRPr lang="en-US" altLang="ko-KR" sz="1100" dirty="0"/>
          </a:p>
          <a:p>
            <a:r>
              <a:rPr lang="ko-KR" altLang="en-US" sz="1100" dirty="0"/>
              <a:t>풀 프로덕션 돌입 및 개발 관리 고도화 진행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주요 활동 내역</a:t>
            </a:r>
            <a:endParaRPr lang="en-US" altLang="ko-KR" sz="1100" dirty="0"/>
          </a:p>
          <a:p>
            <a:pPr marL="228600" indent="-228600">
              <a:buAutoNum type="arabicPeriod"/>
            </a:pPr>
            <a:r>
              <a:rPr lang="ko-KR" altLang="en-US" sz="1100" dirty="0"/>
              <a:t>외주 발주 리스트 제작 및 외주 관리</a:t>
            </a:r>
            <a:endParaRPr lang="en-US" altLang="ko-KR" sz="1100" dirty="0"/>
          </a:p>
          <a:p>
            <a:pPr marL="228600" indent="-228600">
              <a:buAutoNum type="arabicPeriod"/>
            </a:pPr>
            <a:r>
              <a:rPr lang="ko-KR" altLang="en-US" sz="1100" dirty="0"/>
              <a:t>리소스 제작 현황 파악 및 제작 관리</a:t>
            </a:r>
            <a:endParaRPr lang="en-US" altLang="ko-KR" sz="1100" dirty="0"/>
          </a:p>
          <a:p>
            <a:r>
              <a:rPr lang="ko-KR" altLang="en-US" sz="1100" dirty="0"/>
              <a:t>   </a:t>
            </a:r>
            <a:r>
              <a:rPr lang="en-US" altLang="ko-KR" sz="1100" dirty="0"/>
              <a:t>- </a:t>
            </a:r>
            <a:r>
              <a:rPr lang="ko-KR" altLang="en-US" sz="1100" dirty="0"/>
              <a:t> 리소스 현황 리스트 작성 후 리소스 제작 관리</a:t>
            </a:r>
            <a:endParaRPr lang="en-US" altLang="ko-KR" sz="1100" dirty="0"/>
          </a:p>
          <a:p>
            <a:r>
              <a:rPr lang="en-US" altLang="ko-KR" sz="1100" dirty="0"/>
              <a:t>2.   </a:t>
            </a:r>
            <a:r>
              <a:rPr lang="ko-KR" altLang="en-US" sz="1100" dirty="0"/>
              <a:t>회의 프로세스 점검</a:t>
            </a:r>
            <a:endParaRPr lang="en-US" altLang="ko-KR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3A96F-618C-C110-CD26-AD2AB5D260B1}"/>
              </a:ext>
            </a:extLst>
          </p:cNvPr>
          <p:cNvSpPr txBox="1"/>
          <p:nvPr/>
        </p:nvSpPr>
        <p:spPr>
          <a:xfrm>
            <a:off x="4608855" y="971502"/>
            <a:ext cx="72135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2024.05</a:t>
            </a:r>
            <a:endParaRPr lang="ko-KR" altLang="en-US" sz="14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2D9D0-C83F-6D0C-B5B0-6D1F9B628C36}"/>
              </a:ext>
            </a:extLst>
          </p:cNvPr>
          <p:cNvSpPr txBox="1"/>
          <p:nvPr/>
        </p:nvSpPr>
        <p:spPr>
          <a:xfrm>
            <a:off x="4544735" y="1230310"/>
            <a:ext cx="84959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정식 데모 빌드</a:t>
            </a:r>
            <a:endParaRPr lang="en-US" altLang="ko-KR" sz="12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EDB0CD-6EC0-9EFF-3B16-32F495F4115C}"/>
              </a:ext>
            </a:extLst>
          </p:cNvPr>
          <p:cNvSpPr/>
          <p:nvPr/>
        </p:nvSpPr>
        <p:spPr>
          <a:xfrm>
            <a:off x="6096000" y="4755350"/>
            <a:ext cx="3486150" cy="15383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/>
              <a:t>텐센트</a:t>
            </a:r>
            <a:r>
              <a:rPr lang="ko-KR" altLang="en-US" sz="1100" dirty="0"/>
              <a:t> 심사 빌드 제출</a:t>
            </a:r>
            <a:endParaRPr lang="en-US" altLang="ko-KR" sz="1100" dirty="0"/>
          </a:p>
          <a:p>
            <a:r>
              <a:rPr lang="ko-KR" altLang="en-US" sz="1100" dirty="0"/>
              <a:t>심사 결과 복합적인 문제로 양사 논의 필요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결과 </a:t>
            </a:r>
            <a:r>
              <a:rPr lang="en-US" altLang="ko-KR" sz="1100" dirty="0"/>
              <a:t>: </a:t>
            </a:r>
            <a:r>
              <a:rPr lang="ko-KR" altLang="en-US" sz="1100" dirty="0" err="1"/>
              <a:t>텐센트</a:t>
            </a:r>
            <a:r>
              <a:rPr lang="ko-KR" altLang="en-US" sz="1100" dirty="0"/>
              <a:t> 및 경영진 논의 이후 프로젝트 종료 결정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주요 활동 내역</a:t>
            </a:r>
            <a:endParaRPr lang="en-US" altLang="ko-KR" sz="1100" dirty="0"/>
          </a:p>
          <a:p>
            <a:pPr marL="228600" indent="-228600">
              <a:buAutoNum type="arabicPeriod"/>
            </a:pPr>
            <a:r>
              <a:rPr lang="ko-KR" altLang="en-US" sz="1100" dirty="0"/>
              <a:t>업무 마무리를 위한 문서화 작업 담당</a:t>
            </a:r>
            <a:endParaRPr lang="en-US" altLang="ko-KR" sz="1100" dirty="0"/>
          </a:p>
          <a:p>
            <a:pPr marL="228600" indent="-228600">
              <a:buAutoNum type="arabicPeriod"/>
            </a:pPr>
            <a:r>
              <a:rPr lang="ko-KR" altLang="en-US" sz="1100" dirty="0"/>
              <a:t>프로젝트 관리 관련 노하우 자산화 진행</a:t>
            </a:r>
            <a:endParaRPr lang="en-US" altLang="ko-KR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A41A24-0238-218B-70F5-C43894771182}"/>
              </a:ext>
            </a:extLst>
          </p:cNvPr>
          <p:cNvSpPr txBox="1"/>
          <p:nvPr/>
        </p:nvSpPr>
        <p:spPr>
          <a:xfrm>
            <a:off x="4675379" y="5220118"/>
            <a:ext cx="67807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2024.12</a:t>
            </a:r>
            <a:endParaRPr lang="ko-KR" altLang="en-US" sz="14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4282F0-E4F5-489A-0038-F97419549E6F}"/>
              </a:ext>
            </a:extLst>
          </p:cNvPr>
          <p:cNvSpPr txBox="1"/>
          <p:nvPr/>
        </p:nvSpPr>
        <p:spPr>
          <a:xfrm>
            <a:off x="4624084" y="5478926"/>
            <a:ext cx="82394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프로젝트 종료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CA9B00-7798-B96A-5F18-830FF0DD1DF9}"/>
              </a:ext>
            </a:extLst>
          </p:cNvPr>
          <p:cNvSpPr txBox="1"/>
          <p:nvPr/>
        </p:nvSpPr>
        <p:spPr>
          <a:xfrm flipH="1">
            <a:off x="4653640" y="3098192"/>
            <a:ext cx="68608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2024.10</a:t>
            </a:r>
            <a:endParaRPr lang="ko-KR" altLang="en-US" sz="14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1AD450-83B3-5EEF-EB33-5C1EA5D26805}"/>
              </a:ext>
            </a:extLst>
          </p:cNvPr>
          <p:cNvSpPr txBox="1"/>
          <p:nvPr/>
        </p:nvSpPr>
        <p:spPr>
          <a:xfrm flipH="1">
            <a:off x="4522997" y="3357000"/>
            <a:ext cx="98264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200" spc="-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텐센트</a:t>
            </a:r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 심사 빌드</a:t>
            </a:r>
            <a:endParaRPr lang="en-US" altLang="ko-KR" sz="12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334F1F39-BD0F-9216-DDF9-427BF3C96A6F}"/>
              </a:ext>
            </a:extLst>
          </p:cNvPr>
          <p:cNvSpPr/>
          <p:nvPr/>
        </p:nvSpPr>
        <p:spPr>
          <a:xfrm rot="16200000">
            <a:off x="5492874" y="2260025"/>
            <a:ext cx="292234" cy="25192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7C29B2F-050A-4F9F-9669-59FDE9B5DF41}"/>
              </a:ext>
            </a:extLst>
          </p:cNvPr>
          <p:cNvSpPr/>
          <p:nvPr/>
        </p:nvSpPr>
        <p:spPr>
          <a:xfrm>
            <a:off x="1947003" y="1832149"/>
            <a:ext cx="3486134" cy="11029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85DC417-F3A0-616D-A76E-F2378AA798ED}"/>
              </a:ext>
            </a:extLst>
          </p:cNvPr>
          <p:cNvSpPr/>
          <p:nvPr/>
        </p:nvSpPr>
        <p:spPr>
          <a:xfrm>
            <a:off x="2283551" y="2624000"/>
            <a:ext cx="2596359" cy="175184"/>
          </a:xfrm>
          <a:prstGeom prst="rect">
            <a:avLst/>
          </a:prstGeom>
          <a:solidFill>
            <a:srgbClr val="E9C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A950EC4-C1E1-6BAE-A1C1-74E3E6FAC638}"/>
              </a:ext>
            </a:extLst>
          </p:cNvPr>
          <p:cNvSpPr/>
          <p:nvPr/>
        </p:nvSpPr>
        <p:spPr>
          <a:xfrm>
            <a:off x="2193409" y="2136121"/>
            <a:ext cx="3004791" cy="7989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문제점 </a:t>
            </a:r>
            <a:r>
              <a:rPr lang="en-US" altLang="ko-KR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개발실 이해 목표 불일치</a:t>
            </a:r>
            <a:endParaRPr lang="en-US" altLang="ko-KR" sz="11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R="0" lvl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해결 </a:t>
            </a:r>
            <a:r>
              <a:rPr lang="en-US" altLang="ko-KR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회의 규범 및 프로세스 재정립</a:t>
            </a:r>
            <a:endParaRPr lang="en-US" altLang="ko-KR" sz="11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R="0" lvl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성과 </a:t>
            </a:r>
            <a:r>
              <a:rPr lang="en-US" altLang="ko-KR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올바른 회의 문화 정착 및 만족도 향상</a:t>
            </a:r>
            <a:endParaRPr lang="en-US" altLang="ko-KR" sz="11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7F2E49A-9575-043F-3B77-9CBCDFDF8703}"/>
              </a:ext>
            </a:extLst>
          </p:cNvPr>
          <p:cNvSpPr/>
          <p:nvPr/>
        </p:nvSpPr>
        <p:spPr>
          <a:xfrm>
            <a:off x="1947003" y="1832149"/>
            <a:ext cx="3486131" cy="3039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회의 프로세스 개선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8FAA6E6A-FC5B-C6A1-2884-FED86918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A710CBC8-8305-D16E-2FB7-69001CCD7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46438"/>
            <a:ext cx="11049000" cy="21852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66FF10C-F19A-AB3E-8F58-49284D2F5389}"/>
              </a:ext>
            </a:extLst>
          </p:cNvPr>
          <p:cNvGrpSpPr/>
          <p:nvPr/>
        </p:nvGrpSpPr>
        <p:grpSpPr>
          <a:xfrm>
            <a:off x="571500" y="3703530"/>
            <a:ext cx="11049000" cy="3018016"/>
            <a:chOff x="318159" y="3703530"/>
            <a:chExt cx="11555683" cy="3018016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33C1AB9-3B43-0E1D-81AE-2292FCE620E4}"/>
                </a:ext>
              </a:extLst>
            </p:cNvPr>
            <p:cNvSpPr/>
            <p:nvPr/>
          </p:nvSpPr>
          <p:spPr>
            <a:xfrm>
              <a:off x="318159" y="3703530"/>
              <a:ext cx="5644491" cy="1401307"/>
            </a:xfrm>
            <a:prstGeom prst="rect">
              <a:avLst/>
            </a:prstGeom>
            <a:solidFill>
              <a:srgbClr val="FFCC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D1EB52B-C8C6-4569-1CC6-F6620D7B497B}"/>
                </a:ext>
              </a:extLst>
            </p:cNvPr>
            <p:cNvSpPr/>
            <p:nvPr/>
          </p:nvSpPr>
          <p:spPr>
            <a:xfrm>
              <a:off x="6229351" y="3703530"/>
              <a:ext cx="5644491" cy="1401307"/>
            </a:xfrm>
            <a:prstGeom prst="rect">
              <a:avLst/>
            </a:prstGeom>
            <a:solidFill>
              <a:srgbClr val="CCE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A108E99-4AE6-61EA-4E5A-74C6F0FF5A26}"/>
                </a:ext>
              </a:extLst>
            </p:cNvPr>
            <p:cNvSpPr/>
            <p:nvPr/>
          </p:nvSpPr>
          <p:spPr>
            <a:xfrm>
              <a:off x="318160" y="5320239"/>
              <a:ext cx="5644490" cy="1401307"/>
            </a:xfrm>
            <a:prstGeom prst="rect">
              <a:avLst/>
            </a:prstGeom>
            <a:solidFill>
              <a:srgbClr val="CC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B3F09B7-1C7A-4AA3-7E76-2CEA7D0634E0}"/>
                </a:ext>
              </a:extLst>
            </p:cNvPr>
            <p:cNvSpPr/>
            <p:nvPr/>
          </p:nvSpPr>
          <p:spPr>
            <a:xfrm>
              <a:off x="6229351" y="5320239"/>
              <a:ext cx="5644490" cy="1401307"/>
            </a:xfrm>
            <a:prstGeom prst="rect">
              <a:avLst/>
            </a:prstGeom>
            <a:solidFill>
              <a:srgbClr val="FFC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FF1DAB6-7358-5BC5-282A-689535A78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5919" y="3810146"/>
              <a:ext cx="1791506" cy="112894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E733F8A-38AB-2259-2CDC-6E150800E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36070"/>
            <a:stretch/>
          </p:blipFill>
          <p:spPr>
            <a:xfrm>
              <a:off x="2405185" y="3810145"/>
              <a:ext cx="1791506" cy="112894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0B65AE01-C9BD-C5F9-0D67-E7E4DEB8A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82465" y="3810145"/>
              <a:ext cx="1801746" cy="112894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9AA812BE-99B7-F6F4-B486-D4A029120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37325" y="3810145"/>
              <a:ext cx="1801746" cy="1128947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0C34DD70-101E-515F-75F3-0614C4C5D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5919" y="5456418"/>
              <a:ext cx="3730772" cy="112894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FD894090-A120-9114-17D8-B7775C68C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82465" y="5456418"/>
              <a:ext cx="3730771" cy="112422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83F06EC-BDD5-75B7-8C64-6D25F98DF309}"/>
                </a:ext>
              </a:extLst>
            </p:cNvPr>
            <p:cNvSpPr/>
            <p:nvPr/>
          </p:nvSpPr>
          <p:spPr>
            <a:xfrm>
              <a:off x="4196691" y="3810145"/>
              <a:ext cx="1670709" cy="11289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개발 일정과 스펙은</a:t>
              </a:r>
              <a:endPara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아사나와 </a:t>
              </a:r>
              <a:r>
                <a:rPr kumimoji="0" lang="en-US" altLang="ko-KR" sz="11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WBS</a:t>
              </a:r>
              <a:r>
                <a:rPr kumimoji="0" lang="ko-KR" altLang="en-US" sz="11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로 관리</a:t>
              </a:r>
              <a:endPara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9C75B67-2579-85FB-732E-896459706A5C}"/>
                </a:ext>
              </a:extLst>
            </p:cNvPr>
            <p:cNvSpPr/>
            <p:nvPr/>
          </p:nvSpPr>
          <p:spPr>
            <a:xfrm>
              <a:off x="10139071" y="3810144"/>
              <a:ext cx="1670709" cy="11289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이슈 관리를 위한</a:t>
              </a:r>
              <a:endPara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주간보고서 작성</a:t>
              </a:r>
              <a:endPara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리소스 현황판을 통한</a:t>
              </a:r>
              <a:endPara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리소스 제작 관리</a:t>
              </a:r>
              <a:endPara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86CC7684-1F2C-60CE-2BF1-AC47B3EA8644}"/>
                </a:ext>
              </a:extLst>
            </p:cNvPr>
            <p:cNvSpPr/>
            <p:nvPr/>
          </p:nvSpPr>
          <p:spPr>
            <a:xfrm>
              <a:off x="4196690" y="5451692"/>
              <a:ext cx="1670709" cy="11289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외주 발주 리스트를</a:t>
              </a:r>
              <a:endPara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활용한 외주 관리</a:t>
              </a:r>
              <a:endPara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15B4C841-0661-4729-DA51-36CC4312D8F8}"/>
                </a:ext>
              </a:extLst>
            </p:cNvPr>
            <p:cNvSpPr/>
            <p:nvPr/>
          </p:nvSpPr>
          <p:spPr>
            <a:xfrm>
              <a:off x="10139071" y="5451692"/>
              <a:ext cx="1670709" cy="11289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빌드 관리를 위한 빌드 정보 및 이슈 리스트</a:t>
              </a:r>
              <a:endPara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관련 문서 제작</a:t>
              </a:r>
              <a:endPara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2359113-E216-9F8D-EE2E-74BC884E05F6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프로젝트 네온 개발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4A9A17-2605-0886-4955-A6A9DA87FA83}"/>
              </a:ext>
            </a:extLst>
          </p:cNvPr>
          <p:cNvSpPr txBox="1"/>
          <p:nvPr/>
        </p:nvSpPr>
        <p:spPr>
          <a:xfrm>
            <a:off x="465138" y="706566"/>
            <a:ext cx="39671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프로젝트 네온 개발 일정표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99718F91-9358-904C-9672-BCDDC4F9D9D3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303502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EE93B301-F757-3A93-F4B1-398C4056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84828FAD-2F89-5AEE-5714-261937FC09AC}"/>
              </a:ext>
            </a:extLst>
          </p:cNvPr>
          <p:cNvGrpSpPr/>
          <p:nvPr/>
        </p:nvGrpSpPr>
        <p:grpSpPr>
          <a:xfrm>
            <a:off x="571500" y="1247012"/>
            <a:ext cx="11049000" cy="4846900"/>
            <a:chOff x="270267" y="1247012"/>
            <a:chExt cx="11796693" cy="4846900"/>
          </a:xfrm>
        </p:grpSpPr>
        <p:sp>
          <p:nvSpPr>
            <p:cNvPr id="3" name="Google Shape;82;p16">
              <a:extLst>
                <a:ext uri="{FF2B5EF4-FFF2-40B4-BE49-F238E27FC236}">
                  <a16:creationId xmlns:a16="http://schemas.microsoft.com/office/drawing/2014/main" id="{04458871-E499-28EA-1478-56A5AE59A8E0}"/>
                </a:ext>
              </a:extLst>
            </p:cNvPr>
            <p:cNvSpPr/>
            <p:nvPr/>
          </p:nvSpPr>
          <p:spPr>
            <a:xfrm>
              <a:off x="11552867" y="1247012"/>
              <a:ext cx="452000" cy="5876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933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4" name="Google Shape;83;p16">
              <a:extLst>
                <a:ext uri="{FF2B5EF4-FFF2-40B4-BE49-F238E27FC236}">
                  <a16:creationId xmlns:a16="http://schemas.microsoft.com/office/drawing/2014/main" id="{1B3ABAD7-CCC4-3452-84A0-E1A042018967}"/>
                </a:ext>
              </a:extLst>
            </p:cNvPr>
            <p:cNvSpPr/>
            <p:nvPr/>
          </p:nvSpPr>
          <p:spPr>
            <a:xfrm rot="5400000">
              <a:off x="11347045" y="1451009"/>
              <a:ext cx="584400" cy="1796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15" name="Google Shape;90;p16">
              <a:extLst>
                <a:ext uri="{FF2B5EF4-FFF2-40B4-BE49-F238E27FC236}">
                  <a16:creationId xmlns:a16="http://schemas.microsoft.com/office/drawing/2014/main" id="{59DEFF7D-AF5A-B77F-F055-7A478F21BE04}"/>
                </a:ext>
              </a:extLst>
            </p:cNvPr>
            <p:cNvSpPr/>
            <p:nvPr/>
          </p:nvSpPr>
          <p:spPr>
            <a:xfrm>
              <a:off x="270267" y="4732905"/>
              <a:ext cx="683600" cy="6400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ko" altLang="en-US" sz="800" b="1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작업자</a:t>
              </a:r>
              <a:endParaRPr sz="800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17" name="Google Shape;91;p16">
              <a:extLst>
                <a:ext uri="{FF2B5EF4-FFF2-40B4-BE49-F238E27FC236}">
                  <a16:creationId xmlns:a16="http://schemas.microsoft.com/office/drawing/2014/main" id="{7831DE45-2787-8D04-7A3A-1AAE59E4B9FF}"/>
                </a:ext>
              </a:extLst>
            </p:cNvPr>
            <p:cNvSpPr/>
            <p:nvPr/>
          </p:nvSpPr>
          <p:spPr>
            <a:xfrm>
              <a:off x="270267" y="5441923"/>
              <a:ext cx="683600" cy="6400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ko" sz="800" b="1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QA</a:t>
              </a:r>
              <a:endParaRPr sz="800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18" name="Google Shape;92;p16">
              <a:extLst>
                <a:ext uri="{FF2B5EF4-FFF2-40B4-BE49-F238E27FC236}">
                  <a16:creationId xmlns:a16="http://schemas.microsoft.com/office/drawing/2014/main" id="{38390F45-7177-E5E4-03E9-4174C9FA07F0}"/>
                </a:ext>
              </a:extLst>
            </p:cNvPr>
            <p:cNvSpPr/>
            <p:nvPr/>
          </p:nvSpPr>
          <p:spPr>
            <a:xfrm>
              <a:off x="270267" y="1948079"/>
              <a:ext cx="683600" cy="6400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ko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Malgun Gothic"/>
                  <a:sym typeface="Malgun Gothic"/>
                </a:rPr>
                <a:t>PD</a:t>
              </a:r>
            </a:p>
            <a:p>
              <a:pPr algn="ctr"/>
              <a:r>
                <a:rPr lang="en-US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Malgun Gothic"/>
                  <a:sym typeface="Malgun Gothic"/>
                </a:rPr>
                <a:t>(</a:t>
              </a:r>
              <a:r>
                <a:rPr lang="ko-KR" altLang="en-US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Malgun Gothic"/>
                  <a:sym typeface="Malgun Gothic"/>
                </a:rPr>
                <a:t>디렉터</a:t>
              </a:r>
              <a:r>
                <a:rPr lang="en-US" altLang="ko-KR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Malgun Gothic"/>
                  <a:sym typeface="Malgun Gothic"/>
                </a:rPr>
                <a:t>)</a:t>
              </a:r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  <a:sym typeface="Malgun Gothic"/>
              </a:endParaRPr>
            </a:p>
          </p:txBody>
        </p:sp>
        <p:sp>
          <p:nvSpPr>
            <p:cNvPr id="19" name="Google Shape;93;p16">
              <a:extLst>
                <a:ext uri="{FF2B5EF4-FFF2-40B4-BE49-F238E27FC236}">
                  <a16:creationId xmlns:a16="http://schemas.microsoft.com/office/drawing/2014/main" id="{13E25F59-34C8-BC9D-6632-E0ED41DEC76B}"/>
                </a:ext>
              </a:extLst>
            </p:cNvPr>
            <p:cNvSpPr/>
            <p:nvPr/>
          </p:nvSpPr>
          <p:spPr>
            <a:xfrm>
              <a:off x="2148833" y="1948079"/>
              <a:ext cx="611200" cy="1302400"/>
            </a:xfrm>
            <a:prstGeom prst="rect">
              <a:avLst/>
            </a:prstGeom>
            <a:solidFill>
              <a:srgbClr val="508567">
                <a:alpha val="43710"/>
              </a:srgbClr>
            </a:solidFill>
            <a:ln w="9525" cap="flat" cmpd="sng">
              <a:solidFill>
                <a:srgbClr val="5085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ko" sz="800" b="1" dirty="0">
                  <a:solidFill>
                    <a:schemeClr val="dk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1</a:t>
              </a:r>
              <a:r>
                <a:rPr lang="ko" altLang="en-US" sz="800" b="1" dirty="0">
                  <a:solidFill>
                    <a:schemeClr val="dk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차</a:t>
              </a:r>
              <a:endParaRPr lang="en-US" altLang="ko" sz="800" b="1" dirty="0">
                <a:solidFill>
                  <a:schemeClr val="dk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r>
                <a:rPr lang="ko" altLang="en-US" sz="800" b="1" dirty="0">
                  <a:solidFill>
                    <a:schemeClr val="dk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검토</a:t>
              </a:r>
              <a:endParaRPr sz="800" b="1" dirty="0">
                <a:solidFill>
                  <a:schemeClr val="dk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endParaRPr sz="800" b="1" dirty="0">
                <a:solidFill>
                  <a:schemeClr val="dk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endParaRPr sz="800" b="1" dirty="0">
                <a:solidFill>
                  <a:schemeClr val="dk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endParaRPr sz="800" b="1" dirty="0">
                <a:solidFill>
                  <a:schemeClr val="dk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endParaRPr sz="800" b="1" dirty="0">
                <a:solidFill>
                  <a:schemeClr val="dk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20" name="Google Shape;94;p16">
              <a:extLst>
                <a:ext uri="{FF2B5EF4-FFF2-40B4-BE49-F238E27FC236}">
                  <a16:creationId xmlns:a16="http://schemas.microsoft.com/office/drawing/2014/main" id="{35E847B9-3F57-F5C4-371C-9CE411FAB1A0}"/>
                </a:ext>
              </a:extLst>
            </p:cNvPr>
            <p:cNvSpPr/>
            <p:nvPr/>
          </p:nvSpPr>
          <p:spPr>
            <a:xfrm>
              <a:off x="270267" y="3323523"/>
              <a:ext cx="683600" cy="6400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ko" altLang="en-US" sz="800" b="1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담당자</a:t>
              </a:r>
              <a:endParaRPr sz="800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r>
                <a:rPr lang="en-US" altLang="ko" sz="800" b="1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(TF</a:t>
              </a:r>
              <a:r>
                <a:rPr lang="ko" altLang="en-US" sz="800" b="1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장</a:t>
              </a:r>
              <a:r>
                <a:rPr lang="en-US" altLang="ko" sz="800" b="1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)</a:t>
              </a:r>
              <a:endParaRPr sz="800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22" name="Google Shape;95;p16">
              <a:extLst>
                <a:ext uri="{FF2B5EF4-FFF2-40B4-BE49-F238E27FC236}">
                  <a16:creationId xmlns:a16="http://schemas.microsoft.com/office/drawing/2014/main" id="{3A92F9F8-B868-ADBC-9688-5D606E76D0BF}"/>
                </a:ext>
              </a:extLst>
            </p:cNvPr>
            <p:cNvSpPr/>
            <p:nvPr/>
          </p:nvSpPr>
          <p:spPr>
            <a:xfrm>
              <a:off x="11565367" y="1948079"/>
              <a:ext cx="452000" cy="4129600"/>
            </a:xfrm>
            <a:prstGeom prst="roundRect">
              <a:avLst>
                <a:gd name="adj" fmla="val 20877"/>
              </a:avLst>
            </a:prstGeom>
            <a:solidFill>
              <a:srgbClr val="6AA84F">
                <a:alpha val="32340"/>
              </a:srgbClr>
            </a:solidFill>
            <a:ln w="9525" cap="flat" cmpd="sng">
              <a:solidFill>
                <a:srgbClr val="38761D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ko" altLang="en-US" sz="800" b="1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Malgun Gothic"/>
                  <a:sym typeface="Malgun Gothic"/>
                </a:rPr>
                <a:t>완료</a:t>
              </a:r>
              <a:endParaRPr sz="800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  <a:sym typeface="Malgun Gothic"/>
              </a:endParaRPr>
            </a:p>
          </p:txBody>
        </p:sp>
        <p:sp>
          <p:nvSpPr>
            <p:cNvPr id="27" name="Google Shape;96;p16">
              <a:extLst>
                <a:ext uri="{FF2B5EF4-FFF2-40B4-BE49-F238E27FC236}">
                  <a16:creationId xmlns:a16="http://schemas.microsoft.com/office/drawing/2014/main" id="{5A255FA2-81F5-F5D7-6EE4-AE9E2F84FF73}"/>
                </a:ext>
              </a:extLst>
            </p:cNvPr>
            <p:cNvSpPr/>
            <p:nvPr/>
          </p:nvSpPr>
          <p:spPr>
            <a:xfrm>
              <a:off x="1704600" y="1247012"/>
              <a:ext cx="1292400" cy="587600"/>
            </a:xfrm>
            <a:prstGeom prst="rect">
              <a:avLst/>
            </a:prstGeom>
            <a:solidFill>
              <a:srgbClr val="50856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ko" sz="1067" b="1" dirty="0">
                  <a:solidFill>
                    <a:schemeClr val="lt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   1</a:t>
              </a:r>
              <a:r>
                <a:rPr lang="ko" altLang="en-US" sz="1067" b="1" dirty="0">
                  <a:solidFill>
                    <a:schemeClr val="lt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차 검토</a:t>
              </a:r>
              <a:endParaRPr sz="1067" b="1" dirty="0">
                <a:solidFill>
                  <a:schemeClr val="l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28" name="Google Shape;97;p16">
              <a:extLst>
                <a:ext uri="{FF2B5EF4-FFF2-40B4-BE49-F238E27FC236}">
                  <a16:creationId xmlns:a16="http://schemas.microsoft.com/office/drawing/2014/main" id="{9B2B0031-0715-E3A0-EF10-44549672837C}"/>
                </a:ext>
              </a:extLst>
            </p:cNvPr>
            <p:cNvSpPr/>
            <p:nvPr/>
          </p:nvSpPr>
          <p:spPr>
            <a:xfrm>
              <a:off x="3082600" y="1247012"/>
              <a:ext cx="3498000" cy="587600"/>
            </a:xfrm>
            <a:prstGeom prst="rect">
              <a:avLst/>
            </a:prstGeom>
            <a:solidFill>
              <a:srgbClr val="50838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ko" sz="1067" b="1">
                  <a:solidFill>
                    <a:schemeClr val="lt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TF</a:t>
              </a:r>
              <a:r>
                <a:rPr lang="ko" altLang="en-US" sz="1067" b="1">
                  <a:solidFill>
                    <a:schemeClr val="lt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생성 및 기획</a:t>
              </a:r>
              <a:endParaRPr sz="1067" b="1">
                <a:solidFill>
                  <a:schemeClr val="l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70" name="Google Shape;98;p16">
              <a:extLst>
                <a:ext uri="{FF2B5EF4-FFF2-40B4-BE49-F238E27FC236}">
                  <a16:creationId xmlns:a16="http://schemas.microsoft.com/office/drawing/2014/main" id="{7D38CEDB-46F0-A404-5DA7-CC531B09FCDD}"/>
                </a:ext>
              </a:extLst>
            </p:cNvPr>
            <p:cNvSpPr/>
            <p:nvPr/>
          </p:nvSpPr>
          <p:spPr>
            <a:xfrm>
              <a:off x="6683200" y="1247012"/>
              <a:ext cx="1742000" cy="587600"/>
            </a:xfrm>
            <a:prstGeom prst="rect">
              <a:avLst/>
            </a:prstGeom>
            <a:solidFill>
              <a:srgbClr val="7185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ko" altLang="en-US" sz="1067" b="1">
                  <a:solidFill>
                    <a:schemeClr val="lt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제작</a:t>
              </a:r>
              <a:endParaRPr sz="1067" b="1">
                <a:solidFill>
                  <a:schemeClr val="l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71" name="Google Shape;99;p16">
              <a:extLst>
                <a:ext uri="{FF2B5EF4-FFF2-40B4-BE49-F238E27FC236}">
                  <a16:creationId xmlns:a16="http://schemas.microsoft.com/office/drawing/2014/main" id="{35C8C609-36E1-1BB6-08FD-2E8F302979BE}"/>
                </a:ext>
              </a:extLst>
            </p:cNvPr>
            <p:cNvSpPr/>
            <p:nvPr/>
          </p:nvSpPr>
          <p:spPr>
            <a:xfrm>
              <a:off x="8531867" y="1247012"/>
              <a:ext cx="975200" cy="587600"/>
            </a:xfrm>
            <a:prstGeom prst="rect">
              <a:avLst/>
            </a:prstGeom>
            <a:solidFill>
              <a:srgbClr val="9B83B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ko" altLang="en-US" sz="1067" b="1" dirty="0">
                  <a:solidFill>
                    <a:schemeClr val="lt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   검수</a:t>
              </a:r>
              <a:endParaRPr sz="1067" b="1" dirty="0">
                <a:solidFill>
                  <a:schemeClr val="l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72" name="Google Shape;100;p16">
              <a:extLst>
                <a:ext uri="{FF2B5EF4-FFF2-40B4-BE49-F238E27FC236}">
                  <a16:creationId xmlns:a16="http://schemas.microsoft.com/office/drawing/2014/main" id="{46E1DA97-D610-BE5F-C951-6C66A29AD87A}"/>
                </a:ext>
              </a:extLst>
            </p:cNvPr>
            <p:cNvSpPr/>
            <p:nvPr/>
          </p:nvSpPr>
          <p:spPr>
            <a:xfrm>
              <a:off x="9605133" y="1247012"/>
              <a:ext cx="1868000" cy="587600"/>
            </a:xfrm>
            <a:prstGeom prst="rect">
              <a:avLst/>
            </a:prstGeom>
            <a:solidFill>
              <a:srgbClr val="B183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ko" sz="1067" b="1">
                  <a:solidFill>
                    <a:schemeClr val="lt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QA</a:t>
              </a:r>
              <a:endParaRPr sz="1067" b="1">
                <a:solidFill>
                  <a:schemeClr val="l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73" name="Google Shape;102;p16">
              <a:extLst>
                <a:ext uri="{FF2B5EF4-FFF2-40B4-BE49-F238E27FC236}">
                  <a16:creationId xmlns:a16="http://schemas.microsoft.com/office/drawing/2014/main" id="{2F034B20-3E35-8C07-6825-C3BA9D3D1914}"/>
                </a:ext>
              </a:extLst>
            </p:cNvPr>
            <p:cNvSpPr/>
            <p:nvPr/>
          </p:nvSpPr>
          <p:spPr>
            <a:xfrm rot="5400000">
              <a:off x="2872235" y="1451009"/>
              <a:ext cx="584400" cy="1796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74" name="Google Shape;103;p16">
              <a:extLst>
                <a:ext uri="{FF2B5EF4-FFF2-40B4-BE49-F238E27FC236}">
                  <a16:creationId xmlns:a16="http://schemas.microsoft.com/office/drawing/2014/main" id="{3C17A220-F612-A267-7C9A-F4B5FAA3DDF5}"/>
                </a:ext>
              </a:extLst>
            </p:cNvPr>
            <p:cNvSpPr/>
            <p:nvPr/>
          </p:nvSpPr>
          <p:spPr>
            <a:xfrm rot="5400000">
              <a:off x="6471695" y="1451009"/>
              <a:ext cx="584400" cy="1796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75" name="Google Shape;104;p16">
              <a:extLst>
                <a:ext uri="{FF2B5EF4-FFF2-40B4-BE49-F238E27FC236}">
                  <a16:creationId xmlns:a16="http://schemas.microsoft.com/office/drawing/2014/main" id="{41BCD7EF-07C5-E00A-84C9-5917AC163E9D}"/>
                </a:ext>
              </a:extLst>
            </p:cNvPr>
            <p:cNvSpPr/>
            <p:nvPr/>
          </p:nvSpPr>
          <p:spPr>
            <a:xfrm rot="5400000">
              <a:off x="8328053" y="1451009"/>
              <a:ext cx="584400" cy="1796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76" name="Google Shape;105;p16">
              <a:extLst>
                <a:ext uri="{FF2B5EF4-FFF2-40B4-BE49-F238E27FC236}">
                  <a16:creationId xmlns:a16="http://schemas.microsoft.com/office/drawing/2014/main" id="{96A4364B-CBBD-9173-1913-DA63A81334F4}"/>
                </a:ext>
              </a:extLst>
            </p:cNvPr>
            <p:cNvSpPr/>
            <p:nvPr/>
          </p:nvSpPr>
          <p:spPr>
            <a:xfrm rot="5400000">
              <a:off x="9385815" y="1451009"/>
              <a:ext cx="584400" cy="1796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77" name="Google Shape;106;p16">
              <a:extLst>
                <a:ext uri="{FF2B5EF4-FFF2-40B4-BE49-F238E27FC236}">
                  <a16:creationId xmlns:a16="http://schemas.microsoft.com/office/drawing/2014/main" id="{87242D45-8796-0624-1AA4-5131D3254C68}"/>
                </a:ext>
              </a:extLst>
            </p:cNvPr>
            <p:cNvSpPr/>
            <p:nvPr/>
          </p:nvSpPr>
          <p:spPr>
            <a:xfrm rot="5400000">
              <a:off x="2786469" y="1451009"/>
              <a:ext cx="584400" cy="179600"/>
            </a:xfrm>
            <a:prstGeom prst="triangle">
              <a:avLst>
                <a:gd name="adj" fmla="val 50000"/>
              </a:avLst>
            </a:prstGeom>
            <a:solidFill>
              <a:srgbClr val="50856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78" name="Google Shape;107;p16">
              <a:extLst>
                <a:ext uri="{FF2B5EF4-FFF2-40B4-BE49-F238E27FC236}">
                  <a16:creationId xmlns:a16="http://schemas.microsoft.com/office/drawing/2014/main" id="{3D2EB634-4421-6F02-1592-1C17DEE7F7DD}"/>
                </a:ext>
              </a:extLst>
            </p:cNvPr>
            <p:cNvSpPr/>
            <p:nvPr/>
          </p:nvSpPr>
          <p:spPr>
            <a:xfrm rot="5400000">
              <a:off x="6373468" y="1451009"/>
              <a:ext cx="584400" cy="179600"/>
            </a:xfrm>
            <a:prstGeom prst="triangle">
              <a:avLst>
                <a:gd name="adj" fmla="val 50000"/>
              </a:avLst>
            </a:prstGeom>
            <a:solidFill>
              <a:srgbClr val="50838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79" name="Google Shape;108;p16">
              <a:extLst>
                <a:ext uri="{FF2B5EF4-FFF2-40B4-BE49-F238E27FC236}">
                  <a16:creationId xmlns:a16="http://schemas.microsoft.com/office/drawing/2014/main" id="{C7C9BC81-BC74-9AFD-3518-A25A8072AF62}"/>
                </a:ext>
              </a:extLst>
            </p:cNvPr>
            <p:cNvSpPr/>
            <p:nvPr/>
          </p:nvSpPr>
          <p:spPr>
            <a:xfrm rot="5400000">
              <a:off x="9303492" y="1451009"/>
              <a:ext cx="584400" cy="179600"/>
            </a:xfrm>
            <a:prstGeom prst="triangle">
              <a:avLst>
                <a:gd name="adj" fmla="val 50000"/>
              </a:avLst>
            </a:prstGeom>
            <a:solidFill>
              <a:srgbClr val="9B83B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80" name="Google Shape;109;p16">
              <a:extLst>
                <a:ext uri="{FF2B5EF4-FFF2-40B4-BE49-F238E27FC236}">
                  <a16:creationId xmlns:a16="http://schemas.microsoft.com/office/drawing/2014/main" id="{2E8A02B7-4642-7BB5-39E0-3AF251F816F1}"/>
                </a:ext>
              </a:extLst>
            </p:cNvPr>
            <p:cNvSpPr/>
            <p:nvPr/>
          </p:nvSpPr>
          <p:spPr>
            <a:xfrm rot="5400000">
              <a:off x="11259255" y="1451009"/>
              <a:ext cx="584400" cy="179600"/>
            </a:xfrm>
            <a:prstGeom prst="triangle">
              <a:avLst>
                <a:gd name="adj" fmla="val 50000"/>
              </a:avLst>
            </a:prstGeom>
            <a:solidFill>
              <a:srgbClr val="B183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81" name="Google Shape;110;p16">
              <a:extLst>
                <a:ext uri="{FF2B5EF4-FFF2-40B4-BE49-F238E27FC236}">
                  <a16:creationId xmlns:a16="http://schemas.microsoft.com/office/drawing/2014/main" id="{C50A0640-5EF6-0FB7-9EDE-D13A4EE04C4A}"/>
                </a:ext>
              </a:extLst>
            </p:cNvPr>
            <p:cNvSpPr/>
            <p:nvPr/>
          </p:nvSpPr>
          <p:spPr>
            <a:xfrm>
              <a:off x="2203633" y="2712609"/>
              <a:ext cx="501600" cy="4844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25150"/>
              </a:srgbClr>
            </a:solidFill>
            <a:ln w="9525" cap="flat" cmpd="sng">
              <a:solidFill>
                <a:srgbClr val="50856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667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82" name="Google Shape;111;p16">
              <a:extLst>
                <a:ext uri="{FF2B5EF4-FFF2-40B4-BE49-F238E27FC236}">
                  <a16:creationId xmlns:a16="http://schemas.microsoft.com/office/drawing/2014/main" id="{F6185E8B-1DCC-1238-4B01-02B71D92E78D}"/>
                </a:ext>
              </a:extLst>
            </p:cNvPr>
            <p:cNvSpPr/>
            <p:nvPr/>
          </p:nvSpPr>
          <p:spPr>
            <a:xfrm>
              <a:off x="1109257" y="2357079"/>
              <a:ext cx="501600" cy="4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83" name="Google Shape;113;p16">
              <a:extLst>
                <a:ext uri="{FF2B5EF4-FFF2-40B4-BE49-F238E27FC236}">
                  <a16:creationId xmlns:a16="http://schemas.microsoft.com/office/drawing/2014/main" id="{80732351-517C-E132-AAA1-B92BE2BF3CDF}"/>
                </a:ext>
              </a:extLst>
            </p:cNvPr>
            <p:cNvSpPr/>
            <p:nvPr/>
          </p:nvSpPr>
          <p:spPr>
            <a:xfrm>
              <a:off x="1007633" y="1247012"/>
              <a:ext cx="611200" cy="587600"/>
            </a:xfrm>
            <a:prstGeom prst="rect">
              <a:avLst/>
            </a:prstGeom>
            <a:solidFill>
              <a:srgbClr val="63825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ko" altLang="en-US" sz="933" b="1">
                  <a:solidFill>
                    <a:schemeClr val="lt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Malgun Gothic"/>
                  <a:sym typeface="Malgun Gothic"/>
                </a:rPr>
                <a:t>발안</a:t>
              </a:r>
              <a:endParaRPr sz="933" b="1">
                <a:solidFill>
                  <a:schemeClr val="l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/>
                <a:sym typeface="Malgun Gothic"/>
              </a:endParaRPr>
            </a:p>
          </p:txBody>
        </p:sp>
        <p:sp>
          <p:nvSpPr>
            <p:cNvPr id="84" name="Google Shape;114;p16">
              <a:extLst>
                <a:ext uri="{FF2B5EF4-FFF2-40B4-BE49-F238E27FC236}">
                  <a16:creationId xmlns:a16="http://schemas.microsoft.com/office/drawing/2014/main" id="{29E7772D-C129-4963-4C40-70459D0DFB68}"/>
                </a:ext>
              </a:extLst>
            </p:cNvPr>
            <p:cNvSpPr/>
            <p:nvPr/>
          </p:nvSpPr>
          <p:spPr>
            <a:xfrm rot="5400000">
              <a:off x="1502201" y="1451009"/>
              <a:ext cx="584400" cy="1796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85" name="Google Shape;115;p16">
              <a:extLst>
                <a:ext uri="{FF2B5EF4-FFF2-40B4-BE49-F238E27FC236}">
                  <a16:creationId xmlns:a16="http://schemas.microsoft.com/office/drawing/2014/main" id="{2FE2886F-2490-14D1-066D-0F396379D9C6}"/>
                </a:ext>
              </a:extLst>
            </p:cNvPr>
            <p:cNvSpPr/>
            <p:nvPr/>
          </p:nvSpPr>
          <p:spPr>
            <a:xfrm rot="5400000">
              <a:off x="1408471" y="1451009"/>
              <a:ext cx="584400" cy="179600"/>
            </a:xfrm>
            <a:prstGeom prst="triangle">
              <a:avLst>
                <a:gd name="adj" fmla="val 50000"/>
              </a:avLst>
            </a:prstGeom>
            <a:solidFill>
              <a:srgbClr val="63825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86" name="Google Shape;117;p16">
              <a:extLst>
                <a:ext uri="{FF2B5EF4-FFF2-40B4-BE49-F238E27FC236}">
                  <a16:creationId xmlns:a16="http://schemas.microsoft.com/office/drawing/2014/main" id="{C4EE5A88-0F9B-B8F7-D047-F96C0282C715}"/>
                </a:ext>
              </a:extLst>
            </p:cNvPr>
            <p:cNvSpPr/>
            <p:nvPr/>
          </p:nvSpPr>
          <p:spPr>
            <a:xfrm>
              <a:off x="2996989" y="3398504"/>
              <a:ext cx="683600" cy="516000"/>
            </a:xfrm>
            <a:prstGeom prst="roundRect">
              <a:avLst>
                <a:gd name="adj" fmla="val 20877"/>
              </a:avLst>
            </a:prstGeom>
            <a:solidFill>
              <a:srgbClr val="508385">
                <a:alpha val="16170"/>
              </a:srgbClr>
            </a:solidFill>
            <a:ln w="9525" cap="flat" cmpd="sng">
              <a:solidFill>
                <a:srgbClr val="50838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ko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TF</a:t>
              </a:r>
              <a:r>
                <a:rPr lang="ko" altLang="en-US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채널 생성</a:t>
              </a:r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87" name="Google Shape;118;p16">
              <a:extLst>
                <a:ext uri="{FF2B5EF4-FFF2-40B4-BE49-F238E27FC236}">
                  <a16:creationId xmlns:a16="http://schemas.microsoft.com/office/drawing/2014/main" id="{F0F66228-E6F2-649F-5213-F7A194897DA2}"/>
                </a:ext>
              </a:extLst>
            </p:cNvPr>
            <p:cNvSpPr/>
            <p:nvPr/>
          </p:nvSpPr>
          <p:spPr>
            <a:xfrm>
              <a:off x="5383200" y="1948079"/>
              <a:ext cx="611200" cy="2013200"/>
            </a:xfrm>
            <a:prstGeom prst="rect">
              <a:avLst/>
            </a:prstGeom>
            <a:solidFill>
              <a:srgbClr val="508385">
                <a:alpha val="40720"/>
              </a:srgbClr>
            </a:solidFill>
            <a:ln w="9525" cap="flat" cmpd="sng">
              <a:solidFill>
                <a:srgbClr val="5083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ko" altLang="en-US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최종 </a:t>
              </a:r>
              <a:endParaRPr lang="en-US" altLang="ko"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r>
                <a:rPr lang="ko" altLang="en-US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검토</a:t>
              </a:r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88" name="Google Shape;119;p16">
              <a:extLst>
                <a:ext uri="{FF2B5EF4-FFF2-40B4-BE49-F238E27FC236}">
                  <a16:creationId xmlns:a16="http://schemas.microsoft.com/office/drawing/2014/main" id="{F4E17414-86F3-3800-3571-AB9F7B89222A}"/>
                </a:ext>
              </a:extLst>
            </p:cNvPr>
            <p:cNvSpPr/>
            <p:nvPr/>
          </p:nvSpPr>
          <p:spPr>
            <a:xfrm>
              <a:off x="270267" y="2634791"/>
              <a:ext cx="683600" cy="6400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ko" altLang="en-US" sz="800" b="1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팀장</a:t>
              </a:r>
              <a:endParaRPr sz="800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cxnSp>
          <p:nvCxnSpPr>
            <p:cNvPr id="89" name="Google Shape;120;p16">
              <a:extLst>
                <a:ext uri="{FF2B5EF4-FFF2-40B4-BE49-F238E27FC236}">
                  <a16:creationId xmlns:a16="http://schemas.microsoft.com/office/drawing/2014/main" id="{EFD5B603-C732-C443-4E8B-2C4C17C69CD2}"/>
                </a:ext>
              </a:extLst>
            </p:cNvPr>
            <p:cNvCxnSpPr>
              <a:stCxn id="19" idx="1"/>
              <a:endCxn id="82" idx="3"/>
            </p:cNvCxnSpPr>
            <p:nvPr/>
          </p:nvCxnSpPr>
          <p:spPr>
            <a:xfrm flipH="1">
              <a:off x="1610833" y="2599279"/>
              <a:ext cx="538000" cy="800"/>
            </a:xfrm>
            <a:prstGeom prst="bentConnector3">
              <a:avLst>
                <a:gd name="adj1" fmla="val 49998"/>
              </a:avLst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90" name="Google Shape;121;p16">
              <a:extLst>
                <a:ext uri="{FF2B5EF4-FFF2-40B4-BE49-F238E27FC236}">
                  <a16:creationId xmlns:a16="http://schemas.microsoft.com/office/drawing/2014/main" id="{D5543648-DB7E-917F-1D01-0AAF919D4CD9}"/>
                </a:ext>
              </a:extLst>
            </p:cNvPr>
            <p:cNvCxnSpPr>
              <a:stCxn id="86" idx="1"/>
              <a:endCxn id="81" idx="3"/>
            </p:cNvCxnSpPr>
            <p:nvPr/>
          </p:nvCxnSpPr>
          <p:spPr>
            <a:xfrm rot="10800000">
              <a:off x="2705389" y="2954904"/>
              <a:ext cx="291600" cy="701600"/>
            </a:xfrm>
            <a:prstGeom prst="bentConnector3">
              <a:avLst>
                <a:gd name="adj1" fmla="val 50027"/>
              </a:avLst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sp>
          <p:nvSpPr>
            <p:cNvPr id="91" name="Google Shape;122;p16">
              <a:extLst>
                <a:ext uri="{FF2B5EF4-FFF2-40B4-BE49-F238E27FC236}">
                  <a16:creationId xmlns:a16="http://schemas.microsoft.com/office/drawing/2014/main" id="{57BA891D-82A1-88EC-7AF9-E1539DD96C7F}"/>
                </a:ext>
              </a:extLst>
            </p:cNvPr>
            <p:cNvSpPr/>
            <p:nvPr/>
          </p:nvSpPr>
          <p:spPr>
            <a:xfrm>
              <a:off x="4107620" y="3323512"/>
              <a:ext cx="1165600" cy="2770400"/>
            </a:xfrm>
            <a:prstGeom prst="rect">
              <a:avLst/>
            </a:prstGeom>
            <a:solidFill>
              <a:srgbClr val="508385">
                <a:alpha val="40720"/>
              </a:srgbClr>
            </a:solidFill>
            <a:ln w="9525" cap="flat" cmpd="sng">
              <a:solidFill>
                <a:srgbClr val="5083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800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cxnSp>
          <p:nvCxnSpPr>
            <p:cNvPr id="92" name="Google Shape;123;p16">
              <a:extLst>
                <a:ext uri="{FF2B5EF4-FFF2-40B4-BE49-F238E27FC236}">
                  <a16:creationId xmlns:a16="http://schemas.microsoft.com/office/drawing/2014/main" id="{844CAD12-04F1-378D-1FBA-1ABF7C5BF5FE}"/>
                </a:ext>
              </a:extLst>
            </p:cNvPr>
            <p:cNvCxnSpPr>
              <a:stCxn id="86" idx="3"/>
              <a:endCxn id="105" idx="1"/>
            </p:cNvCxnSpPr>
            <p:nvPr/>
          </p:nvCxnSpPr>
          <p:spPr>
            <a:xfrm>
              <a:off x="3680589" y="3656504"/>
              <a:ext cx="426000" cy="800"/>
            </a:xfrm>
            <a:prstGeom prst="bentConnector3">
              <a:avLst>
                <a:gd name="adj1" fmla="val 50008"/>
              </a:avLst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93" name="Google Shape;125;p16">
              <a:extLst>
                <a:ext uri="{FF2B5EF4-FFF2-40B4-BE49-F238E27FC236}">
                  <a16:creationId xmlns:a16="http://schemas.microsoft.com/office/drawing/2014/main" id="{9E072B05-233D-C4B1-571A-C12CBF352311}"/>
                </a:ext>
              </a:extLst>
            </p:cNvPr>
            <p:cNvSpPr txBox="1"/>
            <p:nvPr/>
          </p:nvSpPr>
          <p:spPr>
            <a:xfrm>
              <a:off x="3547717" y="3253545"/>
              <a:ext cx="611200" cy="4924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ko" altLang="en-US" sz="80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관련자  초대</a:t>
              </a:r>
              <a:endParaRPr sz="80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94" name="Google Shape;126;p16">
              <a:extLst>
                <a:ext uri="{FF2B5EF4-FFF2-40B4-BE49-F238E27FC236}">
                  <a16:creationId xmlns:a16="http://schemas.microsoft.com/office/drawing/2014/main" id="{2E21FEE9-C24F-8077-3A0D-F8BFB9764E89}"/>
                </a:ext>
              </a:extLst>
            </p:cNvPr>
            <p:cNvSpPr/>
            <p:nvPr/>
          </p:nvSpPr>
          <p:spPr>
            <a:xfrm>
              <a:off x="4194920" y="3411445"/>
              <a:ext cx="808400" cy="2582400"/>
            </a:xfrm>
            <a:prstGeom prst="roundRect">
              <a:avLst>
                <a:gd name="adj" fmla="val 8848"/>
              </a:avLst>
            </a:prstGeom>
            <a:solidFill>
              <a:srgbClr val="D9E1E1"/>
            </a:solidFill>
            <a:ln w="9525" cap="flat" cmpd="sng">
              <a:solidFill>
                <a:srgbClr val="50838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ko" altLang="en-US" sz="800" b="1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논의</a:t>
              </a:r>
              <a:endParaRPr sz="800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95" name="Google Shape;127;p16">
              <a:extLst>
                <a:ext uri="{FF2B5EF4-FFF2-40B4-BE49-F238E27FC236}">
                  <a16:creationId xmlns:a16="http://schemas.microsoft.com/office/drawing/2014/main" id="{F6197620-4D8A-4251-6CA2-7544D8890D50}"/>
                </a:ext>
              </a:extLst>
            </p:cNvPr>
            <p:cNvSpPr/>
            <p:nvPr/>
          </p:nvSpPr>
          <p:spPr>
            <a:xfrm>
              <a:off x="4389587" y="3398504"/>
              <a:ext cx="808400" cy="516000"/>
            </a:xfrm>
            <a:prstGeom prst="roundRect">
              <a:avLst>
                <a:gd name="adj" fmla="val 20877"/>
              </a:avLst>
            </a:prstGeom>
            <a:solidFill>
              <a:srgbClr val="D9E1E1"/>
            </a:solidFill>
            <a:ln w="9525" cap="flat" cmpd="sng">
              <a:solidFill>
                <a:srgbClr val="50838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ko" altLang="en-US" sz="800" b="1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상세 기획</a:t>
              </a:r>
              <a:endParaRPr sz="800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cxnSp>
          <p:nvCxnSpPr>
            <p:cNvPr id="96" name="Google Shape;128;p16">
              <a:extLst>
                <a:ext uri="{FF2B5EF4-FFF2-40B4-BE49-F238E27FC236}">
                  <a16:creationId xmlns:a16="http://schemas.microsoft.com/office/drawing/2014/main" id="{6D9691D1-0FD5-4222-84F3-27740BBC8C06}"/>
                </a:ext>
              </a:extLst>
            </p:cNvPr>
            <p:cNvCxnSpPr>
              <a:stCxn id="97" idx="1"/>
              <a:endCxn id="95" idx="3"/>
            </p:cNvCxnSpPr>
            <p:nvPr/>
          </p:nvCxnSpPr>
          <p:spPr>
            <a:xfrm flipH="1">
              <a:off x="5198009" y="3656504"/>
              <a:ext cx="240000" cy="800"/>
            </a:xfrm>
            <a:prstGeom prst="bentConnector3">
              <a:avLst>
                <a:gd name="adj1" fmla="val 50005"/>
              </a:avLst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sp>
          <p:nvSpPr>
            <p:cNvPr id="97" name="Google Shape;129;p16">
              <a:extLst>
                <a:ext uri="{FF2B5EF4-FFF2-40B4-BE49-F238E27FC236}">
                  <a16:creationId xmlns:a16="http://schemas.microsoft.com/office/drawing/2014/main" id="{BF2AC721-BF9F-BBA2-91F1-A86A5ED60AED}"/>
                </a:ext>
              </a:extLst>
            </p:cNvPr>
            <p:cNvSpPr/>
            <p:nvPr/>
          </p:nvSpPr>
          <p:spPr>
            <a:xfrm>
              <a:off x="5438009" y="3414304"/>
              <a:ext cx="501600" cy="4844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25150"/>
              </a:srgbClr>
            </a:solidFill>
            <a:ln w="9525" cap="flat" cmpd="sng">
              <a:solidFill>
                <a:srgbClr val="50838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667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98" name="Google Shape;130;p16">
              <a:extLst>
                <a:ext uri="{FF2B5EF4-FFF2-40B4-BE49-F238E27FC236}">
                  <a16:creationId xmlns:a16="http://schemas.microsoft.com/office/drawing/2014/main" id="{0A03A80F-F42B-A25F-C836-28BEFCC2DD52}"/>
                </a:ext>
              </a:extLst>
            </p:cNvPr>
            <p:cNvSpPr txBox="1"/>
            <p:nvPr/>
          </p:nvSpPr>
          <p:spPr>
            <a:xfrm>
              <a:off x="1879171" y="2720242"/>
              <a:ext cx="1165600" cy="4924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ko" altLang="en-US" sz="80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담당자</a:t>
              </a:r>
              <a:endParaRPr sz="80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r>
                <a:rPr lang="ko" altLang="en-US" sz="80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지정</a:t>
              </a:r>
              <a:endParaRPr sz="80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99" name="Google Shape;131;p16">
              <a:extLst>
                <a:ext uri="{FF2B5EF4-FFF2-40B4-BE49-F238E27FC236}">
                  <a16:creationId xmlns:a16="http://schemas.microsoft.com/office/drawing/2014/main" id="{DA27E69B-E64F-131D-C9D4-304BE3A1E8D3}"/>
                </a:ext>
              </a:extLst>
            </p:cNvPr>
            <p:cNvSpPr/>
            <p:nvPr/>
          </p:nvSpPr>
          <p:spPr>
            <a:xfrm>
              <a:off x="4177720" y="1992145"/>
              <a:ext cx="611200" cy="1243200"/>
            </a:xfrm>
            <a:prstGeom prst="rect">
              <a:avLst/>
            </a:prstGeom>
            <a:solidFill>
              <a:srgbClr val="508567">
                <a:alpha val="1644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ko" altLang="en-US" sz="9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필요시</a:t>
              </a:r>
              <a:endParaRPr sz="9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r>
                <a:rPr lang="ko" altLang="en-US" sz="9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함께</a:t>
              </a:r>
              <a:endParaRPr lang="en-US" altLang="ko" sz="9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r>
                <a:rPr lang="ko" altLang="en-US" sz="9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논의</a:t>
              </a:r>
              <a:endParaRPr sz="9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100" name="Google Shape;132;p16">
              <a:extLst>
                <a:ext uri="{FF2B5EF4-FFF2-40B4-BE49-F238E27FC236}">
                  <a16:creationId xmlns:a16="http://schemas.microsoft.com/office/drawing/2014/main" id="{EDE3283C-CEF7-25BE-92C9-221CCFED7A57}"/>
                </a:ext>
              </a:extLst>
            </p:cNvPr>
            <p:cNvSpPr/>
            <p:nvPr/>
          </p:nvSpPr>
          <p:spPr>
            <a:xfrm>
              <a:off x="6897867" y="3390245"/>
              <a:ext cx="1424400" cy="1938000"/>
            </a:xfrm>
            <a:prstGeom prst="roundRect">
              <a:avLst>
                <a:gd name="adj" fmla="val 9736"/>
              </a:avLst>
            </a:prstGeom>
            <a:solidFill>
              <a:srgbClr val="D9E1E1"/>
            </a:solidFill>
            <a:ln w="9525" cap="flat" cmpd="sng">
              <a:solidFill>
                <a:srgbClr val="50838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ko" altLang="en-US" sz="800" b="1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개발</a:t>
              </a:r>
              <a:endParaRPr sz="800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102" name="Google Shape;133;p16">
              <a:extLst>
                <a:ext uri="{FF2B5EF4-FFF2-40B4-BE49-F238E27FC236}">
                  <a16:creationId xmlns:a16="http://schemas.microsoft.com/office/drawing/2014/main" id="{9D5A8537-9AA4-E1ED-47F8-70EC8C28D55C}"/>
                </a:ext>
              </a:extLst>
            </p:cNvPr>
            <p:cNvSpPr/>
            <p:nvPr/>
          </p:nvSpPr>
          <p:spPr>
            <a:xfrm>
              <a:off x="8678049" y="5503912"/>
              <a:ext cx="808400" cy="516000"/>
            </a:xfrm>
            <a:prstGeom prst="roundRect">
              <a:avLst>
                <a:gd name="adj" fmla="val 20877"/>
              </a:avLst>
            </a:prstGeom>
            <a:solidFill>
              <a:srgbClr val="B183B2">
                <a:alpha val="17960"/>
              </a:srgbClr>
            </a:solidFill>
            <a:ln w="9525" cap="flat" cmpd="sng">
              <a:solidFill>
                <a:srgbClr val="B183B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ko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1</a:t>
              </a:r>
              <a:r>
                <a:rPr lang="ko" altLang="en-US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차 </a:t>
              </a:r>
              <a:r>
                <a:rPr lang="en-US" altLang="ko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QA</a:t>
              </a:r>
            </a:p>
            <a:p>
              <a:pPr algn="ctr"/>
              <a:r>
                <a:rPr lang="en-US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(</a:t>
              </a:r>
              <a:r>
                <a:rPr lang="ko-KR" altLang="en-US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에디터</a:t>
              </a:r>
              <a:r>
                <a:rPr lang="en-US" altLang="ko-KR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)</a:t>
              </a:r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103" name="Google Shape;134;p16">
              <a:extLst>
                <a:ext uri="{FF2B5EF4-FFF2-40B4-BE49-F238E27FC236}">
                  <a16:creationId xmlns:a16="http://schemas.microsoft.com/office/drawing/2014/main" id="{B8F978F1-0225-D52C-C04E-3A5DDB59B4A5}"/>
                </a:ext>
              </a:extLst>
            </p:cNvPr>
            <p:cNvSpPr/>
            <p:nvPr/>
          </p:nvSpPr>
          <p:spPr>
            <a:xfrm>
              <a:off x="9661733" y="3390212"/>
              <a:ext cx="664952" cy="2674800"/>
            </a:xfrm>
            <a:prstGeom prst="roundRect">
              <a:avLst>
                <a:gd name="adj" fmla="val 20877"/>
              </a:avLst>
            </a:prstGeom>
            <a:solidFill>
              <a:srgbClr val="B183B2">
                <a:alpha val="17960"/>
              </a:srgbClr>
            </a:solidFill>
            <a:ln w="9525" cap="flat" cmpd="sng">
              <a:solidFill>
                <a:srgbClr val="B183B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ko" altLang="en-US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버그</a:t>
              </a:r>
              <a:endParaRPr lang="en-US" altLang="ko"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r>
                <a:rPr lang="ko" altLang="en-US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픽스</a:t>
              </a:r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104" name="Google Shape;135;p16">
              <a:extLst>
                <a:ext uri="{FF2B5EF4-FFF2-40B4-BE49-F238E27FC236}">
                  <a16:creationId xmlns:a16="http://schemas.microsoft.com/office/drawing/2014/main" id="{6D00C0C2-D2CA-8678-B247-11F1B1B277D2}"/>
                </a:ext>
              </a:extLst>
            </p:cNvPr>
            <p:cNvSpPr/>
            <p:nvPr/>
          </p:nvSpPr>
          <p:spPr>
            <a:xfrm>
              <a:off x="10448237" y="5503912"/>
              <a:ext cx="576800" cy="516000"/>
            </a:xfrm>
            <a:prstGeom prst="roundRect">
              <a:avLst>
                <a:gd name="adj" fmla="val 20877"/>
              </a:avLst>
            </a:prstGeom>
            <a:solidFill>
              <a:srgbClr val="B183B2">
                <a:alpha val="17960"/>
              </a:srgbClr>
            </a:solidFill>
            <a:ln w="9525" cap="flat" cmpd="sng">
              <a:solidFill>
                <a:srgbClr val="B183B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ko" altLang="en-US" sz="800" b="1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사인오프</a:t>
              </a:r>
              <a:endParaRPr sz="800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105" name="Google Shape;124;p16">
              <a:extLst>
                <a:ext uri="{FF2B5EF4-FFF2-40B4-BE49-F238E27FC236}">
                  <a16:creationId xmlns:a16="http://schemas.microsoft.com/office/drawing/2014/main" id="{1F74C223-B0F8-B4F1-EEC8-C5615552C9FD}"/>
                </a:ext>
              </a:extLst>
            </p:cNvPr>
            <p:cNvSpPr/>
            <p:nvPr/>
          </p:nvSpPr>
          <p:spPr>
            <a:xfrm>
              <a:off x="4106661" y="3414297"/>
              <a:ext cx="501600" cy="4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06" name="Google Shape;136;p16">
              <a:extLst>
                <a:ext uri="{FF2B5EF4-FFF2-40B4-BE49-F238E27FC236}">
                  <a16:creationId xmlns:a16="http://schemas.microsoft.com/office/drawing/2014/main" id="{01563502-E0C3-07C8-B1B0-09A5C10CAB28}"/>
                </a:ext>
              </a:extLst>
            </p:cNvPr>
            <p:cNvSpPr/>
            <p:nvPr/>
          </p:nvSpPr>
          <p:spPr>
            <a:xfrm>
              <a:off x="8654433" y="3390212"/>
              <a:ext cx="808400" cy="1938000"/>
            </a:xfrm>
            <a:prstGeom prst="roundRect">
              <a:avLst>
                <a:gd name="adj" fmla="val 9736"/>
              </a:avLst>
            </a:prstGeom>
            <a:solidFill>
              <a:srgbClr val="9B83B8">
                <a:alpha val="19760"/>
              </a:srgbClr>
            </a:solidFill>
            <a:ln w="9525" cap="flat" cmpd="sng">
              <a:solidFill>
                <a:srgbClr val="50838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ko" altLang="en-US" sz="800" b="1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검수</a:t>
              </a:r>
              <a:endParaRPr sz="800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cxnSp>
          <p:nvCxnSpPr>
            <p:cNvPr id="107" name="Google Shape;137;p16">
              <a:extLst>
                <a:ext uri="{FF2B5EF4-FFF2-40B4-BE49-F238E27FC236}">
                  <a16:creationId xmlns:a16="http://schemas.microsoft.com/office/drawing/2014/main" id="{4DB9ECAC-5A63-B686-F89A-48E838B7B68F}"/>
                </a:ext>
              </a:extLst>
            </p:cNvPr>
            <p:cNvCxnSpPr>
              <a:stCxn id="124" idx="1"/>
              <a:endCxn id="97" idx="3"/>
            </p:cNvCxnSpPr>
            <p:nvPr/>
          </p:nvCxnSpPr>
          <p:spPr>
            <a:xfrm rot="10800000">
              <a:off x="5939467" y="3656515"/>
              <a:ext cx="272400" cy="716800"/>
            </a:xfrm>
            <a:prstGeom prst="bentConnector3">
              <a:avLst>
                <a:gd name="adj1" fmla="val 49974"/>
              </a:avLst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sp>
          <p:nvSpPr>
            <p:cNvPr id="108" name="Google Shape;139;p16">
              <a:extLst>
                <a:ext uri="{FF2B5EF4-FFF2-40B4-BE49-F238E27FC236}">
                  <a16:creationId xmlns:a16="http://schemas.microsoft.com/office/drawing/2014/main" id="{89273AC4-DF66-3ED3-A256-BF7CDC7057F0}"/>
                </a:ext>
              </a:extLst>
            </p:cNvPr>
            <p:cNvSpPr/>
            <p:nvPr/>
          </p:nvSpPr>
          <p:spPr>
            <a:xfrm>
              <a:off x="6682560" y="3414304"/>
              <a:ext cx="501600" cy="4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cxnSp>
          <p:nvCxnSpPr>
            <p:cNvPr id="109" name="Google Shape;140;p16">
              <a:extLst>
                <a:ext uri="{FF2B5EF4-FFF2-40B4-BE49-F238E27FC236}">
                  <a16:creationId xmlns:a16="http://schemas.microsoft.com/office/drawing/2014/main" id="{40BFF7AB-5537-BBF7-2FFF-73075704E8B9}"/>
                </a:ext>
              </a:extLst>
            </p:cNvPr>
            <p:cNvCxnSpPr>
              <a:stCxn id="106" idx="1"/>
              <a:endCxn id="100" idx="3"/>
            </p:cNvCxnSpPr>
            <p:nvPr/>
          </p:nvCxnSpPr>
          <p:spPr>
            <a:xfrm flipH="1">
              <a:off x="8322433" y="4359212"/>
              <a:ext cx="332000" cy="800"/>
            </a:xfrm>
            <a:prstGeom prst="bentConnector3">
              <a:avLst>
                <a:gd name="adj1" fmla="val 50025"/>
              </a:avLst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110" name="Google Shape;141;p16">
              <a:extLst>
                <a:ext uri="{FF2B5EF4-FFF2-40B4-BE49-F238E27FC236}">
                  <a16:creationId xmlns:a16="http://schemas.microsoft.com/office/drawing/2014/main" id="{6A731D4B-36BC-B6C6-6D41-F335ADBEC343}"/>
                </a:ext>
              </a:extLst>
            </p:cNvPr>
            <p:cNvCxnSpPr>
              <a:stCxn id="102" idx="1"/>
              <a:endCxn id="100" idx="3"/>
            </p:cNvCxnSpPr>
            <p:nvPr/>
          </p:nvCxnSpPr>
          <p:spPr>
            <a:xfrm rot="10800000">
              <a:off x="8322449" y="4359112"/>
              <a:ext cx="355600" cy="1402800"/>
            </a:xfrm>
            <a:prstGeom prst="bentConnector3">
              <a:avLst>
                <a:gd name="adj1" fmla="val 50026"/>
              </a:avLst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sp>
          <p:nvSpPr>
            <p:cNvPr id="111" name="Google Shape;142;p16">
              <a:extLst>
                <a:ext uri="{FF2B5EF4-FFF2-40B4-BE49-F238E27FC236}">
                  <a16:creationId xmlns:a16="http://schemas.microsoft.com/office/drawing/2014/main" id="{45C892D0-FC3A-5899-90F0-22F496BE2BFC}"/>
                </a:ext>
              </a:extLst>
            </p:cNvPr>
            <p:cNvSpPr/>
            <p:nvPr/>
          </p:nvSpPr>
          <p:spPr>
            <a:xfrm>
              <a:off x="9661719" y="5516779"/>
              <a:ext cx="611200" cy="4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cxnSp>
          <p:nvCxnSpPr>
            <p:cNvPr id="113" name="Google Shape;143;p16">
              <a:extLst>
                <a:ext uri="{FF2B5EF4-FFF2-40B4-BE49-F238E27FC236}">
                  <a16:creationId xmlns:a16="http://schemas.microsoft.com/office/drawing/2014/main" id="{B0D28971-395D-4423-AF11-4F03CD809721}"/>
                </a:ext>
              </a:extLst>
            </p:cNvPr>
            <p:cNvCxnSpPr>
              <a:stCxn id="111" idx="1"/>
              <a:endCxn id="102" idx="3"/>
            </p:cNvCxnSpPr>
            <p:nvPr/>
          </p:nvCxnSpPr>
          <p:spPr>
            <a:xfrm flipH="1">
              <a:off x="9486519" y="5758979"/>
              <a:ext cx="175200" cy="2800"/>
            </a:xfrm>
            <a:prstGeom prst="bentConnector3">
              <a:avLst>
                <a:gd name="adj1" fmla="val 50020"/>
              </a:avLst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114" name="Google Shape;144;p16">
              <a:extLst>
                <a:ext uri="{FF2B5EF4-FFF2-40B4-BE49-F238E27FC236}">
                  <a16:creationId xmlns:a16="http://schemas.microsoft.com/office/drawing/2014/main" id="{BEDD174A-EF04-637C-754B-EDDB58FBB2A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0328864" y="5758979"/>
              <a:ext cx="121434" cy="2933"/>
            </a:xfrm>
            <a:prstGeom prst="bentConnector3">
              <a:avLst>
                <a:gd name="adj1" fmla="val 40195"/>
              </a:avLst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115" name="Google Shape;145;p16">
              <a:extLst>
                <a:ext uri="{FF2B5EF4-FFF2-40B4-BE49-F238E27FC236}">
                  <a16:creationId xmlns:a16="http://schemas.microsoft.com/office/drawing/2014/main" id="{315C13D7-0138-7BE7-F67D-D2973BEEC50C}"/>
                </a:ext>
              </a:extLst>
            </p:cNvPr>
            <p:cNvCxnSpPr>
              <a:stCxn id="118" idx="1"/>
              <a:endCxn id="104" idx="3"/>
            </p:cNvCxnSpPr>
            <p:nvPr/>
          </p:nvCxnSpPr>
          <p:spPr>
            <a:xfrm flipH="1">
              <a:off x="11024960" y="5761912"/>
              <a:ext cx="540400" cy="800"/>
            </a:xfrm>
            <a:prstGeom prst="bentConnector3">
              <a:avLst>
                <a:gd name="adj1" fmla="val 49993"/>
              </a:avLst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sp>
          <p:nvSpPr>
            <p:cNvPr id="117" name="Google Shape;147;p16">
              <a:extLst>
                <a:ext uri="{FF2B5EF4-FFF2-40B4-BE49-F238E27FC236}">
                  <a16:creationId xmlns:a16="http://schemas.microsoft.com/office/drawing/2014/main" id="{92B1ACA5-A3AA-B169-1590-AB494C259227}"/>
                </a:ext>
              </a:extLst>
            </p:cNvPr>
            <p:cNvSpPr/>
            <p:nvPr/>
          </p:nvSpPr>
          <p:spPr>
            <a:xfrm>
              <a:off x="10652786" y="3390245"/>
              <a:ext cx="768313" cy="516000"/>
            </a:xfrm>
            <a:prstGeom prst="roundRect">
              <a:avLst>
                <a:gd name="adj" fmla="val 20877"/>
              </a:avLst>
            </a:prstGeom>
            <a:solidFill>
              <a:srgbClr val="508385">
                <a:alpha val="16170"/>
              </a:srgbClr>
            </a:solidFill>
            <a:ln w="9525" cap="flat" cmpd="sng">
              <a:solidFill>
                <a:srgbClr val="50838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ko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TF </a:t>
              </a:r>
              <a:r>
                <a:rPr lang="ko-KR" altLang="en-US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채</a:t>
              </a:r>
              <a:r>
                <a:rPr lang="ko" altLang="en-US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널</a:t>
              </a:r>
              <a:endParaRPr lang="en-US" altLang="ko"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r>
                <a:rPr lang="ko" altLang="en-US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아카이브</a:t>
              </a:r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118" name="Google Shape;146;p16">
              <a:extLst>
                <a:ext uri="{FF2B5EF4-FFF2-40B4-BE49-F238E27FC236}">
                  <a16:creationId xmlns:a16="http://schemas.microsoft.com/office/drawing/2014/main" id="{0EE1AFB8-8471-5F7B-75DD-A0F459751184}"/>
                </a:ext>
              </a:extLst>
            </p:cNvPr>
            <p:cNvSpPr/>
            <p:nvPr/>
          </p:nvSpPr>
          <p:spPr>
            <a:xfrm>
              <a:off x="11565360" y="5519712"/>
              <a:ext cx="501600" cy="4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cxnSp>
          <p:nvCxnSpPr>
            <p:cNvPr id="119" name="Google Shape;148;p16">
              <a:extLst>
                <a:ext uri="{FF2B5EF4-FFF2-40B4-BE49-F238E27FC236}">
                  <a16:creationId xmlns:a16="http://schemas.microsoft.com/office/drawing/2014/main" id="{271AAE0F-9D18-41F9-B885-56F0C2487205}"/>
                </a:ext>
              </a:extLst>
            </p:cNvPr>
            <p:cNvCxnSpPr>
              <a:cxnSpLocks/>
              <a:stCxn id="117" idx="2"/>
              <a:endCxn id="104" idx="3"/>
            </p:cNvCxnSpPr>
            <p:nvPr/>
          </p:nvCxnSpPr>
          <p:spPr>
            <a:xfrm rot="5400000">
              <a:off x="10103157" y="4828125"/>
              <a:ext cx="1855667" cy="11906"/>
            </a:xfrm>
            <a:prstGeom prst="bentConnector2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sp>
          <p:nvSpPr>
            <p:cNvPr id="120" name="Google Shape;149;p16">
              <a:extLst>
                <a:ext uri="{FF2B5EF4-FFF2-40B4-BE49-F238E27FC236}">
                  <a16:creationId xmlns:a16="http://schemas.microsoft.com/office/drawing/2014/main" id="{7C34A05E-80C7-9F25-BC74-90F8A4EF62AF}"/>
                </a:ext>
              </a:extLst>
            </p:cNvPr>
            <p:cNvSpPr txBox="1"/>
            <p:nvPr/>
          </p:nvSpPr>
          <p:spPr>
            <a:xfrm>
              <a:off x="1574229" y="2159912"/>
              <a:ext cx="611200" cy="4924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ko" altLang="en-US" sz="80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팀장과 논의</a:t>
              </a:r>
              <a:endParaRPr sz="80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121" name="Google Shape;150;p16">
              <a:extLst>
                <a:ext uri="{FF2B5EF4-FFF2-40B4-BE49-F238E27FC236}">
                  <a16:creationId xmlns:a16="http://schemas.microsoft.com/office/drawing/2014/main" id="{E1C489B9-4C4B-A914-A215-C594E504F425}"/>
                </a:ext>
              </a:extLst>
            </p:cNvPr>
            <p:cNvSpPr/>
            <p:nvPr/>
          </p:nvSpPr>
          <p:spPr>
            <a:xfrm rot="5400000">
              <a:off x="8213040" y="1451009"/>
              <a:ext cx="584400" cy="179600"/>
            </a:xfrm>
            <a:prstGeom prst="triangle">
              <a:avLst>
                <a:gd name="adj" fmla="val 50000"/>
              </a:avLst>
            </a:prstGeom>
            <a:solidFill>
              <a:srgbClr val="7185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122" name="Google Shape;151;p16">
              <a:extLst>
                <a:ext uri="{FF2B5EF4-FFF2-40B4-BE49-F238E27FC236}">
                  <a16:creationId xmlns:a16="http://schemas.microsoft.com/office/drawing/2014/main" id="{430BC21A-2A19-EE95-FEC9-12EE4C31967A}"/>
                </a:ext>
              </a:extLst>
            </p:cNvPr>
            <p:cNvSpPr txBox="1"/>
            <p:nvPr/>
          </p:nvSpPr>
          <p:spPr>
            <a:xfrm>
              <a:off x="5100643" y="3411050"/>
              <a:ext cx="1165600" cy="4924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ko" altLang="en-US" sz="8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기획</a:t>
              </a:r>
              <a:endParaRPr sz="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r>
                <a:rPr lang="ko" altLang="en-US" sz="8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리뷰</a:t>
              </a:r>
              <a:endParaRPr sz="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123" name="Google Shape;152;p16">
              <a:extLst>
                <a:ext uri="{FF2B5EF4-FFF2-40B4-BE49-F238E27FC236}">
                  <a16:creationId xmlns:a16="http://schemas.microsoft.com/office/drawing/2014/main" id="{82973FDB-46E9-1BB9-D5FA-494B78C96632}"/>
                </a:ext>
              </a:extLst>
            </p:cNvPr>
            <p:cNvSpPr/>
            <p:nvPr/>
          </p:nvSpPr>
          <p:spPr>
            <a:xfrm>
              <a:off x="270267" y="4028223"/>
              <a:ext cx="683600" cy="6400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ko" sz="800" b="1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PM</a:t>
              </a:r>
              <a:endParaRPr sz="800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124" name="Google Shape;138;p16">
              <a:extLst>
                <a:ext uri="{FF2B5EF4-FFF2-40B4-BE49-F238E27FC236}">
                  <a16:creationId xmlns:a16="http://schemas.microsoft.com/office/drawing/2014/main" id="{D12A1966-CDCF-FEBB-2199-6EE234C7ABDB}"/>
                </a:ext>
              </a:extLst>
            </p:cNvPr>
            <p:cNvSpPr/>
            <p:nvPr/>
          </p:nvSpPr>
          <p:spPr>
            <a:xfrm>
              <a:off x="6211867" y="3418515"/>
              <a:ext cx="501600" cy="1909600"/>
            </a:xfrm>
            <a:prstGeom prst="roundRect">
              <a:avLst>
                <a:gd name="adj" fmla="val 20877"/>
              </a:avLst>
            </a:prstGeom>
            <a:solidFill>
              <a:srgbClr val="D9E1E1"/>
            </a:solidFill>
            <a:ln w="9525" cap="flat" cmpd="sng">
              <a:solidFill>
                <a:srgbClr val="50838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lang="en-US" altLang="ko"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endParaRPr lang="en-US" altLang="ko"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r>
                <a:rPr lang="ko" altLang="en-US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일정</a:t>
              </a:r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r>
                <a:rPr lang="ko" altLang="en-US" sz="800" b="1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산정</a:t>
              </a:r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endParaRPr sz="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125" name="Google Shape;153;p16">
              <a:extLst>
                <a:ext uri="{FF2B5EF4-FFF2-40B4-BE49-F238E27FC236}">
                  <a16:creationId xmlns:a16="http://schemas.microsoft.com/office/drawing/2014/main" id="{BD6EB33A-A116-B267-E896-55962A57A440}"/>
                </a:ext>
              </a:extLst>
            </p:cNvPr>
            <p:cNvSpPr/>
            <p:nvPr/>
          </p:nvSpPr>
          <p:spPr>
            <a:xfrm>
              <a:off x="6897860" y="4161515"/>
              <a:ext cx="501600" cy="4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cxnSp>
          <p:nvCxnSpPr>
            <p:cNvPr id="126" name="Google Shape;154;p16">
              <a:extLst>
                <a:ext uri="{FF2B5EF4-FFF2-40B4-BE49-F238E27FC236}">
                  <a16:creationId xmlns:a16="http://schemas.microsoft.com/office/drawing/2014/main" id="{87A651F0-AE1C-369C-6E5F-449B1D1F683E}"/>
                </a:ext>
              </a:extLst>
            </p:cNvPr>
            <p:cNvCxnSpPr>
              <a:cxnSpLocks/>
              <a:stCxn id="100" idx="1"/>
              <a:endCxn id="124" idx="3"/>
            </p:cNvCxnSpPr>
            <p:nvPr/>
          </p:nvCxnSpPr>
          <p:spPr>
            <a:xfrm rot="10800000" flipV="1">
              <a:off x="6713467" y="4359245"/>
              <a:ext cx="184400" cy="14070"/>
            </a:xfrm>
            <a:prstGeom prst="bentConnector3">
              <a:avLst>
                <a:gd name="adj1" fmla="val 100363"/>
              </a:avLst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sp>
          <p:nvSpPr>
            <p:cNvPr id="127" name="Google Shape;155;p16">
              <a:extLst>
                <a:ext uri="{FF2B5EF4-FFF2-40B4-BE49-F238E27FC236}">
                  <a16:creationId xmlns:a16="http://schemas.microsoft.com/office/drawing/2014/main" id="{6D8962A0-AB99-F09F-B0E5-FAD41302AC80}"/>
                </a:ext>
              </a:extLst>
            </p:cNvPr>
            <p:cNvSpPr/>
            <p:nvPr/>
          </p:nvSpPr>
          <p:spPr>
            <a:xfrm>
              <a:off x="6249667" y="4139225"/>
              <a:ext cx="426000" cy="418000"/>
            </a:xfrm>
            <a:prstGeom prst="roundRect">
              <a:avLst>
                <a:gd name="adj" fmla="val 50000"/>
              </a:avLst>
            </a:prstGeom>
            <a:solidFill>
              <a:srgbClr val="D9E1E1"/>
            </a:solidFill>
            <a:ln w="9525" cap="flat" cmpd="sng">
              <a:solidFill>
                <a:srgbClr val="50838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800" b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128" name="Google Shape;156;p16">
              <a:extLst>
                <a:ext uri="{FF2B5EF4-FFF2-40B4-BE49-F238E27FC236}">
                  <a16:creationId xmlns:a16="http://schemas.microsoft.com/office/drawing/2014/main" id="{A0ED5CB2-D239-92BC-ABC1-36FE6D1A7B1D}"/>
                </a:ext>
              </a:extLst>
            </p:cNvPr>
            <p:cNvSpPr txBox="1"/>
            <p:nvPr/>
          </p:nvSpPr>
          <p:spPr>
            <a:xfrm>
              <a:off x="5879655" y="4102007"/>
              <a:ext cx="1165600" cy="4924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ko" altLang="en-US" sz="8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일정</a:t>
              </a:r>
              <a:endParaRPr sz="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  <a:p>
              <a:pPr algn="ctr"/>
              <a:r>
                <a:rPr lang="ko" altLang="en-US" sz="8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협의</a:t>
              </a:r>
              <a:endParaRPr sz="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  <p:sp>
          <p:nvSpPr>
            <p:cNvPr id="13" name="Google Shape;89;p16">
              <a:extLst>
                <a:ext uri="{FF2B5EF4-FFF2-40B4-BE49-F238E27FC236}">
                  <a16:creationId xmlns:a16="http://schemas.microsoft.com/office/drawing/2014/main" id="{7CFD2DD7-735F-1459-936C-A8EB7B635336}"/>
                </a:ext>
              </a:extLst>
            </p:cNvPr>
            <p:cNvSpPr/>
            <p:nvPr/>
          </p:nvSpPr>
          <p:spPr>
            <a:xfrm>
              <a:off x="1007633" y="1950279"/>
              <a:ext cx="611200" cy="4129600"/>
            </a:xfrm>
            <a:prstGeom prst="rect">
              <a:avLst/>
            </a:prstGeom>
            <a:solidFill>
              <a:srgbClr val="638253">
                <a:alpha val="37130"/>
              </a:srgbClr>
            </a:solidFill>
            <a:ln w="9525" cap="flat" cmpd="sng">
              <a:solidFill>
                <a:srgbClr val="5085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ko" altLang="en-US" sz="800" b="1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Nanum Gothic"/>
                  <a:sym typeface="Nanum Gothic"/>
                </a:rPr>
                <a:t>발안</a:t>
              </a:r>
              <a:endParaRPr sz="533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anum Gothic"/>
                <a:sym typeface="Nanum Gothic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D42574C-F1F5-B894-5C19-0B57530FF475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프로젝트 네온 개발 관리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2CB904-47C2-64F8-F5B7-FF36DF586E52}"/>
              </a:ext>
            </a:extLst>
          </p:cNvPr>
          <p:cNvSpPr txBox="1"/>
          <p:nvPr/>
        </p:nvSpPr>
        <p:spPr>
          <a:xfrm>
            <a:off x="465138" y="706566"/>
            <a:ext cx="39671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프로젝트 네온 개발 프로세스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9934D053-7361-3081-1FC6-F541C561399A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347258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B3C34-B1EE-1C5B-9B2C-260002F64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B04A84D6-8ACF-22F4-0C15-8E7ADC362FFF}"/>
              </a:ext>
            </a:extLst>
          </p:cNvPr>
          <p:cNvSpPr txBox="1"/>
          <p:nvPr/>
        </p:nvSpPr>
        <p:spPr>
          <a:xfrm>
            <a:off x="2585900" y="5470463"/>
            <a:ext cx="702019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6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모든 유관 부서가 유기적으로 맞물려 있어 효율적인 협업을 위한 프로세스 정립이 필요함</a:t>
            </a:r>
            <a:endParaRPr lang="en-US" altLang="ko-KR" sz="16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algn="ctr"/>
            <a:r>
              <a:rPr lang="ko-KR" altLang="en-US" sz="16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특히</a:t>
            </a:r>
            <a:r>
              <a:rPr lang="en-US" altLang="ko-KR" sz="16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, </a:t>
            </a:r>
            <a:r>
              <a:rPr lang="ko-KR" altLang="en-US" sz="16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기획팀은 개발의 시작이자 모든 부서와 엮여 있어 일정 관리가 중요함</a:t>
            </a:r>
            <a:endParaRPr lang="en-US" altLang="ko-KR" sz="16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1BA9B88-439E-B482-0E5C-33AD5893CBCD}"/>
              </a:ext>
            </a:extLst>
          </p:cNvPr>
          <p:cNvSpPr/>
          <p:nvPr/>
        </p:nvSpPr>
        <p:spPr>
          <a:xfrm>
            <a:off x="632420" y="3584733"/>
            <a:ext cx="1082685" cy="108585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bg1"/>
                </a:solidFill>
              </a:rPr>
              <a:t>아트팀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RISK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C79A78E-6B61-8048-D0A9-10867B1A9D6F}"/>
              </a:ext>
            </a:extLst>
          </p:cNvPr>
          <p:cNvSpPr/>
          <p:nvPr/>
        </p:nvSpPr>
        <p:spPr>
          <a:xfrm>
            <a:off x="10450033" y="3584733"/>
            <a:ext cx="1082685" cy="108585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기술팀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RISK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C354AFC-A3DC-205C-6149-76C11F7BD2A0}"/>
              </a:ext>
            </a:extLst>
          </p:cNvPr>
          <p:cNvCxnSpPr>
            <a:cxnSpLocks/>
          </p:cNvCxnSpPr>
          <p:nvPr/>
        </p:nvCxnSpPr>
        <p:spPr>
          <a:xfrm flipH="1" flipV="1">
            <a:off x="1800264" y="4123234"/>
            <a:ext cx="3642372" cy="884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8B2D9E8D-5623-F545-9827-4B59643CA747}"/>
              </a:ext>
            </a:extLst>
          </p:cNvPr>
          <p:cNvSpPr/>
          <p:nvPr/>
        </p:nvSpPr>
        <p:spPr>
          <a:xfrm>
            <a:off x="905068" y="1624625"/>
            <a:ext cx="10627649" cy="124220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주요 성과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업무 병목 지점에 대한 해소를 통해 상위 이해관계자의 빠른 의사결정에 기여할 수 있었습니다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FFFF00"/>
                </a:highlight>
              </a:rPr>
              <a:t>.</a:t>
            </a:r>
            <a:endParaRPr lang="ko-KR" altLang="en-US" sz="1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AE353DD-07B1-4CF7-2F57-8B2FB90871BD}"/>
              </a:ext>
            </a:extLst>
          </p:cNvPr>
          <p:cNvCxnSpPr>
            <a:cxnSpLocks/>
          </p:cNvCxnSpPr>
          <p:nvPr/>
        </p:nvCxnSpPr>
        <p:spPr>
          <a:xfrm flipV="1">
            <a:off x="6722501" y="4123234"/>
            <a:ext cx="3642372" cy="884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타원 143">
            <a:extLst>
              <a:ext uri="{FF2B5EF4-FFF2-40B4-BE49-F238E27FC236}">
                <a16:creationId xmlns:a16="http://schemas.microsoft.com/office/drawing/2014/main" id="{61D2F0BF-313B-2263-51F7-76257EA68DA0}"/>
              </a:ext>
            </a:extLst>
          </p:cNvPr>
          <p:cNvSpPr/>
          <p:nvPr/>
        </p:nvSpPr>
        <p:spPr>
          <a:xfrm>
            <a:off x="5554657" y="3584732"/>
            <a:ext cx="1082685" cy="108585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기획팀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3C87FDE-138B-BA78-EE34-08BA4EFD2CB8}"/>
              </a:ext>
            </a:extLst>
          </p:cNvPr>
          <p:cNvSpPr/>
          <p:nvPr/>
        </p:nvSpPr>
        <p:spPr>
          <a:xfrm>
            <a:off x="5554658" y="3584732"/>
            <a:ext cx="1082685" cy="108585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기획팀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FAE788-4FE0-4E9C-960F-28A193C237AB}"/>
              </a:ext>
            </a:extLst>
          </p:cNvPr>
          <p:cNvSpPr txBox="1"/>
          <p:nvPr/>
        </p:nvSpPr>
        <p:spPr>
          <a:xfrm>
            <a:off x="1996604" y="3630735"/>
            <a:ext cx="323966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기획자에게 업무가 가중되어 기획서 작성 및 전달이 지연</a:t>
            </a:r>
            <a:endParaRPr lang="en-US" altLang="ko-KR" sz="12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0000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97D2E1-74C7-1185-94CF-6E666D193608}"/>
              </a:ext>
            </a:extLst>
          </p:cNvPr>
          <p:cNvSpPr txBox="1"/>
          <p:nvPr/>
        </p:nvSpPr>
        <p:spPr>
          <a:xfrm>
            <a:off x="2201189" y="4439912"/>
            <a:ext cx="28405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중요도에 따라 업무 우선순위를 지정 및 스펙 조정</a:t>
            </a:r>
            <a:endParaRPr lang="en-US" altLang="ko-KR" sz="12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3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F5ED71-4C36-B0C7-8F23-F7937DE3BF45}"/>
              </a:ext>
            </a:extLst>
          </p:cNvPr>
          <p:cNvSpPr txBox="1"/>
          <p:nvPr/>
        </p:nvSpPr>
        <p:spPr>
          <a:xfrm>
            <a:off x="7919316" y="4439912"/>
            <a:ext cx="124874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협업 프로세스 재정립</a:t>
            </a:r>
            <a:endParaRPr lang="en-US" altLang="ko-KR" sz="12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3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6FE2C0-EC7C-8ABF-3AF6-B0842E4395F5}"/>
              </a:ext>
            </a:extLst>
          </p:cNvPr>
          <p:cNvSpPr txBox="1"/>
          <p:nvPr/>
        </p:nvSpPr>
        <p:spPr>
          <a:xfrm>
            <a:off x="7110601" y="3630735"/>
            <a:ext cx="286616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스펙 변경 요청으로 추가 개발 및 일정 조정이 필요</a:t>
            </a:r>
            <a:endParaRPr lang="en-US" altLang="ko-KR" sz="12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0000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0981CC-353B-85E1-7467-DA5923F79782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프로젝트 네온 개발 관리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FF6AE4-CC6E-2B0B-E914-8801A4A1133C}"/>
              </a:ext>
            </a:extLst>
          </p:cNvPr>
          <p:cNvSpPr txBox="1"/>
          <p:nvPr/>
        </p:nvSpPr>
        <p:spPr>
          <a:xfrm>
            <a:off x="465138" y="706566"/>
            <a:ext cx="39671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프로젝트 </a:t>
            </a:r>
            <a:r>
              <a:rPr lang="ko-KR" altLang="en-US" sz="26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네</a:t>
            </a: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온 문제 해결 사례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E002DBA0-3989-5E5D-DC9F-9DE8BDCACDD4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044481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885F4-B9D8-19E2-F84C-36ED99AFE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12D93C-9550-30BC-C61B-DEAE9F5339C4}"/>
              </a:ext>
            </a:extLst>
          </p:cNvPr>
          <p:cNvSpPr txBox="1"/>
          <p:nvPr/>
        </p:nvSpPr>
        <p:spPr>
          <a:xfrm>
            <a:off x="839244" y="1365337"/>
            <a:ext cx="50763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레전드 오브 </a:t>
            </a:r>
            <a:r>
              <a:rPr kumimoji="0" lang="ko-KR" altLang="en-US" sz="4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슬라임</a:t>
            </a:r>
            <a:r>
              <a:rPr kumimoji="0" lang="ko-KR" altLang="en-US" sz="4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 론칭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EDB45E-36C3-F32C-2A15-5512FC61DC38}"/>
              </a:ext>
            </a:extLst>
          </p:cNvPr>
          <p:cNvSpPr txBox="1"/>
          <p:nvPr/>
        </p:nvSpPr>
        <p:spPr>
          <a:xfrm>
            <a:off x="9051418" y="4317000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일정 및 이슈 관리</a:t>
            </a:r>
          </a:p>
        </p:txBody>
      </p:sp>
      <p:sp>
        <p:nvSpPr>
          <p:cNvPr id="6" name="이등변 삼각형 12">
            <a:extLst>
              <a:ext uri="{FF2B5EF4-FFF2-40B4-BE49-F238E27FC236}">
                <a16:creationId xmlns:a16="http://schemas.microsoft.com/office/drawing/2014/main" id="{42AB1733-9EED-AA17-CFCB-D7664F5F8A60}"/>
              </a:ext>
            </a:extLst>
          </p:cNvPr>
          <p:cNvSpPr/>
          <p:nvPr/>
        </p:nvSpPr>
        <p:spPr>
          <a:xfrm rot="5400000">
            <a:off x="8881063" y="4418503"/>
            <a:ext cx="180045" cy="15521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F3343-2407-128A-B3DB-322C0156F948}"/>
              </a:ext>
            </a:extLst>
          </p:cNvPr>
          <p:cNvSpPr txBox="1"/>
          <p:nvPr/>
        </p:nvSpPr>
        <p:spPr>
          <a:xfrm>
            <a:off x="9051418" y="4715109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개발 환경 개선</a:t>
            </a:r>
          </a:p>
        </p:txBody>
      </p:sp>
      <p:sp>
        <p:nvSpPr>
          <p:cNvPr id="8" name="이등변 삼각형 15">
            <a:extLst>
              <a:ext uri="{FF2B5EF4-FFF2-40B4-BE49-F238E27FC236}">
                <a16:creationId xmlns:a16="http://schemas.microsoft.com/office/drawing/2014/main" id="{281BED61-7424-81E7-D8F9-09A35D4599CF}"/>
              </a:ext>
            </a:extLst>
          </p:cNvPr>
          <p:cNvSpPr/>
          <p:nvPr/>
        </p:nvSpPr>
        <p:spPr>
          <a:xfrm rot="5400000">
            <a:off x="8881063" y="4816612"/>
            <a:ext cx="180045" cy="15521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3D4780-74D0-D101-1F85-07AB8495F335}"/>
              </a:ext>
            </a:extLst>
          </p:cNvPr>
          <p:cNvSpPr txBox="1"/>
          <p:nvPr/>
        </p:nvSpPr>
        <p:spPr>
          <a:xfrm>
            <a:off x="839244" y="729668"/>
            <a:ext cx="2079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CONTENT.</a:t>
            </a:r>
            <a:r>
              <a:rPr lang="en-US" altLang="ko-KR" sz="24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3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255E34-8F0E-07BB-243B-FF03A7771923}"/>
              </a:ext>
            </a:extLst>
          </p:cNvPr>
          <p:cNvSpPr txBox="1"/>
          <p:nvPr/>
        </p:nvSpPr>
        <p:spPr>
          <a:xfrm>
            <a:off x="8326648" y="732787"/>
            <a:ext cx="320666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9900" b="0" i="0" u="none" strike="noStrike" kern="1200" cap="none" spc="0" normalizeH="0" baseline="0" noProof="0" dirty="0">
                <a:ln w="19050">
                  <a:solidFill>
                    <a:srgbClr val="FFFFFF"/>
                  </a:solidFill>
                </a:ln>
                <a:noFill/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0</a:t>
            </a:r>
            <a:r>
              <a:rPr lang="en-US" altLang="ko-KR" sz="19900" dirty="0">
                <a:ln w="19050">
                  <a:solidFill>
                    <a:srgbClr val="FFFFFF"/>
                  </a:solidFill>
                </a:ln>
                <a:noFill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3</a:t>
            </a:r>
            <a:endParaRPr kumimoji="0" lang="ko-KR" altLang="en-US" sz="19900" b="0" i="0" u="none" strike="noStrike" kern="1200" cap="none" spc="0" normalizeH="0" baseline="0" noProof="0" dirty="0">
              <a:ln w="19050">
                <a:solidFill>
                  <a:srgbClr val="FFFFFF"/>
                </a:solidFill>
              </a:ln>
              <a:noFill/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6ED88A-32BA-5A91-4363-39D1AB196665}"/>
              </a:ext>
            </a:extLst>
          </p:cNvPr>
          <p:cNvSpPr txBox="1"/>
          <p:nvPr/>
        </p:nvSpPr>
        <p:spPr>
          <a:xfrm>
            <a:off x="864296" y="2031876"/>
            <a:ext cx="300105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개발</a:t>
            </a: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/</a:t>
            </a: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라이브 </a:t>
            </a: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PM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91714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91507265-8B1F-4DF3-044C-DBDB12C5A2DE}"/>
              </a:ext>
            </a:extLst>
          </p:cNvPr>
          <p:cNvSpPr txBox="1"/>
          <p:nvPr/>
        </p:nvSpPr>
        <p:spPr>
          <a:xfrm>
            <a:off x="743070" y="4942339"/>
            <a:ext cx="17574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배운 점 혹은 성장한 점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F0CC112-577E-F1CB-4FF0-51827C72F3CD}"/>
              </a:ext>
            </a:extLst>
          </p:cNvPr>
          <p:cNvSpPr/>
          <p:nvPr/>
        </p:nvSpPr>
        <p:spPr>
          <a:xfrm>
            <a:off x="557387" y="4988728"/>
            <a:ext cx="209550" cy="20981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15" name="グラフィックス 5" descr="Checkmark">
            <a:extLst>
              <a:ext uri="{FF2B5EF4-FFF2-40B4-BE49-F238E27FC236}">
                <a16:creationId xmlns:a16="http://schemas.microsoft.com/office/drawing/2014/main" id="{30F7350C-4314-2A07-B3D5-3C5DA8AA275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827" y="5021078"/>
            <a:ext cx="147583" cy="14758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6939330-23EF-5694-041C-65EF9C3413F1}"/>
              </a:ext>
            </a:extLst>
          </p:cNvPr>
          <p:cNvSpPr txBox="1"/>
          <p:nvPr/>
        </p:nvSpPr>
        <p:spPr>
          <a:xfrm>
            <a:off x="465311" y="5239435"/>
            <a:ext cx="3967163" cy="857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개발부터 론칭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라이브 서비스까지의 프로젝트 관리 방법론 구축</a:t>
            </a:r>
            <a:endParaRPr lang="en-US" altLang="ko-KR" sz="115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라이브 이슈 대응 및 프로젝트 관리 방식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형상 및 버전 관리 지식 습득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B00F1AD1-B864-39FE-8BDD-2A0B750B1122}"/>
              </a:ext>
            </a:extLst>
          </p:cNvPr>
          <p:cNvGrpSpPr/>
          <p:nvPr/>
        </p:nvGrpSpPr>
        <p:grpSpPr>
          <a:xfrm>
            <a:off x="550866" y="3117147"/>
            <a:ext cx="209550" cy="209817"/>
            <a:chOff x="7791451" y="2999437"/>
            <a:chExt cx="209550" cy="209817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51BADC4-815C-85AE-9361-795960A0E091}"/>
                </a:ext>
              </a:extLst>
            </p:cNvPr>
            <p:cNvSpPr/>
            <p:nvPr/>
          </p:nvSpPr>
          <p:spPr>
            <a:xfrm>
              <a:off x="7791451" y="2999437"/>
              <a:ext cx="209550" cy="20981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pic>
          <p:nvPicPr>
            <p:cNvPr id="11" name="그래픽 10" descr="전구 단색으로 채워진">
              <a:extLst>
                <a:ext uri="{FF2B5EF4-FFF2-40B4-BE49-F238E27FC236}">
                  <a16:creationId xmlns:a16="http://schemas.microsoft.com/office/drawing/2014/main" id="{57C66B0F-8D89-9DF0-CE12-A723B2BA808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15318" y="3023437"/>
              <a:ext cx="161816" cy="161816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6B36910-620D-ED96-CD0E-1F2640CF3992}"/>
              </a:ext>
            </a:extLst>
          </p:cNvPr>
          <p:cNvSpPr txBox="1"/>
          <p:nvPr/>
        </p:nvSpPr>
        <p:spPr>
          <a:xfrm>
            <a:off x="736549" y="3070758"/>
            <a:ext cx="87680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주요 업무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830DA8-53D5-1834-0B60-A26FE9DEDCA2}"/>
              </a:ext>
            </a:extLst>
          </p:cNvPr>
          <p:cNvSpPr txBox="1"/>
          <p:nvPr/>
        </p:nvSpPr>
        <p:spPr>
          <a:xfrm>
            <a:off x="458790" y="3365784"/>
            <a:ext cx="3967163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프로젝트 관리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내부 커뮤니케이션 담당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31AEEE6-CB19-E4F5-F571-55A8A557562B}"/>
              </a:ext>
            </a:extLst>
          </p:cNvPr>
          <p:cNvSpPr/>
          <p:nvPr/>
        </p:nvSpPr>
        <p:spPr>
          <a:xfrm>
            <a:off x="563775" y="1855320"/>
            <a:ext cx="694176" cy="24349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261CF3D-23B5-40B7-487F-3E5797F6F5C6}"/>
              </a:ext>
            </a:extLst>
          </p:cNvPr>
          <p:cNvSpPr/>
          <p:nvPr/>
        </p:nvSpPr>
        <p:spPr>
          <a:xfrm>
            <a:off x="1338270" y="1855320"/>
            <a:ext cx="728885" cy="24349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A79F8AE-3EBB-5AFE-84D3-A130EF3DE8AE}"/>
              </a:ext>
            </a:extLst>
          </p:cNvPr>
          <p:cNvSpPr/>
          <p:nvPr/>
        </p:nvSpPr>
        <p:spPr>
          <a:xfrm>
            <a:off x="2136810" y="1855320"/>
            <a:ext cx="971847" cy="24349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4DF4E9EF-2049-C6D4-955A-804A871E4845}"/>
              </a:ext>
            </a:extLst>
          </p:cNvPr>
          <p:cNvSpPr/>
          <p:nvPr/>
        </p:nvSpPr>
        <p:spPr>
          <a:xfrm>
            <a:off x="3191939" y="1855320"/>
            <a:ext cx="867721" cy="24349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0FD042-2714-9116-B13D-6A681F7B027F}"/>
              </a:ext>
            </a:extLst>
          </p:cNvPr>
          <p:cNvSpPr txBox="1"/>
          <p:nvPr/>
        </p:nvSpPr>
        <p:spPr>
          <a:xfrm>
            <a:off x="550863" y="1838570"/>
            <a:ext cx="72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Unity 3D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5C85DC-8A28-DD48-7E8D-3A87FAD8D74D}"/>
              </a:ext>
            </a:extLst>
          </p:cNvPr>
          <p:cNvSpPr txBox="1"/>
          <p:nvPr/>
        </p:nvSpPr>
        <p:spPr>
          <a:xfrm>
            <a:off x="1324713" y="1838570"/>
            <a:ext cx="75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Git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85E9A1-8AFF-40A1-8600-0B66472C7C05}"/>
              </a:ext>
            </a:extLst>
          </p:cNvPr>
          <p:cNvSpPr txBox="1"/>
          <p:nvPr/>
        </p:nvSpPr>
        <p:spPr>
          <a:xfrm>
            <a:off x="2118733" y="1838570"/>
            <a:ext cx="10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JIRA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CD8D95-5DF7-FB07-AC25-E357DD19675C}"/>
              </a:ext>
            </a:extLst>
          </p:cNvPr>
          <p:cNvSpPr txBox="1"/>
          <p:nvPr/>
        </p:nvSpPr>
        <p:spPr>
          <a:xfrm>
            <a:off x="3175799" y="1838570"/>
            <a:ext cx="9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Notion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6" name="Picture 2" descr="레전드 오브 슬라임(Legend of Slime) UI / UX 참고">
            <a:extLst>
              <a:ext uri="{FF2B5EF4-FFF2-40B4-BE49-F238E27FC236}">
                <a16:creationId xmlns:a16="http://schemas.microsoft.com/office/drawing/2014/main" id="{C3236C1D-C9C5-5E13-1877-9FCBD2B11B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78"/>
          <a:stretch>
            <a:fillRect/>
          </a:stretch>
        </p:blipFill>
        <p:spPr bwMode="auto">
          <a:xfrm>
            <a:off x="4542283" y="1977069"/>
            <a:ext cx="1983448" cy="439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859;p43">
            <a:extLst>
              <a:ext uri="{FF2B5EF4-FFF2-40B4-BE49-F238E27FC236}">
                <a16:creationId xmlns:a16="http://schemas.microsoft.com/office/drawing/2014/main" id="{FA59C447-49CA-C552-6B87-CA7C1074F18C}"/>
              </a:ext>
            </a:extLst>
          </p:cNvPr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96124" y="1841928"/>
            <a:ext cx="2290693" cy="462336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42E97B4D-93E7-DAAE-1A5A-39F89D8E6B9A}"/>
              </a:ext>
            </a:extLst>
          </p:cNvPr>
          <p:cNvSpPr/>
          <p:nvPr/>
        </p:nvSpPr>
        <p:spPr>
          <a:xfrm flipH="1">
            <a:off x="7732837" y="-9938"/>
            <a:ext cx="4469102" cy="4841534"/>
          </a:xfrm>
          <a:custGeom>
            <a:avLst/>
            <a:gdLst>
              <a:gd name="connsiteX0" fmla="*/ 0 w 4469102"/>
              <a:gd name="connsiteY0" fmla="*/ 0 h 4834355"/>
              <a:gd name="connsiteX1" fmla="*/ 4469102 w 4469102"/>
              <a:gd name="connsiteY1" fmla="*/ 0 h 4834355"/>
              <a:gd name="connsiteX2" fmla="*/ 4469102 w 4469102"/>
              <a:gd name="connsiteY2" fmla="*/ 4574363 h 4834355"/>
              <a:gd name="connsiteX3" fmla="*/ 4209110 w 4469102"/>
              <a:gd name="connsiteY3" fmla="*/ 4834355 h 4834355"/>
              <a:gd name="connsiteX4" fmla="*/ 25909 w 4469102"/>
              <a:gd name="connsiteY4" fmla="*/ 4834355 h 4834355"/>
              <a:gd name="connsiteX5" fmla="*/ 0 w 4469102"/>
              <a:gd name="connsiteY5" fmla="*/ 4831743 h 4834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9102" h="4834355">
                <a:moveTo>
                  <a:pt x="0" y="0"/>
                </a:moveTo>
                <a:lnTo>
                  <a:pt x="4469102" y="0"/>
                </a:lnTo>
                <a:lnTo>
                  <a:pt x="4469102" y="4574363"/>
                </a:lnTo>
                <a:cubicBezTo>
                  <a:pt x="4469102" y="4717953"/>
                  <a:pt x="4352700" y="4834355"/>
                  <a:pt x="4209110" y="4834355"/>
                </a:cubicBezTo>
                <a:lnTo>
                  <a:pt x="25909" y="4834355"/>
                </a:lnTo>
                <a:lnTo>
                  <a:pt x="0" y="48317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3E9054-07AE-948A-D6BB-3829B3FE30F2}"/>
              </a:ext>
            </a:extLst>
          </p:cNvPr>
          <p:cNvSpPr txBox="1"/>
          <p:nvPr/>
        </p:nvSpPr>
        <p:spPr>
          <a:xfrm>
            <a:off x="474663" y="1124970"/>
            <a:ext cx="1774845" cy="700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인력 </a:t>
            </a:r>
            <a:r>
              <a:rPr lang="en-US" altLang="ko-KR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30</a:t>
            </a:r>
            <a:r>
              <a:rPr lang="ko-KR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명 → </a:t>
            </a:r>
            <a:r>
              <a:rPr lang="en-US" altLang="ko-KR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80</a:t>
            </a:r>
            <a:r>
              <a:rPr lang="ko-KR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명</a:t>
            </a:r>
            <a:endParaRPr lang="en-US" altLang="ko-KR" sz="14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역할 </a:t>
            </a:r>
            <a:r>
              <a:rPr lang="en-US" altLang="ko-KR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</a:t>
            </a:r>
            <a:r>
              <a:rPr lang="en-US" altLang="ko-KR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라이브 </a:t>
            </a:r>
            <a:r>
              <a:rPr lang="en-US" altLang="ko-KR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PM</a:t>
            </a:r>
            <a:endParaRPr lang="ko-KR" altLang="en-US" sz="14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B85F104E-8BAD-9CAE-9098-9C88D6F4A96E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BB16D7-32BC-72C2-B182-F357E3EEC369}"/>
              </a:ext>
            </a:extLst>
          </p:cNvPr>
          <p:cNvSpPr txBox="1"/>
          <p:nvPr/>
        </p:nvSpPr>
        <p:spPr>
          <a:xfrm>
            <a:off x="488619" y="3975391"/>
            <a:ext cx="564578" cy="356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기여도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EDF331-DBF7-8572-FF14-D9398178B3AA}"/>
              </a:ext>
            </a:extLst>
          </p:cNvPr>
          <p:cNvSpPr txBox="1"/>
          <p:nvPr/>
        </p:nvSpPr>
        <p:spPr>
          <a:xfrm>
            <a:off x="458802" y="4120594"/>
            <a:ext cx="876804" cy="679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9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40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%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4AEDE3-5B09-871B-F959-3EF6F89ECECC}"/>
              </a:ext>
            </a:extLst>
          </p:cNvPr>
          <p:cNvSpPr txBox="1"/>
          <p:nvPr/>
        </p:nvSpPr>
        <p:spPr>
          <a:xfrm>
            <a:off x="1124899" y="4214018"/>
            <a:ext cx="1851789" cy="592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라이브 서비스 운영 </a:t>
            </a: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체계 수립</a:t>
            </a:r>
            <a:endParaRPr lang="en-US" altLang="ko-KR" sz="115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운영툴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및 테스트용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치트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개발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E530F-950B-90CB-2648-A322B15D586A}"/>
              </a:ext>
            </a:extLst>
          </p:cNvPr>
          <p:cNvSpPr txBox="1"/>
          <p:nvPr/>
        </p:nvSpPr>
        <p:spPr>
          <a:xfrm>
            <a:off x="465138" y="706566"/>
            <a:ext cx="39671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레전드 오브 </a:t>
            </a:r>
            <a:r>
              <a:rPr kumimoji="0" lang="ko-KR" alt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슬라임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55A46E-CA6B-4231-0DD1-52D497E45929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000000"/>
                </a:solidFill>
              </a:rPr>
              <a:t>레전드 오브 </a:t>
            </a:r>
            <a:r>
              <a:rPr lang="ko-KR" altLang="en-US" dirty="0" err="1">
                <a:solidFill>
                  <a:srgbClr val="000000"/>
                </a:solidFill>
              </a:rPr>
              <a:t>슬라임</a:t>
            </a:r>
            <a:r>
              <a:rPr lang="ko-KR" altLang="en-US" dirty="0">
                <a:solidFill>
                  <a:srgbClr val="000000"/>
                </a:solidFill>
              </a:rPr>
              <a:t> 론칭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3E7F9C-9C12-CA17-459A-4F397E2DFF6D}"/>
              </a:ext>
            </a:extLst>
          </p:cNvPr>
          <p:cNvSpPr txBox="1"/>
          <p:nvPr/>
        </p:nvSpPr>
        <p:spPr>
          <a:xfrm>
            <a:off x="2759127" y="871475"/>
            <a:ext cx="136763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5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2022.03 ~ 2023.05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1B0D3A-6FEA-0976-820E-FC41887221B0}"/>
              </a:ext>
            </a:extLst>
          </p:cNvPr>
          <p:cNvSpPr/>
          <p:nvPr/>
        </p:nvSpPr>
        <p:spPr>
          <a:xfrm rot="2706656">
            <a:off x="10335202" y="1867289"/>
            <a:ext cx="318325" cy="318325"/>
          </a:xfrm>
          <a:prstGeom prst="rect">
            <a:avLst/>
          </a:prstGeom>
          <a:solidFill>
            <a:srgbClr val="E9C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B8D828E-5AC3-06A1-CEA8-69FC37EA5F4D}"/>
              </a:ext>
            </a:extLst>
          </p:cNvPr>
          <p:cNvSpPr/>
          <p:nvPr/>
        </p:nvSpPr>
        <p:spPr>
          <a:xfrm>
            <a:off x="10498641" y="2003590"/>
            <a:ext cx="1693360" cy="45719"/>
          </a:xfrm>
          <a:prstGeom prst="rect">
            <a:avLst/>
          </a:prstGeom>
          <a:solidFill>
            <a:srgbClr val="E9C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C0177BC-2AB5-E6AC-AE5E-11770E776FDB}"/>
              </a:ext>
            </a:extLst>
          </p:cNvPr>
          <p:cNvSpPr/>
          <p:nvPr/>
        </p:nvSpPr>
        <p:spPr>
          <a:xfrm>
            <a:off x="9479326" y="2606687"/>
            <a:ext cx="2034074" cy="29671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4C9A61-9FBA-228C-757A-AE6141F90F2D}"/>
              </a:ext>
            </a:extLst>
          </p:cNvPr>
          <p:cNvSpPr txBox="1"/>
          <p:nvPr/>
        </p:nvSpPr>
        <p:spPr>
          <a:xfrm>
            <a:off x="10133688" y="1516067"/>
            <a:ext cx="72135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2022.03</a:t>
            </a:r>
            <a:endParaRPr lang="ko-KR" altLang="en-US" sz="14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48CE6C-AD8A-8040-C220-E50332B0CC05}"/>
              </a:ext>
            </a:extLst>
          </p:cNvPr>
          <p:cNvSpPr txBox="1"/>
          <p:nvPr/>
        </p:nvSpPr>
        <p:spPr>
          <a:xfrm>
            <a:off x="9761790" y="5784943"/>
            <a:ext cx="1465145" cy="2308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5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론칭 개발 스펙 확정</a:t>
            </a:r>
            <a:endParaRPr lang="en-US" altLang="ko-KR" sz="15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D61E9B9-0880-6211-5000-5D6EF3BEDD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4216" y="2808919"/>
            <a:ext cx="1820291" cy="21012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7732EEF-C9B4-EC46-C590-E5CB02E18959}"/>
              </a:ext>
            </a:extLst>
          </p:cNvPr>
          <p:cNvSpPr txBox="1"/>
          <p:nvPr/>
        </p:nvSpPr>
        <p:spPr>
          <a:xfrm>
            <a:off x="9587867" y="5070850"/>
            <a:ext cx="181299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200" spc="-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담장자</a:t>
            </a:r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 지정 및 일감 등록</a:t>
            </a:r>
            <a:endParaRPr lang="en-US" altLang="ko-KR" sz="12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algn="ctr"/>
            <a:r>
              <a:rPr lang="en-US" altLang="ko-KR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WBS </a:t>
            </a:r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작성 및 협업 도구 동기화</a:t>
            </a:r>
            <a:endParaRPr lang="en-US" altLang="ko-KR" sz="12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1744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08AFE-FAA6-A38F-0B7D-64E8911F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0F8CFCC1-B759-C068-2A7A-F1BBD40CDD92}"/>
              </a:ext>
            </a:extLst>
          </p:cNvPr>
          <p:cNvSpPr/>
          <p:nvPr/>
        </p:nvSpPr>
        <p:spPr>
          <a:xfrm rot="2706656">
            <a:off x="1379306" y="1887062"/>
            <a:ext cx="318325" cy="318325"/>
          </a:xfrm>
          <a:prstGeom prst="rect">
            <a:avLst/>
          </a:prstGeom>
          <a:solidFill>
            <a:srgbClr val="E9C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118600-584A-A10F-6018-98C930DCA8FA}"/>
              </a:ext>
            </a:extLst>
          </p:cNvPr>
          <p:cNvSpPr/>
          <p:nvPr/>
        </p:nvSpPr>
        <p:spPr>
          <a:xfrm>
            <a:off x="0" y="2023363"/>
            <a:ext cx="10553395" cy="45719"/>
          </a:xfrm>
          <a:prstGeom prst="rect">
            <a:avLst/>
          </a:prstGeom>
          <a:solidFill>
            <a:srgbClr val="E9C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06876CF-2FBA-9AA2-31AB-7AE220561EA4}"/>
              </a:ext>
            </a:extLst>
          </p:cNvPr>
          <p:cNvSpPr/>
          <p:nvPr/>
        </p:nvSpPr>
        <p:spPr>
          <a:xfrm rot="2706656">
            <a:off x="10394233" y="1889383"/>
            <a:ext cx="318325" cy="318325"/>
          </a:xfrm>
          <a:prstGeom prst="rect">
            <a:avLst/>
          </a:prstGeom>
          <a:solidFill>
            <a:srgbClr val="E9C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2066B6-236A-41BF-7D01-B4657AD02477}"/>
              </a:ext>
            </a:extLst>
          </p:cNvPr>
          <p:cNvSpPr/>
          <p:nvPr/>
        </p:nvSpPr>
        <p:spPr>
          <a:xfrm rot="2706656">
            <a:off x="4384282" y="1887062"/>
            <a:ext cx="318325" cy="318325"/>
          </a:xfrm>
          <a:prstGeom prst="rect">
            <a:avLst/>
          </a:prstGeom>
          <a:solidFill>
            <a:srgbClr val="E9C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2FDCA5-6633-E819-EA1C-E405C57B5697}"/>
              </a:ext>
            </a:extLst>
          </p:cNvPr>
          <p:cNvSpPr/>
          <p:nvPr/>
        </p:nvSpPr>
        <p:spPr>
          <a:xfrm rot="2706656">
            <a:off x="7389258" y="1887061"/>
            <a:ext cx="318325" cy="318325"/>
          </a:xfrm>
          <a:prstGeom prst="rect">
            <a:avLst/>
          </a:prstGeom>
          <a:solidFill>
            <a:srgbClr val="E9C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F0351B-93D1-354D-41EC-20AEAB55A443}"/>
              </a:ext>
            </a:extLst>
          </p:cNvPr>
          <p:cNvSpPr/>
          <p:nvPr/>
        </p:nvSpPr>
        <p:spPr>
          <a:xfrm>
            <a:off x="6532346" y="2626460"/>
            <a:ext cx="2034074" cy="29671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99CBACE-A807-23C5-E625-62A1B7FE3C00}"/>
              </a:ext>
            </a:extLst>
          </p:cNvPr>
          <p:cNvSpPr/>
          <p:nvPr/>
        </p:nvSpPr>
        <p:spPr>
          <a:xfrm>
            <a:off x="9536804" y="2626460"/>
            <a:ext cx="2034074" cy="29671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34046E-832E-FCCB-6506-5B519F250F4F}"/>
              </a:ext>
            </a:extLst>
          </p:cNvPr>
          <p:cNvSpPr txBox="1"/>
          <p:nvPr/>
        </p:nvSpPr>
        <p:spPr>
          <a:xfrm>
            <a:off x="1177792" y="1535840"/>
            <a:ext cx="72135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2022.04</a:t>
            </a:r>
            <a:endParaRPr lang="ko-KR" altLang="en-US" sz="14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9E60EC-7337-0BAD-4947-556EF6DC1679}"/>
              </a:ext>
            </a:extLst>
          </p:cNvPr>
          <p:cNvSpPr txBox="1"/>
          <p:nvPr/>
        </p:nvSpPr>
        <p:spPr>
          <a:xfrm>
            <a:off x="4182768" y="1535840"/>
            <a:ext cx="72455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2022.08</a:t>
            </a:r>
            <a:endParaRPr lang="ko-KR" altLang="en-US" sz="14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87F0EF-7970-FA18-F522-6D598F64706B}"/>
              </a:ext>
            </a:extLst>
          </p:cNvPr>
          <p:cNvSpPr txBox="1"/>
          <p:nvPr/>
        </p:nvSpPr>
        <p:spPr>
          <a:xfrm>
            <a:off x="7187744" y="1535840"/>
            <a:ext cx="72135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2022.09</a:t>
            </a:r>
            <a:endParaRPr lang="ko-KR" altLang="en-US" sz="14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1C9ADF-2472-00D1-513D-5CCD7489B3EF}"/>
              </a:ext>
            </a:extLst>
          </p:cNvPr>
          <p:cNvSpPr txBox="1"/>
          <p:nvPr/>
        </p:nvSpPr>
        <p:spPr>
          <a:xfrm>
            <a:off x="10192719" y="1535840"/>
            <a:ext cx="72135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2023.05</a:t>
            </a:r>
            <a:endParaRPr lang="ko-KR" altLang="en-US" sz="14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595CDC-3207-7207-16E8-7E3F76F7FF37}"/>
              </a:ext>
            </a:extLst>
          </p:cNvPr>
          <p:cNvSpPr txBox="1"/>
          <p:nvPr/>
        </p:nvSpPr>
        <p:spPr>
          <a:xfrm>
            <a:off x="3640953" y="5784945"/>
            <a:ext cx="1804981" cy="2308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5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레전드 오브 </a:t>
            </a:r>
            <a:r>
              <a:rPr lang="ko-KR" altLang="en-US" sz="1500" spc="-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슬라임</a:t>
            </a:r>
            <a:r>
              <a:rPr lang="ko-KR" altLang="en-US" sz="15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 출시</a:t>
            </a:r>
            <a:endParaRPr lang="en-US" altLang="ko-KR" sz="15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C3509A-8386-B496-2FAA-6A6E74554308}"/>
              </a:ext>
            </a:extLst>
          </p:cNvPr>
          <p:cNvSpPr txBox="1"/>
          <p:nvPr/>
        </p:nvSpPr>
        <p:spPr>
          <a:xfrm>
            <a:off x="1180998" y="5784944"/>
            <a:ext cx="714940" cy="2308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5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론칭 준비</a:t>
            </a:r>
            <a:endParaRPr lang="en-US" altLang="ko-KR" sz="15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1A33CB-27A5-1EB0-961B-2545A4C8F482}"/>
              </a:ext>
            </a:extLst>
          </p:cNvPr>
          <p:cNvSpPr txBox="1"/>
          <p:nvPr/>
        </p:nvSpPr>
        <p:spPr>
          <a:xfrm>
            <a:off x="6809435" y="5784944"/>
            <a:ext cx="1429880" cy="2308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5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라이브 서비스 운영</a:t>
            </a:r>
            <a:endParaRPr lang="en-US" altLang="ko-KR" sz="15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036E10-35BD-AC17-091C-AA3436824298}"/>
              </a:ext>
            </a:extLst>
          </p:cNvPr>
          <p:cNvSpPr txBox="1"/>
          <p:nvPr/>
        </p:nvSpPr>
        <p:spPr>
          <a:xfrm>
            <a:off x="9572357" y="5784944"/>
            <a:ext cx="1962076" cy="2308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5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1.14.0 </a:t>
            </a:r>
            <a:r>
              <a:rPr lang="ko-KR" altLang="en-US" sz="15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버전 업데이트 준비</a:t>
            </a:r>
            <a:endParaRPr lang="en-US" altLang="ko-KR" sz="15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2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grpSp>
        <p:nvGrpSpPr>
          <p:cNvPr id="1038" name="그룹 1037">
            <a:extLst>
              <a:ext uri="{FF2B5EF4-FFF2-40B4-BE49-F238E27FC236}">
                <a16:creationId xmlns:a16="http://schemas.microsoft.com/office/drawing/2014/main" id="{175D0DC6-8EB5-F1D1-B3F0-0D2A9CF7900F}"/>
              </a:ext>
            </a:extLst>
          </p:cNvPr>
          <p:cNvGrpSpPr/>
          <p:nvPr/>
        </p:nvGrpSpPr>
        <p:grpSpPr>
          <a:xfrm>
            <a:off x="3527888" y="2626459"/>
            <a:ext cx="2034074" cy="2967135"/>
            <a:chOff x="523430" y="2626460"/>
            <a:chExt cx="2034074" cy="2967135"/>
          </a:xfrm>
        </p:grpSpPr>
        <p:grpSp>
          <p:nvGrpSpPr>
            <p:cNvPr id="1037" name="그룹 1036">
              <a:extLst>
                <a:ext uri="{FF2B5EF4-FFF2-40B4-BE49-F238E27FC236}">
                  <a16:creationId xmlns:a16="http://schemas.microsoft.com/office/drawing/2014/main" id="{E8E236E3-7C44-3924-E603-13465913E158}"/>
                </a:ext>
              </a:extLst>
            </p:cNvPr>
            <p:cNvGrpSpPr/>
            <p:nvPr/>
          </p:nvGrpSpPr>
          <p:grpSpPr>
            <a:xfrm>
              <a:off x="523430" y="2626460"/>
              <a:ext cx="2034074" cy="2967135"/>
              <a:chOff x="523430" y="2626460"/>
              <a:chExt cx="2034074" cy="2967135"/>
            </a:xfrm>
          </p:grpSpPr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F61AFF77-13A9-3266-E6A2-10276D402270}"/>
                  </a:ext>
                </a:extLst>
              </p:cNvPr>
              <p:cNvSpPr/>
              <p:nvPr/>
            </p:nvSpPr>
            <p:spPr>
              <a:xfrm>
                <a:off x="523430" y="2626460"/>
                <a:ext cx="2034074" cy="296713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95C5B5A-97A3-4D48-AD8D-5FA4C54AB474}"/>
                  </a:ext>
                </a:extLst>
              </p:cNvPr>
              <p:cNvSpPr txBox="1"/>
              <p:nvPr/>
            </p:nvSpPr>
            <p:spPr>
              <a:xfrm>
                <a:off x="753269" y="5090623"/>
                <a:ext cx="15965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o-KR" altLang="en-US" sz="1200" spc="-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개발 일정 및 태스크 관리</a:t>
                </a:r>
                <a:endParaRPr lang="en-US" altLang="ko-KR" sz="1200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endParaRPr>
              </a:p>
              <a:p>
                <a:pPr algn="ctr"/>
                <a:r>
                  <a:rPr lang="ko-KR" altLang="en-US" sz="1200" spc="-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형상</a:t>
                </a:r>
                <a:r>
                  <a:rPr lang="en-US" altLang="ko-KR" sz="1200" spc="-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, </a:t>
                </a:r>
                <a:r>
                  <a:rPr lang="ko-KR" altLang="en-US" sz="1200" spc="-10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브랜치</a:t>
                </a:r>
                <a:r>
                  <a:rPr lang="en-US" altLang="ko-KR" sz="1200" spc="-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 </a:t>
                </a:r>
                <a:r>
                  <a:rPr lang="ko-KR" altLang="en-US" sz="1200" spc="-1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관리 전략 수립</a:t>
                </a:r>
                <a:endParaRPr lang="en-US" altLang="ko-KR" sz="1200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endParaRPr>
              </a:p>
            </p:txBody>
          </p:sp>
          <p:pic>
            <p:nvPicPr>
              <p:cNvPr id="28" name="그림 27" descr="텍스트, 번호, 소프트웨어, 폰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FF1C7C8B-A44F-8261-DBD0-77AD15B3DA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1411" y="2828691"/>
                <a:ext cx="1816648" cy="968867"/>
              </a:xfrm>
              <a:prstGeom prst="rect">
                <a:avLst/>
              </a:prstGeom>
            </p:spPr>
          </p:pic>
        </p:grpSp>
        <p:pic>
          <p:nvPicPr>
            <p:cNvPr id="1024" name="그림 1023">
              <a:extLst>
                <a:ext uri="{FF2B5EF4-FFF2-40B4-BE49-F238E27FC236}">
                  <a16:creationId xmlns:a16="http://schemas.microsoft.com/office/drawing/2014/main" id="{A79D5F1F-FB39-57A8-EDC0-45A2AF4AD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1411" y="3897275"/>
              <a:ext cx="1816648" cy="1032676"/>
            </a:xfrm>
            <a:prstGeom prst="rect">
              <a:avLst/>
            </a:prstGeom>
          </p:spPr>
        </p:pic>
      </p:grpSp>
      <p:pic>
        <p:nvPicPr>
          <p:cNvPr id="1029" name="그림 1028">
            <a:extLst>
              <a:ext uri="{FF2B5EF4-FFF2-40B4-BE49-F238E27FC236}">
                <a16:creationId xmlns:a16="http://schemas.microsoft.com/office/drawing/2014/main" id="{6BD47040-2B44-1FBB-3CB2-B24C147BC8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154" y="2828692"/>
            <a:ext cx="1814457" cy="2101260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23C3228E-3CCE-874A-8E80-02480A859D4C}"/>
              </a:ext>
            </a:extLst>
          </p:cNvPr>
          <p:cNvSpPr txBox="1"/>
          <p:nvPr/>
        </p:nvSpPr>
        <p:spPr>
          <a:xfrm>
            <a:off x="6739708" y="5090623"/>
            <a:ext cx="156613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주간 업데이트 및 패치 준비</a:t>
            </a:r>
            <a:endParaRPr lang="en-US" altLang="ko-KR" sz="12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algn="ctr"/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개발</a:t>
            </a:r>
            <a:r>
              <a:rPr lang="en-US" altLang="ko-KR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, </a:t>
            </a:r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운영</a:t>
            </a:r>
            <a:r>
              <a:rPr lang="en-US" altLang="ko-KR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, </a:t>
            </a:r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사업팀과 협업</a:t>
            </a:r>
            <a:endParaRPr lang="en-US" altLang="ko-KR" sz="12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FCCD1D54-A39D-0569-55E2-89F9429D5210}"/>
              </a:ext>
            </a:extLst>
          </p:cNvPr>
          <p:cNvSpPr txBox="1"/>
          <p:nvPr/>
        </p:nvSpPr>
        <p:spPr>
          <a:xfrm>
            <a:off x="9770332" y="5085851"/>
            <a:ext cx="156613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대규모 업데이트 </a:t>
            </a:r>
            <a:endParaRPr lang="en-US" altLang="ko-KR" sz="12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algn="ctr"/>
            <a:r>
              <a:rPr lang="ko-KR" altLang="en-US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패치 노트 및 공지사항 준비</a:t>
            </a:r>
            <a:endParaRPr lang="en-US" altLang="ko-KR" sz="12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pic>
        <p:nvPicPr>
          <p:cNvPr id="1034" name="그림 1033">
            <a:extLst>
              <a:ext uri="{FF2B5EF4-FFF2-40B4-BE49-F238E27FC236}">
                <a16:creationId xmlns:a16="http://schemas.microsoft.com/office/drawing/2014/main" id="{DAEF6220-4D7C-5B99-B7E5-D484DF9628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165" y="2828691"/>
            <a:ext cx="1814457" cy="2101260"/>
          </a:xfrm>
          <a:prstGeom prst="rect">
            <a:avLst/>
          </a:prstGeom>
        </p:spPr>
      </p:pic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BE6CCBCA-0CAC-040F-A4BC-25E259FBE79F}"/>
              </a:ext>
            </a:extLst>
          </p:cNvPr>
          <p:cNvGrpSpPr/>
          <p:nvPr/>
        </p:nvGrpSpPr>
        <p:grpSpPr>
          <a:xfrm>
            <a:off x="521430" y="2626459"/>
            <a:ext cx="2034074" cy="2967135"/>
            <a:chOff x="3527888" y="2626461"/>
            <a:chExt cx="2034074" cy="2967135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E50D8A4-80E6-803E-F843-81F12FC6EFB6}"/>
                </a:ext>
              </a:extLst>
            </p:cNvPr>
            <p:cNvSpPr/>
            <p:nvPr/>
          </p:nvSpPr>
          <p:spPr>
            <a:xfrm>
              <a:off x="3527888" y="2626461"/>
              <a:ext cx="2034074" cy="296713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1" name="그림 1030">
              <a:extLst>
                <a:ext uri="{FF2B5EF4-FFF2-40B4-BE49-F238E27FC236}">
                  <a16:creationId xmlns:a16="http://schemas.microsoft.com/office/drawing/2014/main" id="{AF4C04E0-4888-55EE-E1D4-2357DE00B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38173" y="2828691"/>
              <a:ext cx="1813504" cy="21012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35" name="TextBox 1034">
              <a:extLst>
                <a:ext uri="{FF2B5EF4-FFF2-40B4-BE49-F238E27FC236}">
                  <a16:creationId xmlns:a16="http://schemas.microsoft.com/office/drawing/2014/main" id="{F129733C-A2A9-200D-D216-1DD82B8C258F}"/>
                </a:ext>
              </a:extLst>
            </p:cNvPr>
            <p:cNvSpPr txBox="1"/>
            <p:nvPr/>
          </p:nvSpPr>
          <p:spPr>
            <a:xfrm>
              <a:off x="3826900" y="5085851"/>
              <a:ext cx="1433085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200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게임 출시를 위한</a:t>
              </a:r>
              <a:endParaRPr lang="en-US" altLang="ko-KR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  <a:p>
              <a:pPr algn="ctr"/>
              <a:r>
                <a:rPr lang="ko-KR" altLang="en-US" sz="1200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미해결 이슈 파악 및 조치</a:t>
              </a:r>
              <a:endParaRPr lang="en-US" altLang="ko-KR" sz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</p:grpSp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82ECE57F-E9E0-235E-6D89-92517F9FF24C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67079A-F307-62C8-146C-D83FC94581AF}"/>
              </a:ext>
            </a:extLst>
          </p:cNvPr>
          <p:cNvSpPr txBox="1"/>
          <p:nvPr/>
        </p:nvSpPr>
        <p:spPr>
          <a:xfrm>
            <a:off x="465138" y="706566"/>
            <a:ext cx="39671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레전드 오브 </a:t>
            </a:r>
            <a:r>
              <a:rPr kumimoji="0" lang="ko-KR" alt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슬라임</a:t>
            </a: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 </a:t>
            </a:r>
            <a:r>
              <a:rPr lang="ko-KR" altLang="en-US" sz="26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활동 내역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34EEFE-BD9B-ECA5-23EC-89FBC2F50AAC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레전드 오브 </a:t>
            </a: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슬라임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 론칭</a:t>
            </a:r>
          </a:p>
        </p:txBody>
      </p:sp>
    </p:spTree>
    <p:extLst>
      <p:ext uri="{BB962C8B-B14F-4D97-AF65-F5344CB8AC3E}">
        <p14:creationId xmlns:p14="http://schemas.microsoft.com/office/powerpoint/2010/main" val="54800846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27E50A1C-C84B-94D7-D087-8B921FA85E0C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9D4B9-327F-E42F-B5A0-3EB57C69F290}"/>
              </a:ext>
            </a:extLst>
          </p:cNvPr>
          <p:cNvSpPr txBox="1"/>
          <p:nvPr/>
        </p:nvSpPr>
        <p:spPr>
          <a:xfrm>
            <a:off x="474663" y="1124970"/>
            <a:ext cx="11201400" cy="657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30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프로젝트 론칭 직전 개발 환경 개선 및 프로세스 정비에 대한 필요성을 느껴 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개선을 진행하였습니다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이를 기반으로 론칭 이후 안정적인 라이브 서비스에 크게 기여할 수 </a:t>
            </a:r>
            <a:r>
              <a:rPr kumimoji="0" lang="ko-KR" alt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있었습니</a:t>
            </a:r>
            <a:r>
              <a:rPr lang="ko-KR" alt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다</a:t>
            </a:r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.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22B46CE-A25C-6FCC-139C-F712C5212905}"/>
              </a:ext>
            </a:extLst>
          </p:cNvPr>
          <p:cNvSpPr/>
          <p:nvPr/>
        </p:nvSpPr>
        <p:spPr>
          <a:xfrm>
            <a:off x="528244" y="3376582"/>
            <a:ext cx="1691744" cy="169174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14300" dist="381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71D16B-D1A5-83AC-EB42-948F14576CA1}"/>
              </a:ext>
            </a:extLst>
          </p:cNvPr>
          <p:cNvSpPr txBox="1"/>
          <p:nvPr/>
        </p:nvSpPr>
        <p:spPr>
          <a:xfrm>
            <a:off x="541076" y="3850814"/>
            <a:ext cx="1666081" cy="743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구성원을 위한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srgbClr val="262626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PM</a:t>
            </a:r>
            <a:r>
              <a:rPr lang="ko-KR" altLang="en-US" sz="1500" dirty="0">
                <a:solidFill>
                  <a:srgbClr val="262626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의 행동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8B5F062-7E39-2533-618C-24C8C94F423B}"/>
              </a:ext>
            </a:extLst>
          </p:cNvPr>
          <p:cNvGrpSpPr/>
          <p:nvPr/>
        </p:nvGrpSpPr>
        <p:grpSpPr>
          <a:xfrm>
            <a:off x="4421150" y="2050082"/>
            <a:ext cx="287411" cy="276261"/>
            <a:chOff x="4518765" y="2050081"/>
            <a:chExt cx="480298" cy="461665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94DB208D-392B-3007-C567-E26373D0E4B4}"/>
                </a:ext>
              </a:extLst>
            </p:cNvPr>
            <p:cNvSpPr/>
            <p:nvPr/>
          </p:nvSpPr>
          <p:spPr>
            <a:xfrm>
              <a:off x="4518765" y="2050081"/>
              <a:ext cx="480298" cy="461665"/>
            </a:xfrm>
            <a:prstGeom prst="roundRect">
              <a:avLst>
                <a:gd name="adj" fmla="val 28173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sx="101000" sy="101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pic>
          <p:nvPicPr>
            <p:cNvPr id="49" name="그래픽 48" descr="전구 단색으로 채워진">
              <a:extLst>
                <a:ext uri="{FF2B5EF4-FFF2-40B4-BE49-F238E27FC236}">
                  <a16:creationId xmlns:a16="http://schemas.microsoft.com/office/drawing/2014/main" id="{F16A7498-395A-BB98-DA34-A5C984403CF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578419" y="2100418"/>
              <a:ext cx="360991" cy="360991"/>
            </a:xfrm>
            <a:prstGeom prst="rect">
              <a:avLst/>
            </a:prstGeom>
          </p:spPr>
        </p:pic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07AC1A58-223D-FD4D-0367-0C70D1BF5165}"/>
              </a:ext>
            </a:extLst>
          </p:cNvPr>
          <p:cNvSpPr txBox="1"/>
          <p:nvPr/>
        </p:nvSpPr>
        <p:spPr>
          <a:xfrm>
            <a:off x="4708560" y="2057407"/>
            <a:ext cx="3468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그레이존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372471C7-1FE9-E9BD-9A12-E164C5E6D2BD}"/>
              </a:ext>
            </a:extLst>
          </p:cNvPr>
          <p:cNvSpPr/>
          <p:nvPr/>
        </p:nvSpPr>
        <p:spPr>
          <a:xfrm>
            <a:off x="4432302" y="2400578"/>
            <a:ext cx="7243762" cy="914722"/>
          </a:xfrm>
          <a:prstGeom prst="roundRect">
            <a:avLst>
              <a:gd name="adj" fmla="val 40434"/>
            </a:avLst>
          </a:prstGeom>
          <a:solidFill>
            <a:schemeClr val="accent1"/>
          </a:solidFill>
          <a:ln>
            <a:solidFill>
              <a:schemeClr val="accent2"/>
            </a:solidFill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64A09B2-B3AF-996D-DC67-FF0AB5FB7D16}"/>
              </a:ext>
            </a:extLst>
          </p:cNvPr>
          <p:cNvGrpSpPr/>
          <p:nvPr/>
        </p:nvGrpSpPr>
        <p:grpSpPr>
          <a:xfrm>
            <a:off x="4421150" y="3558597"/>
            <a:ext cx="287411" cy="276261"/>
            <a:chOff x="4518765" y="2050081"/>
            <a:chExt cx="480298" cy="461665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25787860-858F-FD39-E3F9-8274CA86A181}"/>
                </a:ext>
              </a:extLst>
            </p:cNvPr>
            <p:cNvSpPr/>
            <p:nvPr/>
          </p:nvSpPr>
          <p:spPr>
            <a:xfrm>
              <a:off x="4518765" y="2050081"/>
              <a:ext cx="480298" cy="461665"/>
            </a:xfrm>
            <a:prstGeom prst="roundRect">
              <a:avLst>
                <a:gd name="adj" fmla="val 28173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sx="101000" sy="101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pic>
          <p:nvPicPr>
            <p:cNvPr id="55" name="그래픽 54" descr="전구 단색으로 채워진">
              <a:extLst>
                <a:ext uri="{FF2B5EF4-FFF2-40B4-BE49-F238E27FC236}">
                  <a16:creationId xmlns:a16="http://schemas.microsoft.com/office/drawing/2014/main" id="{49F01A8D-6D62-7B7B-844F-2B29F887980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578419" y="2100418"/>
              <a:ext cx="360991" cy="360991"/>
            </a:xfrm>
            <a:prstGeom prst="rect">
              <a:avLst/>
            </a:prstGeom>
          </p:spPr>
        </p:pic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340E0E2-0F0B-F9A0-2607-90E9B605540E}"/>
              </a:ext>
            </a:extLst>
          </p:cNvPr>
          <p:cNvSpPr txBox="1"/>
          <p:nvPr/>
        </p:nvSpPr>
        <p:spPr>
          <a:xfrm>
            <a:off x="4708560" y="3565922"/>
            <a:ext cx="3161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출시 경험이 전무한 동료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620E12A-1FBC-A4E8-5E60-FFB84E3A7B3A}"/>
              </a:ext>
            </a:extLst>
          </p:cNvPr>
          <p:cNvSpPr/>
          <p:nvPr/>
        </p:nvSpPr>
        <p:spPr>
          <a:xfrm>
            <a:off x="4432302" y="3907122"/>
            <a:ext cx="7243762" cy="914722"/>
          </a:xfrm>
          <a:prstGeom prst="roundRect">
            <a:avLst>
              <a:gd name="adj" fmla="val 40434"/>
            </a:avLst>
          </a:prstGeom>
          <a:solidFill>
            <a:schemeClr val="accent1"/>
          </a:solidFill>
          <a:ln>
            <a:solidFill>
              <a:schemeClr val="accent2"/>
            </a:solidFill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7A415EB5-BF0C-B176-F720-AE3D8918E89A}"/>
              </a:ext>
            </a:extLst>
          </p:cNvPr>
          <p:cNvGrpSpPr/>
          <p:nvPr/>
        </p:nvGrpSpPr>
        <p:grpSpPr>
          <a:xfrm>
            <a:off x="4421150" y="5070989"/>
            <a:ext cx="287411" cy="276261"/>
            <a:chOff x="4518765" y="2050081"/>
            <a:chExt cx="480298" cy="461665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B7B6455F-6AD6-7E71-E623-AED9DECFB741}"/>
                </a:ext>
              </a:extLst>
            </p:cNvPr>
            <p:cNvSpPr/>
            <p:nvPr/>
          </p:nvSpPr>
          <p:spPr>
            <a:xfrm>
              <a:off x="4518765" y="2050081"/>
              <a:ext cx="480298" cy="461665"/>
            </a:xfrm>
            <a:prstGeom prst="roundRect">
              <a:avLst>
                <a:gd name="adj" fmla="val 28173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sx="101000" sy="101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pic>
          <p:nvPicPr>
            <p:cNvPr id="60" name="그래픽 59" descr="전구 단색으로 채워진">
              <a:extLst>
                <a:ext uri="{FF2B5EF4-FFF2-40B4-BE49-F238E27FC236}">
                  <a16:creationId xmlns:a16="http://schemas.microsoft.com/office/drawing/2014/main" id="{3E7C4182-9FF8-93A3-1494-BAD76D55294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578419" y="2100418"/>
              <a:ext cx="360991" cy="360991"/>
            </a:xfrm>
            <a:prstGeom prst="rect">
              <a:avLst/>
            </a:prstGeom>
          </p:spPr>
        </p:pic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582E700F-94D1-FACE-1F08-CF7C61241EC3}"/>
              </a:ext>
            </a:extLst>
          </p:cNvPr>
          <p:cNvSpPr txBox="1"/>
          <p:nvPr/>
        </p:nvSpPr>
        <p:spPr>
          <a:xfrm>
            <a:off x="4708561" y="5078314"/>
            <a:ext cx="3161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라이브 이슈 대응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418E6CD-3DBD-A55C-FB46-B7DDC80C8C74}"/>
              </a:ext>
            </a:extLst>
          </p:cNvPr>
          <p:cNvSpPr/>
          <p:nvPr/>
        </p:nvSpPr>
        <p:spPr>
          <a:xfrm>
            <a:off x="4432302" y="5423424"/>
            <a:ext cx="7243762" cy="914722"/>
          </a:xfrm>
          <a:prstGeom prst="roundRect">
            <a:avLst>
              <a:gd name="adj" fmla="val 40434"/>
            </a:avLst>
          </a:prstGeom>
          <a:solidFill>
            <a:schemeClr val="accent1"/>
          </a:solidFill>
          <a:ln>
            <a:solidFill>
              <a:schemeClr val="accent2"/>
            </a:solidFill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5" name="자유형: 도형 64">
            <a:extLst>
              <a:ext uri="{FF2B5EF4-FFF2-40B4-BE49-F238E27FC236}">
                <a16:creationId xmlns:a16="http://schemas.microsoft.com/office/drawing/2014/main" id="{D463F48D-DA92-C38D-8C14-8ED5A9E68B69}"/>
              </a:ext>
            </a:extLst>
          </p:cNvPr>
          <p:cNvSpPr/>
          <p:nvPr/>
        </p:nvSpPr>
        <p:spPr>
          <a:xfrm>
            <a:off x="4426725" y="2400578"/>
            <a:ext cx="1643062" cy="914722"/>
          </a:xfrm>
          <a:custGeom>
            <a:avLst/>
            <a:gdLst>
              <a:gd name="connsiteX0" fmla="*/ 369859 w 1643062"/>
              <a:gd name="connsiteY0" fmla="*/ 0 h 914722"/>
              <a:gd name="connsiteX1" fmla="*/ 1643062 w 1643062"/>
              <a:gd name="connsiteY1" fmla="*/ 0 h 914722"/>
              <a:gd name="connsiteX2" fmla="*/ 1643062 w 1643062"/>
              <a:gd name="connsiteY2" fmla="*/ 914722 h 914722"/>
              <a:gd name="connsiteX3" fmla="*/ 369859 w 1643062"/>
              <a:gd name="connsiteY3" fmla="*/ 914722 h 914722"/>
              <a:gd name="connsiteX4" fmla="*/ 0 w 1643062"/>
              <a:gd name="connsiteY4" fmla="*/ 544863 h 914722"/>
              <a:gd name="connsiteX5" fmla="*/ 0 w 1643062"/>
              <a:gd name="connsiteY5" fmla="*/ 369859 h 914722"/>
              <a:gd name="connsiteX6" fmla="*/ 369859 w 1643062"/>
              <a:gd name="connsiteY6" fmla="*/ 0 h 914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3062" h="914722">
                <a:moveTo>
                  <a:pt x="369859" y="0"/>
                </a:moveTo>
                <a:lnTo>
                  <a:pt x="1643062" y="0"/>
                </a:lnTo>
                <a:lnTo>
                  <a:pt x="1643062" y="914722"/>
                </a:lnTo>
                <a:lnTo>
                  <a:pt x="369859" y="914722"/>
                </a:lnTo>
                <a:cubicBezTo>
                  <a:pt x="165592" y="914722"/>
                  <a:pt x="0" y="749130"/>
                  <a:pt x="0" y="544863"/>
                </a:cubicBezTo>
                <a:lnTo>
                  <a:pt x="0" y="369859"/>
                </a:lnTo>
                <a:cubicBezTo>
                  <a:pt x="0" y="165592"/>
                  <a:pt x="165592" y="0"/>
                  <a:pt x="369859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6FB708CC-DF89-5312-5ADB-BB5542FB7024}"/>
              </a:ext>
            </a:extLst>
          </p:cNvPr>
          <p:cNvSpPr/>
          <p:nvPr/>
        </p:nvSpPr>
        <p:spPr>
          <a:xfrm>
            <a:off x="4426725" y="3907122"/>
            <a:ext cx="1643062" cy="914722"/>
          </a:xfrm>
          <a:custGeom>
            <a:avLst/>
            <a:gdLst>
              <a:gd name="connsiteX0" fmla="*/ 369859 w 1643062"/>
              <a:gd name="connsiteY0" fmla="*/ 0 h 914722"/>
              <a:gd name="connsiteX1" fmla="*/ 1643062 w 1643062"/>
              <a:gd name="connsiteY1" fmla="*/ 0 h 914722"/>
              <a:gd name="connsiteX2" fmla="*/ 1643062 w 1643062"/>
              <a:gd name="connsiteY2" fmla="*/ 914722 h 914722"/>
              <a:gd name="connsiteX3" fmla="*/ 369859 w 1643062"/>
              <a:gd name="connsiteY3" fmla="*/ 914722 h 914722"/>
              <a:gd name="connsiteX4" fmla="*/ 0 w 1643062"/>
              <a:gd name="connsiteY4" fmla="*/ 544863 h 914722"/>
              <a:gd name="connsiteX5" fmla="*/ 0 w 1643062"/>
              <a:gd name="connsiteY5" fmla="*/ 369859 h 914722"/>
              <a:gd name="connsiteX6" fmla="*/ 369859 w 1643062"/>
              <a:gd name="connsiteY6" fmla="*/ 0 h 914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3062" h="914722">
                <a:moveTo>
                  <a:pt x="369859" y="0"/>
                </a:moveTo>
                <a:lnTo>
                  <a:pt x="1643062" y="0"/>
                </a:lnTo>
                <a:lnTo>
                  <a:pt x="1643062" y="914722"/>
                </a:lnTo>
                <a:lnTo>
                  <a:pt x="369859" y="914722"/>
                </a:lnTo>
                <a:cubicBezTo>
                  <a:pt x="165592" y="914722"/>
                  <a:pt x="0" y="749130"/>
                  <a:pt x="0" y="544863"/>
                </a:cubicBezTo>
                <a:lnTo>
                  <a:pt x="0" y="369859"/>
                </a:lnTo>
                <a:cubicBezTo>
                  <a:pt x="0" y="165592"/>
                  <a:pt x="165592" y="0"/>
                  <a:pt x="369859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7" name="자유형: 도형 66">
            <a:extLst>
              <a:ext uri="{FF2B5EF4-FFF2-40B4-BE49-F238E27FC236}">
                <a16:creationId xmlns:a16="http://schemas.microsoft.com/office/drawing/2014/main" id="{96024FA1-2C0D-6614-B2DA-E6F3C5CBAA5D}"/>
              </a:ext>
            </a:extLst>
          </p:cNvPr>
          <p:cNvSpPr/>
          <p:nvPr/>
        </p:nvSpPr>
        <p:spPr>
          <a:xfrm>
            <a:off x="4426725" y="5423424"/>
            <a:ext cx="1643062" cy="914722"/>
          </a:xfrm>
          <a:custGeom>
            <a:avLst/>
            <a:gdLst>
              <a:gd name="connsiteX0" fmla="*/ 369859 w 1643062"/>
              <a:gd name="connsiteY0" fmla="*/ 0 h 914722"/>
              <a:gd name="connsiteX1" fmla="*/ 1643062 w 1643062"/>
              <a:gd name="connsiteY1" fmla="*/ 0 h 914722"/>
              <a:gd name="connsiteX2" fmla="*/ 1643062 w 1643062"/>
              <a:gd name="connsiteY2" fmla="*/ 914722 h 914722"/>
              <a:gd name="connsiteX3" fmla="*/ 369859 w 1643062"/>
              <a:gd name="connsiteY3" fmla="*/ 914722 h 914722"/>
              <a:gd name="connsiteX4" fmla="*/ 0 w 1643062"/>
              <a:gd name="connsiteY4" fmla="*/ 544863 h 914722"/>
              <a:gd name="connsiteX5" fmla="*/ 0 w 1643062"/>
              <a:gd name="connsiteY5" fmla="*/ 369859 h 914722"/>
              <a:gd name="connsiteX6" fmla="*/ 369859 w 1643062"/>
              <a:gd name="connsiteY6" fmla="*/ 0 h 914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3062" h="914722">
                <a:moveTo>
                  <a:pt x="369859" y="0"/>
                </a:moveTo>
                <a:lnTo>
                  <a:pt x="1643062" y="0"/>
                </a:lnTo>
                <a:lnTo>
                  <a:pt x="1643062" y="914722"/>
                </a:lnTo>
                <a:lnTo>
                  <a:pt x="369859" y="914722"/>
                </a:lnTo>
                <a:cubicBezTo>
                  <a:pt x="165592" y="914722"/>
                  <a:pt x="0" y="749130"/>
                  <a:pt x="0" y="544863"/>
                </a:cubicBezTo>
                <a:lnTo>
                  <a:pt x="0" y="369859"/>
                </a:lnTo>
                <a:cubicBezTo>
                  <a:pt x="0" y="165592"/>
                  <a:pt x="165592" y="0"/>
                  <a:pt x="369859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A9F65BD-8307-E0BD-C9FA-0B0216074D05}"/>
              </a:ext>
            </a:extLst>
          </p:cNvPr>
          <p:cNvSpPr txBox="1"/>
          <p:nvPr/>
        </p:nvSpPr>
        <p:spPr>
          <a:xfrm>
            <a:off x="4573608" y="2551381"/>
            <a:ext cx="1349297" cy="613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err="1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그레이존</a:t>
            </a:r>
            <a:r>
              <a:rPr lang="ko-KR" alt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 발생으로</a:t>
            </a:r>
            <a:endParaRPr lang="en-US" altLang="ko-KR" sz="1200" dirty="0">
              <a:solidFill>
                <a:srgbClr val="FFFFFF"/>
              </a:solidFill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업무 누락 발생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C36031C-7D93-685B-74B8-C86A70BBE6D2}"/>
              </a:ext>
            </a:extLst>
          </p:cNvPr>
          <p:cNvSpPr txBox="1"/>
          <p:nvPr/>
        </p:nvSpPr>
        <p:spPr>
          <a:xfrm>
            <a:off x="4573608" y="4057925"/>
            <a:ext cx="1349297" cy="613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명확한 론칭 프로세스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부재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74F367-5887-2CAA-5117-2F54C8820379}"/>
              </a:ext>
            </a:extLst>
          </p:cNvPr>
          <p:cNvSpPr txBox="1"/>
          <p:nvPr/>
        </p:nvSpPr>
        <p:spPr>
          <a:xfrm>
            <a:off x="4573608" y="5574227"/>
            <a:ext cx="1349297" cy="613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라이브 이슈 발생으로 개발 일정 차질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D72903F-0296-41EC-4C6F-44AB40F362C4}"/>
              </a:ext>
            </a:extLst>
          </p:cNvPr>
          <p:cNvSpPr txBox="1"/>
          <p:nvPr/>
        </p:nvSpPr>
        <p:spPr>
          <a:xfrm>
            <a:off x="6144185" y="2551060"/>
            <a:ext cx="5252361" cy="613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각 팀 및 구성원 개개인의 업무 범위 명확화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이슈 및 일감 할당 시 각 팀의 팀장님들에게 </a:t>
            </a:r>
            <a:r>
              <a:rPr lang="en-US" altLang="ko-KR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차 배분 후 담당자 지정 요청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11B0DDB-096F-2EF4-17B4-11396FBE3DDE}"/>
              </a:ext>
            </a:extLst>
          </p:cNvPr>
          <p:cNvSpPr txBox="1"/>
          <p:nvPr/>
        </p:nvSpPr>
        <p:spPr>
          <a:xfrm>
            <a:off x="6144185" y="4057604"/>
            <a:ext cx="5252361" cy="613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목표 달성을 위한 주기적인 개발실 방향성 전달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타 게임의 출시 직전 단계에 대한 개발 환경 분석 및 자료 공유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72F0BB-BF2A-4B25-EAD5-A2D93D4B769D}"/>
              </a:ext>
            </a:extLst>
          </p:cNvPr>
          <p:cNvSpPr txBox="1"/>
          <p:nvPr/>
        </p:nvSpPr>
        <p:spPr>
          <a:xfrm>
            <a:off x="6144185" y="5573906"/>
            <a:ext cx="5252361" cy="613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라이브 이슈 발생 시나리오 설계 및 대응 방안 논의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이슈별 주요 담당자 지정 및 이슈 공유 프로세스 수립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5E1158-AD63-E825-AB73-8A7087B5C583}"/>
              </a:ext>
            </a:extLst>
          </p:cNvPr>
          <p:cNvSpPr txBox="1"/>
          <p:nvPr/>
        </p:nvSpPr>
        <p:spPr>
          <a:xfrm>
            <a:off x="465138" y="706566"/>
            <a:ext cx="410847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레전드 오브 </a:t>
            </a:r>
            <a:r>
              <a:rPr kumimoji="0" lang="ko-KR" alt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슬라임</a:t>
            </a: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 문제 해결 사례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7150EF-E3A5-A2F9-E972-E8AB5B0D351D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레전드 오브 </a:t>
            </a: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슬라임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 론칭</a:t>
            </a:r>
          </a:p>
        </p:txBody>
      </p:sp>
      <p:pic>
        <p:nvPicPr>
          <p:cNvPr id="10" name="그림 개체 틀 9">
            <a:extLst>
              <a:ext uri="{FF2B5EF4-FFF2-40B4-BE49-F238E27FC236}">
                <a16:creationId xmlns:a16="http://schemas.microsoft.com/office/drawing/2014/main" id="{1B05DBC4-56B0-874A-D496-1371DD63E38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8" r="4518"/>
          <a:stretch/>
        </p:blipFill>
        <p:spPr>
          <a:xfrm>
            <a:off x="1385888" y="2090738"/>
            <a:ext cx="2124075" cy="1222375"/>
          </a:xfrm>
          <a:custGeom>
            <a:avLst/>
            <a:gdLst>
              <a:gd name="connsiteX0" fmla="*/ 0 w 2125395"/>
              <a:gd name="connsiteY0" fmla="*/ 0 h 1222875"/>
              <a:gd name="connsiteX1" fmla="*/ 2125395 w 2125395"/>
              <a:gd name="connsiteY1" fmla="*/ 0 h 1222875"/>
              <a:gd name="connsiteX2" fmla="*/ 2125395 w 2125395"/>
              <a:gd name="connsiteY2" fmla="*/ 1222875 h 1222875"/>
              <a:gd name="connsiteX3" fmla="*/ 1087142 w 2125395"/>
              <a:gd name="connsiteY3" fmla="*/ 1222875 h 1222875"/>
              <a:gd name="connsiteX4" fmla="*/ 1087142 w 2125395"/>
              <a:gd name="connsiteY4" fmla="*/ 1038253 h 1222875"/>
              <a:gd name="connsiteX5" fmla="*/ 0 w 2125395"/>
              <a:gd name="connsiteY5" fmla="*/ 1038253 h 122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25395" h="1222875">
                <a:moveTo>
                  <a:pt x="0" y="0"/>
                </a:moveTo>
                <a:lnTo>
                  <a:pt x="2125395" y="0"/>
                </a:lnTo>
                <a:lnTo>
                  <a:pt x="2125395" y="1222875"/>
                </a:lnTo>
                <a:lnTo>
                  <a:pt x="1087142" y="1222875"/>
                </a:lnTo>
                <a:lnTo>
                  <a:pt x="1087142" y="1038253"/>
                </a:lnTo>
                <a:lnTo>
                  <a:pt x="0" y="1038253"/>
                </a:lnTo>
                <a:close/>
              </a:path>
            </a:pathLst>
          </a:custGeom>
        </p:spPr>
      </p:pic>
      <p:pic>
        <p:nvPicPr>
          <p:cNvPr id="11" name="그림 개체 틀 10">
            <a:extLst>
              <a:ext uri="{FF2B5EF4-FFF2-40B4-BE49-F238E27FC236}">
                <a16:creationId xmlns:a16="http://schemas.microsoft.com/office/drawing/2014/main" id="{6CF755E1-3E81-E1D7-934F-A72F670B6A9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r="12450"/>
          <a:stretch/>
        </p:blipFill>
        <p:spPr>
          <a:xfrm>
            <a:off x="2462213" y="3570288"/>
            <a:ext cx="1038225" cy="1327150"/>
          </a:xfrm>
          <a:custGeom>
            <a:avLst/>
            <a:gdLst>
              <a:gd name="connsiteX0" fmla="*/ 0 w 1038253"/>
              <a:gd name="connsiteY0" fmla="*/ 0 h 1327507"/>
              <a:gd name="connsiteX1" fmla="*/ 1038253 w 1038253"/>
              <a:gd name="connsiteY1" fmla="*/ 0 h 1327507"/>
              <a:gd name="connsiteX2" fmla="*/ 1038253 w 1038253"/>
              <a:gd name="connsiteY2" fmla="*/ 1327507 h 1327507"/>
              <a:gd name="connsiteX3" fmla="*/ 0 w 1038253"/>
              <a:gd name="connsiteY3" fmla="*/ 1327507 h 1327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253" h="1327507">
                <a:moveTo>
                  <a:pt x="0" y="0"/>
                </a:moveTo>
                <a:lnTo>
                  <a:pt x="1038253" y="0"/>
                </a:lnTo>
                <a:lnTo>
                  <a:pt x="1038253" y="1327507"/>
                </a:lnTo>
                <a:lnTo>
                  <a:pt x="0" y="1327507"/>
                </a:lnTo>
                <a:close/>
              </a:path>
            </a:pathLst>
          </a:custGeom>
        </p:spPr>
      </p:pic>
      <p:pic>
        <p:nvPicPr>
          <p:cNvPr id="12" name="그림 개체 틀 11">
            <a:extLst>
              <a:ext uri="{FF2B5EF4-FFF2-40B4-BE49-F238E27FC236}">
                <a16:creationId xmlns:a16="http://schemas.microsoft.com/office/drawing/2014/main" id="{4E0D076D-40F6-4828-B787-04BB66A2169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1"/>
          <a:stretch>
            <a:fillRect/>
          </a:stretch>
        </p:blipFill>
        <p:spPr>
          <a:xfrm>
            <a:off x="1385888" y="5130800"/>
            <a:ext cx="2124075" cy="1211263"/>
          </a:xfrm>
          <a:custGeom>
            <a:avLst/>
            <a:gdLst>
              <a:gd name="connsiteX0" fmla="*/ 1087142 w 2125395"/>
              <a:gd name="connsiteY0" fmla="*/ 0 h 1211019"/>
              <a:gd name="connsiteX1" fmla="*/ 2125395 w 2125395"/>
              <a:gd name="connsiteY1" fmla="*/ 0 h 1211019"/>
              <a:gd name="connsiteX2" fmla="*/ 2125395 w 2125395"/>
              <a:gd name="connsiteY2" fmla="*/ 1211019 h 1211019"/>
              <a:gd name="connsiteX3" fmla="*/ 0 w 2125395"/>
              <a:gd name="connsiteY3" fmla="*/ 1211019 h 1211019"/>
              <a:gd name="connsiteX4" fmla="*/ 0 w 2125395"/>
              <a:gd name="connsiteY4" fmla="*/ 172766 h 1211019"/>
              <a:gd name="connsiteX5" fmla="*/ 1087142 w 2125395"/>
              <a:gd name="connsiteY5" fmla="*/ 172766 h 1211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25395" h="1211019">
                <a:moveTo>
                  <a:pt x="1087142" y="0"/>
                </a:moveTo>
                <a:lnTo>
                  <a:pt x="2125395" y="0"/>
                </a:lnTo>
                <a:lnTo>
                  <a:pt x="2125395" y="1211019"/>
                </a:lnTo>
                <a:lnTo>
                  <a:pt x="0" y="1211019"/>
                </a:lnTo>
                <a:lnTo>
                  <a:pt x="0" y="172766"/>
                </a:lnTo>
                <a:lnTo>
                  <a:pt x="1087142" y="17276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992473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B511F0-24A8-435E-0E91-72C7DA9D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0BD32F-AC39-E180-0C73-54FEB3E6DD70}"/>
              </a:ext>
            </a:extLst>
          </p:cNvPr>
          <p:cNvSpPr txBox="1"/>
          <p:nvPr/>
        </p:nvSpPr>
        <p:spPr>
          <a:xfrm>
            <a:off x="839243" y="1365337"/>
            <a:ext cx="542159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600" dirty="0">
                <a:solidFill>
                  <a:srgbClr val="FFFFFF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첫 프로젝트 </a:t>
            </a:r>
            <a:r>
              <a:rPr lang="en-US" altLang="ko-KR" sz="4600" dirty="0">
                <a:solidFill>
                  <a:srgbClr val="FFFFFF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: </a:t>
            </a:r>
            <a:r>
              <a:rPr lang="ko-KR" altLang="en-US" sz="4600" dirty="0" err="1">
                <a:solidFill>
                  <a:srgbClr val="FFFFFF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가디스</a:t>
            </a:r>
            <a:r>
              <a:rPr lang="ko-KR" altLang="en-US" sz="4600" dirty="0">
                <a:solidFill>
                  <a:srgbClr val="FFFFFF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 오더</a:t>
            </a:r>
            <a:endParaRPr kumimoji="0" lang="ko-KR" altLang="en-US" sz="4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09C65E-DA0E-077C-ED0B-A6EFEE86CA67}"/>
              </a:ext>
            </a:extLst>
          </p:cNvPr>
          <p:cNvSpPr txBox="1"/>
          <p:nvPr/>
        </p:nvSpPr>
        <p:spPr>
          <a:xfrm>
            <a:off x="9051418" y="4317000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일정 및 인력 관리</a:t>
            </a:r>
          </a:p>
        </p:txBody>
      </p:sp>
      <p:sp>
        <p:nvSpPr>
          <p:cNvPr id="6" name="이등변 삼각형 12">
            <a:extLst>
              <a:ext uri="{FF2B5EF4-FFF2-40B4-BE49-F238E27FC236}">
                <a16:creationId xmlns:a16="http://schemas.microsoft.com/office/drawing/2014/main" id="{25FC2EAC-7BED-7BAA-17A1-4279130449A8}"/>
              </a:ext>
            </a:extLst>
          </p:cNvPr>
          <p:cNvSpPr/>
          <p:nvPr/>
        </p:nvSpPr>
        <p:spPr>
          <a:xfrm rot="5400000">
            <a:off x="8881063" y="4418503"/>
            <a:ext cx="180045" cy="15521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95EC0-AA41-6995-1753-39C43D8D1511}"/>
              </a:ext>
            </a:extLst>
          </p:cNvPr>
          <p:cNvSpPr txBox="1"/>
          <p:nvPr/>
        </p:nvSpPr>
        <p:spPr>
          <a:xfrm>
            <a:off x="9051418" y="4715109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50" dirty="0">
                <a:solidFill>
                  <a:srgbClr val="FFFFFF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프로젝트 품질 관리</a:t>
            </a:r>
            <a:endParaRPr kumimoji="0" lang="ko-KR" altLang="en-US" sz="17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2 ExtraLight" pitchFamily="2" charset="-127"/>
              <a:ea typeface="프리젠테이션 2 ExtraLight" pitchFamily="2" charset="-127"/>
              <a:cs typeface="Pretendard ExtraLight" panose="02000303000000020004" pitchFamily="2" charset="-127"/>
            </a:endParaRPr>
          </a:p>
        </p:txBody>
      </p:sp>
      <p:sp>
        <p:nvSpPr>
          <p:cNvPr id="8" name="이등변 삼각형 15">
            <a:extLst>
              <a:ext uri="{FF2B5EF4-FFF2-40B4-BE49-F238E27FC236}">
                <a16:creationId xmlns:a16="http://schemas.microsoft.com/office/drawing/2014/main" id="{3A910EB6-592E-ED64-5CCD-D5636F50D2F1}"/>
              </a:ext>
            </a:extLst>
          </p:cNvPr>
          <p:cNvSpPr/>
          <p:nvPr/>
        </p:nvSpPr>
        <p:spPr>
          <a:xfrm rot="5400000">
            <a:off x="8881063" y="4816612"/>
            <a:ext cx="180045" cy="15521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578DF0-6884-2B33-CED5-230C25DCFC1F}"/>
              </a:ext>
            </a:extLst>
          </p:cNvPr>
          <p:cNvSpPr txBox="1"/>
          <p:nvPr/>
        </p:nvSpPr>
        <p:spPr>
          <a:xfrm>
            <a:off x="839244" y="729668"/>
            <a:ext cx="2079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CONTENT.</a:t>
            </a:r>
            <a:r>
              <a:rPr lang="en-US" altLang="ko-KR" sz="24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4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24A5A3-F9A9-D67A-3310-38B1994B04FE}"/>
              </a:ext>
            </a:extLst>
          </p:cNvPr>
          <p:cNvSpPr txBox="1"/>
          <p:nvPr/>
        </p:nvSpPr>
        <p:spPr>
          <a:xfrm>
            <a:off x="8326648" y="732787"/>
            <a:ext cx="320666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9900" b="0" i="0" u="none" strike="noStrike" kern="1200" cap="none" spc="0" normalizeH="0" baseline="0" noProof="0" dirty="0">
                <a:ln w="19050">
                  <a:solidFill>
                    <a:srgbClr val="FFFFFF"/>
                  </a:solidFill>
                </a:ln>
                <a:noFill/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0</a:t>
            </a:r>
            <a:r>
              <a:rPr lang="en-US" altLang="ko-KR" sz="19900" dirty="0">
                <a:ln w="19050">
                  <a:solidFill>
                    <a:srgbClr val="FFFFFF"/>
                  </a:solidFill>
                </a:ln>
                <a:noFill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4</a:t>
            </a:r>
            <a:endParaRPr kumimoji="0" lang="ko-KR" altLang="en-US" sz="19900" b="0" i="0" u="none" strike="noStrike" kern="1200" cap="none" spc="0" normalizeH="0" baseline="0" noProof="0" dirty="0">
              <a:ln w="19050">
                <a:solidFill>
                  <a:srgbClr val="FFFFFF"/>
                </a:solidFill>
              </a:ln>
              <a:noFill/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0ACC39-5965-4611-529A-59BBFAC703B6}"/>
              </a:ext>
            </a:extLst>
          </p:cNvPr>
          <p:cNvSpPr txBox="1"/>
          <p:nvPr/>
        </p:nvSpPr>
        <p:spPr>
          <a:xfrm>
            <a:off x="864296" y="2031876"/>
            <a:ext cx="300105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개발 </a:t>
            </a:r>
            <a:r>
              <a:rPr lang="en-US" altLang="ko-KR" sz="26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PM</a:t>
            </a: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 &amp; </a:t>
            </a: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개발 </a:t>
            </a:r>
            <a:r>
              <a:rPr lang="en-US" altLang="ko-KR" sz="26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QA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B893D-DB2C-6AB9-CE0B-009B7DDC0DE2}"/>
              </a:ext>
            </a:extLst>
          </p:cNvPr>
          <p:cNvSpPr txBox="1"/>
          <p:nvPr/>
        </p:nvSpPr>
        <p:spPr>
          <a:xfrm>
            <a:off x="9051418" y="5128724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이슈 처리 프로세스 개선</a:t>
            </a:r>
          </a:p>
        </p:txBody>
      </p:sp>
      <p:sp>
        <p:nvSpPr>
          <p:cNvPr id="5" name="이등변 삼각형 19">
            <a:extLst>
              <a:ext uri="{FF2B5EF4-FFF2-40B4-BE49-F238E27FC236}">
                <a16:creationId xmlns:a16="http://schemas.microsoft.com/office/drawing/2014/main" id="{34955E0C-8950-A650-ED82-B28DFECAD920}"/>
              </a:ext>
            </a:extLst>
          </p:cNvPr>
          <p:cNvSpPr/>
          <p:nvPr/>
        </p:nvSpPr>
        <p:spPr>
          <a:xfrm rot="5400000">
            <a:off x="8881063" y="5230227"/>
            <a:ext cx="180045" cy="15521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6213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CC93EC8B-330F-8D07-6B57-002CD4F3F822}"/>
              </a:ext>
            </a:extLst>
          </p:cNvPr>
          <p:cNvSpPr/>
          <p:nvPr/>
        </p:nvSpPr>
        <p:spPr>
          <a:xfrm>
            <a:off x="-9525" y="-9524"/>
            <a:ext cx="4469102" cy="4834355"/>
          </a:xfrm>
          <a:custGeom>
            <a:avLst/>
            <a:gdLst>
              <a:gd name="connsiteX0" fmla="*/ 0 w 4469102"/>
              <a:gd name="connsiteY0" fmla="*/ 0 h 4834355"/>
              <a:gd name="connsiteX1" fmla="*/ 4469102 w 4469102"/>
              <a:gd name="connsiteY1" fmla="*/ 0 h 4834355"/>
              <a:gd name="connsiteX2" fmla="*/ 4469102 w 4469102"/>
              <a:gd name="connsiteY2" fmla="*/ 4574363 h 4834355"/>
              <a:gd name="connsiteX3" fmla="*/ 4209110 w 4469102"/>
              <a:gd name="connsiteY3" fmla="*/ 4834355 h 4834355"/>
              <a:gd name="connsiteX4" fmla="*/ 25909 w 4469102"/>
              <a:gd name="connsiteY4" fmla="*/ 4834355 h 4834355"/>
              <a:gd name="connsiteX5" fmla="*/ 0 w 4469102"/>
              <a:gd name="connsiteY5" fmla="*/ 4831743 h 4834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9102" h="4834355">
                <a:moveTo>
                  <a:pt x="0" y="0"/>
                </a:moveTo>
                <a:lnTo>
                  <a:pt x="4469102" y="0"/>
                </a:lnTo>
                <a:lnTo>
                  <a:pt x="4469102" y="4574363"/>
                </a:lnTo>
                <a:cubicBezTo>
                  <a:pt x="4469102" y="4717953"/>
                  <a:pt x="4352700" y="4834355"/>
                  <a:pt x="4209110" y="4834355"/>
                </a:cubicBezTo>
                <a:lnTo>
                  <a:pt x="25909" y="4834355"/>
                </a:lnTo>
                <a:lnTo>
                  <a:pt x="0" y="48317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FA981-B4B7-6590-A35E-1F52943D3211}"/>
              </a:ext>
            </a:extLst>
          </p:cNvPr>
          <p:cNvSpPr txBox="1"/>
          <p:nvPr/>
        </p:nvSpPr>
        <p:spPr>
          <a:xfrm>
            <a:off x="6718300" y="1266825"/>
            <a:ext cx="39671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가디스</a:t>
            </a:r>
            <a:r>
              <a:rPr kumimoji="0" lang="ko-KR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 오더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8EF92-B270-047B-A561-3137D78A27F5}"/>
              </a:ext>
            </a:extLst>
          </p:cNvPr>
          <p:cNvSpPr txBox="1"/>
          <p:nvPr/>
        </p:nvSpPr>
        <p:spPr>
          <a:xfrm>
            <a:off x="6730999" y="1039604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첫 프로젝트 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: </a:t>
            </a: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가디스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 오더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E92A0C-59B1-A89E-4AEB-22D03B126AC5}"/>
              </a:ext>
            </a:extLst>
          </p:cNvPr>
          <p:cNvSpPr txBox="1"/>
          <p:nvPr/>
        </p:nvSpPr>
        <p:spPr>
          <a:xfrm>
            <a:off x="6718300" y="1685229"/>
            <a:ext cx="4726448" cy="657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인력 </a:t>
            </a:r>
            <a:r>
              <a:rPr lang="en-US" altLang="ko-KR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150</a:t>
            </a:r>
            <a:r>
              <a:rPr lang="ko-KR" altLang="en-US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명 → </a:t>
            </a:r>
            <a:r>
              <a:rPr lang="en-US" altLang="ko-KR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170</a:t>
            </a:r>
            <a:r>
              <a:rPr lang="ko-KR" altLang="en-US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명</a:t>
            </a:r>
            <a:endParaRPr lang="en-US" altLang="ko-KR" sz="13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역할 </a:t>
            </a:r>
            <a:r>
              <a:rPr lang="en-US" altLang="ko-KR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</a:t>
            </a:r>
            <a:r>
              <a:rPr lang="en-US" altLang="ko-KR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PM &amp; </a:t>
            </a:r>
            <a:r>
              <a:rPr lang="ko-KR" altLang="en-US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</a:t>
            </a:r>
            <a:r>
              <a:rPr lang="en-US" altLang="ko-KR" sz="130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QA</a:t>
            </a:r>
            <a:endParaRPr lang="ko-KR" altLang="en-US" sz="130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CDE90E4-04C2-F9C1-92E6-24AB710CE5DD}"/>
              </a:ext>
            </a:extLst>
          </p:cNvPr>
          <p:cNvGrpSpPr/>
          <p:nvPr/>
        </p:nvGrpSpPr>
        <p:grpSpPr>
          <a:xfrm>
            <a:off x="7791451" y="2999437"/>
            <a:ext cx="209550" cy="209817"/>
            <a:chOff x="7791451" y="2999437"/>
            <a:chExt cx="209550" cy="209817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F6852D97-10CA-260E-BEA7-2DDE90F44F22}"/>
                </a:ext>
              </a:extLst>
            </p:cNvPr>
            <p:cNvSpPr/>
            <p:nvPr/>
          </p:nvSpPr>
          <p:spPr>
            <a:xfrm>
              <a:off x="7791451" y="2999437"/>
              <a:ext cx="209550" cy="20981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pic>
          <p:nvPicPr>
            <p:cNvPr id="9" name="그래픽 8" descr="전구 단색으로 채워진">
              <a:extLst>
                <a:ext uri="{FF2B5EF4-FFF2-40B4-BE49-F238E27FC236}">
                  <a16:creationId xmlns:a16="http://schemas.microsoft.com/office/drawing/2014/main" id="{6E94E731-38C2-2FC7-4E7E-81F020DDC5B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815318" y="3023437"/>
              <a:ext cx="161816" cy="16181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6D8BCAA-33FF-CF02-C648-8ADE76D6FDC7}"/>
              </a:ext>
            </a:extLst>
          </p:cNvPr>
          <p:cNvSpPr txBox="1"/>
          <p:nvPr/>
        </p:nvSpPr>
        <p:spPr>
          <a:xfrm>
            <a:off x="7977134" y="2953048"/>
            <a:ext cx="87680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주요 업무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0003FA-77C6-7E5C-D420-0BC04F8CFBA4}"/>
              </a:ext>
            </a:extLst>
          </p:cNvPr>
          <p:cNvSpPr txBox="1"/>
          <p:nvPr/>
        </p:nvSpPr>
        <p:spPr>
          <a:xfrm>
            <a:off x="7699375" y="3248074"/>
            <a:ext cx="3967163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프로젝트 품질 관리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테스트 시나리오 계획 수립 및 설계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테스트 진행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테스트 결과 보고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1127A0A-4B16-6118-4C01-3E879644F9E1}"/>
              </a:ext>
            </a:extLst>
          </p:cNvPr>
          <p:cNvGrpSpPr/>
          <p:nvPr/>
        </p:nvGrpSpPr>
        <p:grpSpPr>
          <a:xfrm>
            <a:off x="7791451" y="3996923"/>
            <a:ext cx="209550" cy="209817"/>
            <a:chOff x="7791451" y="3808120"/>
            <a:chExt cx="209550" cy="209817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8A98D104-F084-94F8-D865-A7D08AF2FC8D}"/>
                </a:ext>
              </a:extLst>
            </p:cNvPr>
            <p:cNvSpPr/>
            <p:nvPr/>
          </p:nvSpPr>
          <p:spPr>
            <a:xfrm>
              <a:off x="7791451" y="3808120"/>
              <a:ext cx="209550" cy="20981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pic>
          <p:nvPicPr>
            <p:cNvPr id="13" name="グラフィックス 2" descr="User">
              <a:extLst>
                <a:ext uri="{FF2B5EF4-FFF2-40B4-BE49-F238E27FC236}">
                  <a16:creationId xmlns:a16="http://schemas.microsoft.com/office/drawing/2014/main" id="{B75513EF-C0E0-7CA3-F06F-109BA9B98BC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18552" y="3835355"/>
              <a:ext cx="155348" cy="155346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0550935-E831-1500-24AC-E56A904F0455}"/>
              </a:ext>
            </a:extLst>
          </p:cNvPr>
          <p:cNvSpPr txBox="1"/>
          <p:nvPr/>
        </p:nvSpPr>
        <p:spPr>
          <a:xfrm>
            <a:off x="7977134" y="3950534"/>
            <a:ext cx="87680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기여도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A64FFD-4C13-9E1A-A889-C97A250FF998}"/>
              </a:ext>
            </a:extLst>
          </p:cNvPr>
          <p:cNvSpPr txBox="1"/>
          <p:nvPr/>
        </p:nvSpPr>
        <p:spPr>
          <a:xfrm>
            <a:off x="7719253" y="4244608"/>
            <a:ext cx="10271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srgbClr val="00B0F0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2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0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%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39DBE8-2AB1-8453-8807-BF982B658F5F}"/>
              </a:ext>
            </a:extLst>
          </p:cNvPr>
          <p:cNvSpPr txBox="1"/>
          <p:nvPr/>
        </p:nvSpPr>
        <p:spPr>
          <a:xfrm>
            <a:off x="8452231" y="4178347"/>
            <a:ext cx="3360738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이슈 처리 프로세스 개선</a:t>
            </a:r>
            <a:endParaRPr lang="en-US" altLang="ko-KR" sz="1150" dirty="0">
              <a:solidFill>
                <a:srgbClr val="000000">
                  <a:lumMod val="65000"/>
                  <a:lumOff val="35000"/>
                </a:srgb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JIRA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이슈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현황판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대시보드 제작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4ABD1B2-103B-EBB4-A0EB-54DC9CAEDACA}"/>
              </a:ext>
            </a:extLst>
          </p:cNvPr>
          <p:cNvSpPr/>
          <p:nvPr/>
        </p:nvSpPr>
        <p:spPr>
          <a:xfrm>
            <a:off x="7791451" y="4868908"/>
            <a:ext cx="209550" cy="20981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20" name="グラフィックス 5" descr="Checkmark">
            <a:extLst>
              <a:ext uri="{FF2B5EF4-FFF2-40B4-BE49-F238E27FC236}">
                <a16:creationId xmlns:a16="http://schemas.microsoft.com/office/drawing/2014/main" id="{A1635A54-4A73-D6A9-8B69-00F3F52EA47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0891" y="4901258"/>
            <a:ext cx="147583" cy="14758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AAEF252-B4C5-A542-DC27-476DDA20C380}"/>
              </a:ext>
            </a:extLst>
          </p:cNvPr>
          <p:cNvSpPr txBox="1"/>
          <p:nvPr/>
        </p:nvSpPr>
        <p:spPr>
          <a:xfrm>
            <a:off x="7977134" y="4822519"/>
            <a:ext cx="17574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배운 점 혹은 성장한 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A06585-AC58-3623-45CD-85CBF13B96C3}"/>
              </a:ext>
            </a:extLst>
          </p:cNvPr>
          <p:cNvSpPr txBox="1"/>
          <p:nvPr/>
        </p:nvSpPr>
        <p:spPr>
          <a:xfrm>
            <a:off x="7699375" y="5119615"/>
            <a:ext cx="3967163" cy="1388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프로젝트 관리 방법에 대한 다양한 접근 방식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유관 부서와 커뮤니케이션 방법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자기 관리 방법 습득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개발 프로세스에 대한 지식 습득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게임을 바라보는 시각의 다각화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FE1F99-CCE0-93F9-AB98-CC13BD734CC8}"/>
              </a:ext>
            </a:extLst>
          </p:cNvPr>
          <p:cNvSpPr txBox="1"/>
          <p:nvPr/>
        </p:nvSpPr>
        <p:spPr>
          <a:xfrm>
            <a:off x="8443120" y="1431734"/>
            <a:ext cx="136763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2021.04 ~ 2024.01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F05F3643-36DA-0580-BAB6-855F740F6DEB}"/>
              </a:ext>
            </a:extLst>
          </p:cNvPr>
          <p:cNvSpPr/>
          <p:nvPr/>
        </p:nvSpPr>
        <p:spPr>
          <a:xfrm>
            <a:off x="11685588" y="4707970"/>
            <a:ext cx="506412" cy="2159555"/>
          </a:xfrm>
          <a:custGeom>
            <a:avLst/>
            <a:gdLst>
              <a:gd name="connsiteX0" fmla="*/ 102482 w 506412"/>
              <a:gd name="connsiteY0" fmla="*/ 0 h 2159555"/>
              <a:gd name="connsiteX1" fmla="*/ 506412 w 506412"/>
              <a:gd name="connsiteY1" fmla="*/ 0 h 2159555"/>
              <a:gd name="connsiteX2" fmla="*/ 506412 w 506412"/>
              <a:gd name="connsiteY2" fmla="*/ 2159555 h 2159555"/>
              <a:gd name="connsiteX3" fmla="*/ 0 w 506412"/>
              <a:gd name="connsiteY3" fmla="*/ 2159555 h 2159555"/>
              <a:gd name="connsiteX4" fmla="*/ 0 w 506412"/>
              <a:gd name="connsiteY4" fmla="*/ 97104 h 2159555"/>
              <a:gd name="connsiteX5" fmla="*/ 102482 w 506412"/>
              <a:gd name="connsiteY5" fmla="*/ 0 h 2159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6412" h="2159555">
                <a:moveTo>
                  <a:pt x="102482" y="0"/>
                </a:moveTo>
                <a:lnTo>
                  <a:pt x="506412" y="0"/>
                </a:lnTo>
                <a:lnTo>
                  <a:pt x="506412" y="2159555"/>
                </a:lnTo>
                <a:lnTo>
                  <a:pt x="0" y="2159555"/>
                </a:lnTo>
                <a:lnTo>
                  <a:pt x="0" y="97104"/>
                </a:lnTo>
                <a:cubicBezTo>
                  <a:pt x="0" y="43475"/>
                  <a:pt x="45883" y="0"/>
                  <a:pt x="10248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07E667-2B50-0460-274B-047C1E1FE7A3}"/>
              </a:ext>
            </a:extLst>
          </p:cNvPr>
          <p:cNvSpPr txBox="1"/>
          <p:nvPr/>
        </p:nvSpPr>
        <p:spPr>
          <a:xfrm>
            <a:off x="550863" y="228600"/>
            <a:ext cx="2344737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50" dirty="0">
                <a:solidFill>
                  <a:srgbClr val="FFFFFF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2026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포트폴리오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53D556-E0A3-AE08-23EB-34CF98D49F09}"/>
              </a:ext>
            </a:extLst>
          </p:cNvPr>
          <p:cNvSpPr txBox="1"/>
          <p:nvPr/>
        </p:nvSpPr>
        <p:spPr>
          <a:xfrm>
            <a:off x="9331327" y="228600"/>
            <a:ext cx="2344737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Content 4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8" name="그림 개체 틀 17">
            <a:extLst>
              <a:ext uri="{FF2B5EF4-FFF2-40B4-BE49-F238E27FC236}">
                <a16:creationId xmlns:a16="http://schemas.microsoft.com/office/drawing/2014/main" id="{DA9D56DE-B7C2-A441-6D9C-4634BF1E4A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50" b="14250"/>
          <a:stretch/>
        </p:blipFill>
        <p:spPr>
          <a:xfrm>
            <a:off x="1228725" y="1109663"/>
            <a:ext cx="4865688" cy="2319337"/>
          </a:xfrm>
          <a:custGeom>
            <a:avLst/>
            <a:gdLst>
              <a:gd name="connsiteX0" fmla="*/ 128196 w 4865175"/>
              <a:gd name="connsiteY0" fmla="*/ 0 h 2319034"/>
              <a:gd name="connsiteX1" fmla="*/ 4736979 w 4865175"/>
              <a:gd name="connsiteY1" fmla="*/ 0 h 2319034"/>
              <a:gd name="connsiteX2" fmla="*/ 4865175 w 4865175"/>
              <a:gd name="connsiteY2" fmla="*/ 128196 h 2319034"/>
              <a:gd name="connsiteX3" fmla="*/ 4865175 w 4865175"/>
              <a:gd name="connsiteY3" fmla="*/ 2190838 h 2319034"/>
              <a:gd name="connsiteX4" fmla="*/ 4736979 w 4865175"/>
              <a:gd name="connsiteY4" fmla="*/ 2319034 h 2319034"/>
              <a:gd name="connsiteX5" fmla="*/ 128196 w 4865175"/>
              <a:gd name="connsiteY5" fmla="*/ 2319034 h 2319034"/>
              <a:gd name="connsiteX6" fmla="*/ 0 w 4865175"/>
              <a:gd name="connsiteY6" fmla="*/ 2190838 h 2319034"/>
              <a:gd name="connsiteX7" fmla="*/ 0 w 4865175"/>
              <a:gd name="connsiteY7" fmla="*/ 128196 h 2319034"/>
              <a:gd name="connsiteX8" fmla="*/ 128196 w 4865175"/>
              <a:gd name="connsiteY8" fmla="*/ 0 h 231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65175" h="2319034">
                <a:moveTo>
                  <a:pt x="128196" y="0"/>
                </a:moveTo>
                <a:lnTo>
                  <a:pt x="4736979" y="0"/>
                </a:lnTo>
                <a:cubicBezTo>
                  <a:pt x="4807780" y="0"/>
                  <a:pt x="4865175" y="57395"/>
                  <a:pt x="4865175" y="128196"/>
                </a:cubicBezTo>
                <a:lnTo>
                  <a:pt x="4865175" y="2190838"/>
                </a:lnTo>
                <a:cubicBezTo>
                  <a:pt x="4865175" y="2261639"/>
                  <a:pt x="4807780" y="2319034"/>
                  <a:pt x="4736979" y="2319034"/>
                </a:cubicBezTo>
                <a:lnTo>
                  <a:pt x="128196" y="2319034"/>
                </a:lnTo>
                <a:cubicBezTo>
                  <a:pt x="57395" y="2319034"/>
                  <a:pt x="0" y="2261639"/>
                  <a:pt x="0" y="2190838"/>
                </a:cubicBezTo>
                <a:lnTo>
                  <a:pt x="0" y="128196"/>
                </a:lnTo>
                <a:cubicBezTo>
                  <a:pt x="0" y="57395"/>
                  <a:pt x="57395" y="0"/>
                  <a:pt x="128196" y="0"/>
                </a:cubicBezTo>
                <a:close/>
              </a:path>
            </a:pathLst>
          </a:custGeom>
        </p:spPr>
      </p:pic>
      <p:pic>
        <p:nvPicPr>
          <p:cNvPr id="24" name="그림 개체 틀 23">
            <a:extLst>
              <a:ext uri="{FF2B5EF4-FFF2-40B4-BE49-F238E27FC236}">
                <a16:creationId xmlns:a16="http://schemas.microsoft.com/office/drawing/2014/main" id="{1623EFFE-5EAA-6DC5-8227-7D06AF5635B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9" b="1369"/>
          <a:stretch/>
        </p:blipFill>
        <p:spPr>
          <a:xfrm>
            <a:off x="2208213" y="4029075"/>
            <a:ext cx="4864100" cy="2319338"/>
          </a:xfrm>
          <a:custGeom>
            <a:avLst/>
            <a:gdLst>
              <a:gd name="connsiteX0" fmla="*/ 128196 w 4865175"/>
              <a:gd name="connsiteY0" fmla="*/ 0 h 2319034"/>
              <a:gd name="connsiteX1" fmla="*/ 4736979 w 4865175"/>
              <a:gd name="connsiteY1" fmla="*/ 0 h 2319034"/>
              <a:gd name="connsiteX2" fmla="*/ 4865175 w 4865175"/>
              <a:gd name="connsiteY2" fmla="*/ 128196 h 2319034"/>
              <a:gd name="connsiteX3" fmla="*/ 4865175 w 4865175"/>
              <a:gd name="connsiteY3" fmla="*/ 2190838 h 2319034"/>
              <a:gd name="connsiteX4" fmla="*/ 4736979 w 4865175"/>
              <a:gd name="connsiteY4" fmla="*/ 2319034 h 2319034"/>
              <a:gd name="connsiteX5" fmla="*/ 128196 w 4865175"/>
              <a:gd name="connsiteY5" fmla="*/ 2319034 h 2319034"/>
              <a:gd name="connsiteX6" fmla="*/ 0 w 4865175"/>
              <a:gd name="connsiteY6" fmla="*/ 2190838 h 2319034"/>
              <a:gd name="connsiteX7" fmla="*/ 0 w 4865175"/>
              <a:gd name="connsiteY7" fmla="*/ 128196 h 2319034"/>
              <a:gd name="connsiteX8" fmla="*/ 128196 w 4865175"/>
              <a:gd name="connsiteY8" fmla="*/ 0 h 231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65175" h="2319034">
                <a:moveTo>
                  <a:pt x="128196" y="0"/>
                </a:moveTo>
                <a:lnTo>
                  <a:pt x="4736979" y="0"/>
                </a:lnTo>
                <a:cubicBezTo>
                  <a:pt x="4807780" y="0"/>
                  <a:pt x="4865175" y="57395"/>
                  <a:pt x="4865175" y="128196"/>
                </a:cubicBezTo>
                <a:lnTo>
                  <a:pt x="4865175" y="2190838"/>
                </a:lnTo>
                <a:cubicBezTo>
                  <a:pt x="4865175" y="2261639"/>
                  <a:pt x="4807780" y="2319034"/>
                  <a:pt x="4736979" y="2319034"/>
                </a:cubicBezTo>
                <a:lnTo>
                  <a:pt x="128196" y="2319034"/>
                </a:lnTo>
                <a:cubicBezTo>
                  <a:pt x="57395" y="2319034"/>
                  <a:pt x="0" y="2261639"/>
                  <a:pt x="0" y="2190838"/>
                </a:cubicBezTo>
                <a:lnTo>
                  <a:pt x="0" y="128196"/>
                </a:lnTo>
                <a:cubicBezTo>
                  <a:pt x="0" y="57395"/>
                  <a:pt x="57395" y="0"/>
                  <a:pt x="128196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78968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E0A872A8-54EC-6983-D648-FB7183C42EA0}"/>
              </a:ext>
            </a:extLst>
          </p:cNvPr>
          <p:cNvSpPr/>
          <p:nvPr/>
        </p:nvSpPr>
        <p:spPr>
          <a:xfrm flipH="1">
            <a:off x="7736669" y="-11818"/>
            <a:ext cx="4469102" cy="5710149"/>
          </a:xfrm>
          <a:custGeom>
            <a:avLst/>
            <a:gdLst>
              <a:gd name="connsiteX0" fmla="*/ 0 w 4469102"/>
              <a:gd name="connsiteY0" fmla="*/ 0 h 4834355"/>
              <a:gd name="connsiteX1" fmla="*/ 4469102 w 4469102"/>
              <a:gd name="connsiteY1" fmla="*/ 0 h 4834355"/>
              <a:gd name="connsiteX2" fmla="*/ 4469102 w 4469102"/>
              <a:gd name="connsiteY2" fmla="*/ 4574363 h 4834355"/>
              <a:gd name="connsiteX3" fmla="*/ 4209110 w 4469102"/>
              <a:gd name="connsiteY3" fmla="*/ 4834355 h 4834355"/>
              <a:gd name="connsiteX4" fmla="*/ 25909 w 4469102"/>
              <a:gd name="connsiteY4" fmla="*/ 4834355 h 4834355"/>
              <a:gd name="connsiteX5" fmla="*/ 0 w 4469102"/>
              <a:gd name="connsiteY5" fmla="*/ 4831743 h 4834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9102" h="4834355">
                <a:moveTo>
                  <a:pt x="0" y="0"/>
                </a:moveTo>
                <a:lnTo>
                  <a:pt x="4469102" y="0"/>
                </a:lnTo>
                <a:lnTo>
                  <a:pt x="4469102" y="4574363"/>
                </a:lnTo>
                <a:cubicBezTo>
                  <a:pt x="4469102" y="4717953"/>
                  <a:pt x="4352700" y="4834355"/>
                  <a:pt x="4209110" y="4834355"/>
                </a:cubicBezTo>
                <a:lnTo>
                  <a:pt x="25909" y="4834355"/>
                </a:lnTo>
                <a:lnTo>
                  <a:pt x="0" y="48317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5" name="그림 개체 틀 4">
            <a:extLst>
              <a:ext uri="{FF2B5EF4-FFF2-40B4-BE49-F238E27FC236}">
                <a16:creationId xmlns:a16="http://schemas.microsoft.com/office/drawing/2014/main" id="{28B7DC3E-012D-0669-DE3A-1785F108453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8" t="-1" r="367" b="1112"/>
          <a:stretch>
            <a:fillRect/>
          </a:stretch>
        </p:blipFill>
        <p:spPr>
          <a:xfrm>
            <a:off x="6970713" y="1392238"/>
            <a:ext cx="5221287" cy="4306093"/>
          </a:xfrm>
          <a:custGeom>
            <a:avLst/>
            <a:gdLst>
              <a:gd name="connsiteX0" fmla="*/ 647240 w 3883363"/>
              <a:gd name="connsiteY0" fmla="*/ 0 h 4354043"/>
              <a:gd name="connsiteX1" fmla="*/ 3236123 w 3883363"/>
              <a:gd name="connsiteY1" fmla="*/ 0 h 4354043"/>
              <a:gd name="connsiteX2" fmla="*/ 3883363 w 3883363"/>
              <a:gd name="connsiteY2" fmla="*/ 647240 h 4354043"/>
              <a:gd name="connsiteX3" fmla="*/ 3883363 w 3883363"/>
              <a:gd name="connsiteY3" fmla="*/ 3706803 h 4354043"/>
              <a:gd name="connsiteX4" fmla="*/ 3236123 w 3883363"/>
              <a:gd name="connsiteY4" fmla="*/ 4354043 h 4354043"/>
              <a:gd name="connsiteX5" fmla="*/ 647240 w 3883363"/>
              <a:gd name="connsiteY5" fmla="*/ 4354043 h 4354043"/>
              <a:gd name="connsiteX6" fmla="*/ 0 w 3883363"/>
              <a:gd name="connsiteY6" fmla="*/ 3706803 h 4354043"/>
              <a:gd name="connsiteX7" fmla="*/ 0 w 3883363"/>
              <a:gd name="connsiteY7" fmla="*/ 647240 h 4354043"/>
              <a:gd name="connsiteX8" fmla="*/ 647240 w 3883363"/>
              <a:gd name="connsiteY8" fmla="*/ 0 h 4354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3363" h="4354043">
                <a:moveTo>
                  <a:pt x="647240" y="0"/>
                </a:moveTo>
                <a:lnTo>
                  <a:pt x="3236123" y="0"/>
                </a:lnTo>
                <a:cubicBezTo>
                  <a:pt x="3593584" y="0"/>
                  <a:pt x="3883363" y="289779"/>
                  <a:pt x="3883363" y="647240"/>
                </a:cubicBezTo>
                <a:lnTo>
                  <a:pt x="3883363" y="3706803"/>
                </a:lnTo>
                <a:cubicBezTo>
                  <a:pt x="3883363" y="4064264"/>
                  <a:pt x="3593584" y="4354043"/>
                  <a:pt x="3236123" y="4354043"/>
                </a:cubicBezTo>
                <a:lnTo>
                  <a:pt x="647240" y="4354043"/>
                </a:lnTo>
                <a:cubicBezTo>
                  <a:pt x="289779" y="4354043"/>
                  <a:pt x="0" y="4064264"/>
                  <a:pt x="0" y="3706803"/>
                </a:cubicBezTo>
                <a:lnTo>
                  <a:pt x="0" y="647240"/>
                </a:lnTo>
                <a:cubicBezTo>
                  <a:pt x="0" y="289779"/>
                  <a:pt x="289779" y="0"/>
                  <a:pt x="647240" y="0"/>
                </a:cubicBezTo>
                <a:close/>
              </a:path>
            </a:pathLst>
          </a:custGeom>
        </p:spPr>
      </p:pic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8C91CE94-6D38-9681-325D-0B1B78D09992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97FC2FA-C201-247C-342D-3EC456A08491}"/>
              </a:ext>
            </a:extLst>
          </p:cNvPr>
          <p:cNvSpPr/>
          <p:nvPr/>
        </p:nvSpPr>
        <p:spPr>
          <a:xfrm>
            <a:off x="582472" y="1745042"/>
            <a:ext cx="6842430" cy="899064"/>
          </a:xfrm>
          <a:prstGeom prst="roundRect">
            <a:avLst>
              <a:gd name="adj" fmla="val 40434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2C23123-5026-0BDA-2C21-65A0EF83C9A1}"/>
              </a:ext>
            </a:extLst>
          </p:cNvPr>
          <p:cNvSpPr/>
          <p:nvPr/>
        </p:nvSpPr>
        <p:spPr>
          <a:xfrm>
            <a:off x="721324" y="1514209"/>
            <a:ext cx="480298" cy="461665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14" name="그래픽 13" descr="전구 단색으로 채워진">
            <a:extLst>
              <a:ext uri="{FF2B5EF4-FFF2-40B4-BE49-F238E27FC236}">
                <a16:creationId xmlns:a16="http://schemas.microsoft.com/office/drawing/2014/main" id="{D2312C28-760A-0CE7-551A-A46588CB2D4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978" y="1564546"/>
            <a:ext cx="360991" cy="3609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965FDA3-62F3-2DB6-DFF5-643AEA268CE9}"/>
              </a:ext>
            </a:extLst>
          </p:cNvPr>
          <p:cNvSpPr txBox="1"/>
          <p:nvPr/>
        </p:nvSpPr>
        <p:spPr>
          <a:xfrm>
            <a:off x="1182252" y="1499140"/>
            <a:ext cx="876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>
                <a:solidFill>
                  <a:schemeClr val="accent2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문제 상황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BCFD0F-1137-392A-EA41-2A9991C6DABE}"/>
              </a:ext>
            </a:extLst>
          </p:cNvPr>
          <p:cNvSpPr txBox="1"/>
          <p:nvPr/>
        </p:nvSpPr>
        <p:spPr>
          <a:xfrm>
            <a:off x="1117960" y="1898499"/>
            <a:ext cx="5852753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ko-KR" altLang="en-US" sz="1150" dirty="0"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협업 툴인 </a:t>
            </a:r>
            <a:r>
              <a:rPr lang="en-US" altLang="ko-KR" sz="1150" dirty="0"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JIRA</a:t>
            </a:r>
            <a:r>
              <a:rPr lang="ko-KR" altLang="en-US" sz="1150" dirty="0"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등록 이슈 중에서 담당자 </a:t>
            </a:r>
            <a:r>
              <a:rPr lang="ko-KR" altLang="en-US" sz="1150" dirty="0" err="1"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미지정</a:t>
            </a:r>
            <a:r>
              <a:rPr lang="ko-KR" altLang="en-US" sz="1150" dirty="0"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상태의 방치 이슈가 </a:t>
            </a:r>
            <a:r>
              <a:rPr lang="en-US" altLang="ko-KR" sz="1150" dirty="0"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1150" dirty="0"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천 건이 넘어가는 현상 발생</a:t>
            </a:r>
            <a:b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</a:b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이로 인해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방치된 이슈들에 대한</a:t>
            </a:r>
            <a:r>
              <a:rPr lang="ko-KR" altLang="en-US" sz="1150" dirty="0"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처리와 프로세스 규약이 필요하다고 생각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7A24D6E-D5E6-BE7C-CB27-27FBE605C8D2}"/>
              </a:ext>
            </a:extLst>
          </p:cNvPr>
          <p:cNvSpPr/>
          <p:nvPr/>
        </p:nvSpPr>
        <p:spPr>
          <a:xfrm>
            <a:off x="565394" y="3214159"/>
            <a:ext cx="1283954" cy="1782420"/>
          </a:xfrm>
          <a:prstGeom prst="roundRect">
            <a:avLst>
              <a:gd name="adj" fmla="val 40434"/>
            </a:avLst>
          </a:prstGeom>
          <a:solidFill>
            <a:schemeClr val="accent1"/>
          </a:solidFill>
          <a:ln>
            <a:solidFill>
              <a:schemeClr val="accent2"/>
            </a:solidFill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2259F6C-A6F3-24F1-C1F8-CF60ED0E016A}"/>
              </a:ext>
            </a:extLst>
          </p:cNvPr>
          <p:cNvSpPr/>
          <p:nvPr/>
        </p:nvSpPr>
        <p:spPr>
          <a:xfrm>
            <a:off x="719334" y="2956430"/>
            <a:ext cx="480298" cy="461665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108359-9439-2270-05AB-833A31064F0E}"/>
              </a:ext>
            </a:extLst>
          </p:cNvPr>
          <p:cNvSpPr txBox="1"/>
          <p:nvPr/>
        </p:nvSpPr>
        <p:spPr>
          <a:xfrm>
            <a:off x="1180262" y="2941361"/>
            <a:ext cx="876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>
                <a:solidFill>
                  <a:schemeClr val="accent2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해결과정 </a:t>
            </a:r>
          </a:p>
        </p:txBody>
      </p:sp>
      <p:pic>
        <p:nvPicPr>
          <p:cNvPr id="27" name="グラフィックス 56" descr="Head with Gears">
            <a:extLst>
              <a:ext uri="{FF2B5EF4-FFF2-40B4-BE49-F238E27FC236}">
                <a16:creationId xmlns:a16="http://schemas.microsoft.com/office/drawing/2014/main" id="{C7ED24CA-C03A-B605-0A99-D9FBE196164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988" y="3006767"/>
            <a:ext cx="360991" cy="360991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E4D7624-1EB3-0474-B96D-887A525DE339}"/>
              </a:ext>
            </a:extLst>
          </p:cNvPr>
          <p:cNvSpPr/>
          <p:nvPr/>
        </p:nvSpPr>
        <p:spPr>
          <a:xfrm>
            <a:off x="1959283" y="3214159"/>
            <a:ext cx="1283954" cy="1782420"/>
          </a:xfrm>
          <a:prstGeom prst="roundRect">
            <a:avLst>
              <a:gd name="adj" fmla="val 40434"/>
            </a:avLst>
          </a:prstGeom>
          <a:solidFill>
            <a:schemeClr val="accent1"/>
          </a:solidFill>
          <a:ln>
            <a:solidFill>
              <a:schemeClr val="accent2"/>
            </a:solidFill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9C67BCC-2A16-BA60-5C03-73A0773457EB}"/>
              </a:ext>
            </a:extLst>
          </p:cNvPr>
          <p:cNvSpPr/>
          <p:nvPr/>
        </p:nvSpPr>
        <p:spPr>
          <a:xfrm>
            <a:off x="3353172" y="3214159"/>
            <a:ext cx="1283954" cy="1782420"/>
          </a:xfrm>
          <a:prstGeom prst="roundRect">
            <a:avLst>
              <a:gd name="adj" fmla="val 40434"/>
            </a:avLst>
          </a:prstGeom>
          <a:solidFill>
            <a:schemeClr val="accent1"/>
          </a:solidFill>
          <a:ln>
            <a:solidFill>
              <a:schemeClr val="accent2"/>
            </a:solidFill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90808BB-2452-76BE-00C3-BADEAE30F327}"/>
              </a:ext>
            </a:extLst>
          </p:cNvPr>
          <p:cNvSpPr/>
          <p:nvPr/>
        </p:nvSpPr>
        <p:spPr>
          <a:xfrm>
            <a:off x="4747061" y="3214159"/>
            <a:ext cx="1283954" cy="1782420"/>
          </a:xfrm>
          <a:prstGeom prst="roundRect">
            <a:avLst>
              <a:gd name="adj" fmla="val 40434"/>
            </a:avLst>
          </a:prstGeom>
          <a:solidFill>
            <a:schemeClr val="accent1"/>
          </a:solidFill>
          <a:ln>
            <a:solidFill>
              <a:schemeClr val="accent2"/>
            </a:solidFill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2C389B0-DB7D-8DB2-C919-C92BFF12402B}"/>
              </a:ext>
            </a:extLst>
          </p:cNvPr>
          <p:cNvSpPr/>
          <p:nvPr/>
        </p:nvSpPr>
        <p:spPr>
          <a:xfrm>
            <a:off x="6140948" y="3214159"/>
            <a:ext cx="1283954" cy="1782420"/>
          </a:xfrm>
          <a:prstGeom prst="roundRect">
            <a:avLst>
              <a:gd name="adj" fmla="val 40434"/>
            </a:avLst>
          </a:prstGeom>
          <a:solidFill>
            <a:schemeClr val="accent1"/>
          </a:solidFill>
          <a:ln>
            <a:solidFill>
              <a:schemeClr val="accent2"/>
            </a:solidFill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CC4E45-0625-50DA-BE84-0F0115BD5D16}"/>
              </a:ext>
            </a:extLst>
          </p:cNvPr>
          <p:cNvSpPr txBox="1"/>
          <p:nvPr/>
        </p:nvSpPr>
        <p:spPr>
          <a:xfrm>
            <a:off x="721997" y="3411333"/>
            <a:ext cx="970748" cy="1388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해결과정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1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이슈 상태에 따른 워크플로우 개선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257398-73F1-90AA-9C00-E9532A27FC82}"/>
              </a:ext>
            </a:extLst>
          </p:cNvPr>
          <p:cNvSpPr txBox="1"/>
          <p:nvPr/>
        </p:nvSpPr>
        <p:spPr>
          <a:xfrm>
            <a:off x="2115886" y="3411333"/>
            <a:ext cx="970748" cy="1122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해결과정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2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워크플로우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세분화 진행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7E8734-0488-ECDA-E43D-63E0F628111F}"/>
              </a:ext>
            </a:extLst>
          </p:cNvPr>
          <p:cNvSpPr txBox="1"/>
          <p:nvPr/>
        </p:nvSpPr>
        <p:spPr>
          <a:xfrm>
            <a:off x="3509775" y="3411333"/>
            <a:ext cx="970748" cy="1388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해결과정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3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담당자 할당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단계를 </a:t>
            </a:r>
            <a:r>
              <a:rPr lang="en-US" altLang="ko-KR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4</a:t>
            </a: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단계로</a:t>
            </a:r>
            <a:endParaRPr lang="en-US" altLang="ko-KR" sz="1150" dirty="0">
              <a:solidFill>
                <a:srgbClr val="000000">
                  <a:lumMod val="65000"/>
                  <a:lumOff val="35000"/>
                </a:srgb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분할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0714F9-41C9-70C4-979A-EFFCDE9EF357}"/>
              </a:ext>
            </a:extLst>
          </p:cNvPr>
          <p:cNvSpPr txBox="1"/>
          <p:nvPr/>
        </p:nvSpPr>
        <p:spPr>
          <a:xfrm>
            <a:off x="4903664" y="3411333"/>
            <a:ext cx="970748" cy="1122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해결과정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4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각 단계별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담당자 지정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9E5BF0-244D-6C69-6E17-5629DB38FEF4}"/>
              </a:ext>
            </a:extLst>
          </p:cNvPr>
          <p:cNvSpPr txBox="1"/>
          <p:nvPr/>
        </p:nvSpPr>
        <p:spPr>
          <a:xfrm>
            <a:off x="6297551" y="3411333"/>
            <a:ext cx="970748" cy="1388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해결과정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5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변경된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워크플로우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50" dirty="0">
                <a:solidFill>
                  <a:srgbClr val="000000">
                    <a:lumMod val="65000"/>
                    <a:lumOff val="35000"/>
                  </a:srgb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개발실 공유</a:t>
            </a:r>
            <a:endParaRPr kumimoji="0" lang="ko-KR" alt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9" name="1/2 액자 38">
            <a:extLst>
              <a:ext uri="{FF2B5EF4-FFF2-40B4-BE49-F238E27FC236}">
                <a16:creationId xmlns:a16="http://schemas.microsoft.com/office/drawing/2014/main" id="{B0E09E27-67A2-51FD-886C-CF42AF1A6E0B}"/>
              </a:ext>
            </a:extLst>
          </p:cNvPr>
          <p:cNvSpPr/>
          <p:nvPr/>
        </p:nvSpPr>
        <p:spPr>
          <a:xfrm rot="13471254">
            <a:off x="3774735" y="5093964"/>
            <a:ext cx="440828" cy="440828"/>
          </a:xfrm>
          <a:prstGeom prst="halfFrame">
            <a:avLst>
              <a:gd name="adj1" fmla="val 15272"/>
              <a:gd name="adj2" fmla="val 1671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0" name="1/2 액자 39">
            <a:extLst>
              <a:ext uri="{FF2B5EF4-FFF2-40B4-BE49-F238E27FC236}">
                <a16:creationId xmlns:a16="http://schemas.microsoft.com/office/drawing/2014/main" id="{C14E5A23-6B1E-EBE1-B5FD-ED98BABE9F7A}"/>
              </a:ext>
            </a:extLst>
          </p:cNvPr>
          <p:cNvSpPr/>
          <p:nvPr/>
        </p:nvSpPr>
        <p:spPr>
          <a:xfrm rot="13471254">
            <a:off x="3766440" y="4970910"/>
            <a:ext cx="440828" cy="440828"/>
          </a:xfrm>
          <a:prstGeom prst="halfFrame">
            <a:avLst>
              <a:gd name="adj1" fmla="val 15272"/>
              <a:gd name="adj2" fmla="val 1671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777291B-A0B9-6ACF-F2CF-AF5B7A46F3A1}"/>
              </a:ext>
            </a:extLst>
          </p:cNvPr>
          <p:cNvSpPr/>
          <p:nvPr/>
        </p:nvSpPr>
        <p:spPr>
          <a:xfrm>
            <a:off x="560038" y="5765745"/>
            <a:ext cx="6864864" cy="582530"/>
          </a:xfrm>
          <a:prstGeom prst="roundRect">
            <a:avLst>
              <a:gd name="adj" fmla="val 40434"/>
            </a:avLst>
          </a:prstGeom>
          <a:solidFill>
            <a:schemeClr val="accent2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97FD37-DEF1-A174-39F2-144371033A0F}"/>
              </a:ext>
            </a:extLst>
          </p:cNvPr>
          <p:cNvSpPr txBox="1"/>
          <p:nvPr/>
        </p:nvSpPr>
        <p:spPr>
          <a:xfrm>
            <a:off x="1167272" y="5911481"/>
            <a:ext cx="5639163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등록된 이슈가 어떤 상태인지 정확한 파악이 가능하고</a:t>
            </a:r>
            <a:r>
              <a:rPr kumimoji="0" lang="en-US" altLang="ko-KR" sz="115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 </a:t>
            </a:r>
            <a:r>
              <a:rPr kumimoji="0" lang="ko-KR" altLang="en-US" sz="115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담당자 </a:t>
            </a:r>
            <a:r>
              <a:rPr kumimoji="0" lang="ko-KR" altLang="en-US" sz="115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미지정</a:t>
            </a:r>
            <a:r>
              <a:rPr kumimoji="0" lang="ko-KR" altLang="en-US" sz="115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상태로 방치되는 이슈가 발생하지 않았음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F99A703F-A748-05EA-F52E-0177E3852627}"/>
              </a:ext>
            </a:extLst>
          </p:cNvPr>
          <p:cNvSpPr/>
          <p:nvPr/>
        </p:nvSpPr>
        <p:spPr>
          <a:xfrm>
            <a:off x="719334" y="5500153"/>
            <a:ext cx="480298" cy="461665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C3ED39-359E-31C3-1CCB-A09E5EDA3B50}"/>
              </a:ext>
            </a:extLst>
          </p:cNvPr>
          <p:cNvSpPr txBox="1"/>
          <p:nvPr/>
        </p:nvSpPr>
        <p:spPr>
          <a:xfrm>
            <a:off x="1180262" y="5485084"/>
            <a:ext cx="876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>
                <a:solidFill>
                  <a:schemeClr val="accent2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rPr>
              <a:t>인사이트 </a:t>
            </a:r>
          </a:p>
        </p:txBody>
      </p:sp>
      <p:pic>
        <p:nvPicPr>
          <p:cNvPr id="46" name="图形 23" descr="Magnifying glass">
            <a:extLst>
              <a:ext uri="{FF2B5EF4-FFF2-40B4-BE49-F238E27FC236}">
                <a16:creationId xmlns:a16="http://schemas.microsoft.com/office/drawing/2014/main" id="{F7853AD7-F7A9-766D-A6DE-1BDF2534E32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8988" y="5550490"/>
            <a:ext cx="360991" cy="3609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4C7715-0398-74F0-B27B-E45A97CEDF55}"/>
              </a:ext>
            </a:extLst>
          </p:cNvPr>
          <p:cNvSpPr txBox="1"/>
          <p:nvPr/>
        </p:nvSpPr>
        <p:spPr>
          <a:xfrm>
            <a:off x="465138" y="706566"/>
            <a:ext cx="39671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600" dirty="0">
                <a:solidFill>
                  <a:srgbClr val="262626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이슈 처리 프로세스 개선</a:t>
            </a:r>
            <a:endParaRPr kumimoji="0" lang="ko-KR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2413FE-054B-118D-355C-D3E63DAE6A60}"/>
              </a:ext>
            </a:extLst>
          </p:cNvPr>
          <p:cNvSpPr txBox="1"/>
          <p:nvPr/>
        </p:nvSpPr>
        <p:spPr>
          <a:xfrm>
            <a:off x="465311" y="489177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첫 프로젝트 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: </a:t>
            </a: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가디스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 오더</a:t>
            </a:r>
          </a:p>
        </p:txBody>
      </p:sp>
    </p:spTree>
    <p:extLst>
      <p:ext uri="{BB962C8B-B14F-4D97-AF65-F5344CB8AC3E}">
        <p14:creationId xmlns:p14="http://schemas.microsoft.com/office/powerpoint/2010/main" val="19986297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A0300A-87EF-8E0D-086C-A3D144A1CE23}"/>
              </a:ext>
            </a:extLst>
          </p:cNvPr>
          <p:cNvSpPr txBox="1"/>
          <p:nvPr/>
        </p:nvSpPr>
        <p:spPr>
          <a:xfrm>
            <a:off x="541337" y="783898"/>
            <a:ext cx="5654189" cy="1034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0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구성원의 만족을 위해 노력하고 성장할</a:t>
            </a:r>
            <a:endParaRPr kumimoji="0" lang="en-US" altLang="ko-KR" sz="3400" b="0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400" spc="-150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프로젝트 매니저 </a:t>
            </a:r>
            <a:r>
              <a:rPr lang="ko-KR" altLang="en-US" sz="3400" spc="-150" dirty="0">
                <a:solidFill>
                  <a:srgbClr val="00B0F0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박재윤</a:t>
            </a:r>
            <a:r>
              <a:rPr lang="ko-KR" altLang="en-US" sz="3400" spc="-150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 입니다</a:t>
            </a:r>
            <a:r>
              <a:rPr lang="en-US" altLang="ko-KR" sz="3400" spc="-150" dirty="0">
                <a:solidFill>
                  <a:srgbClr val="FFFFFF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.</a:t>
            </a:r>
            <a:endParaRPr kumimoji="0" lang="ko-KR" altLang="en-US" sz="3400" b="0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D4ADD-3BF7-D1DA-0527-596A4DF42739}"/>
              </a:ext>
            </a:extLst>
          </p:cNvPr>
          <p:cNvSpPr txBox="1"/>
          <p:nvPr/>
        </p:nvSpPr>
        <p:spPr>
          <a:xfrm>
            <a:off x="584316" y="5832474"/>
            <a:ext cx="11125602" cy="731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0">
              <a:lnSpc>
                <a:spcPct val="130000"/>
              </a:lnSpc>
              <a:defRPr/>
            </a:pPr>
            <a:r>
              <a:rPr lang="ko-KR" altLang="en-US" sz="1100" spc="-5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우리의 주 고객은 게임을 이용해주시는 유저들입니다</a:t>
            </a:r>
            <a:r>
              <a:rPr lang="en-US" altLang="ko-KR" sz="1100" spc="-5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따라서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좋은 서비스 제공을 위해선 이를 담당하는 구성원들의 만족이 바탕이 되어야 합니다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endParaRPr lang="en-US" altLang="ko-KR" sz="1100" spc="-50" dirty="0">
              <a:ln>
                <a:solidFill>
                  <a:srgbClr val="FFFFFF">
                    <a:alpha val="0"/>
                  </a:srgbClr>
                </a:solidFill>
              </a:ln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lvl="0" latinLnBrk="0">
              <a:lnSpc>
                <a:spcPct val="130000"/>
              </a:lnSpc>
              <a:defRPr/>
            </a:pP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PM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의 주 고객은 조직의 구성원이며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이들의 만족이 유저들에게 제공하는 서비스 품질과 연결된다고 생각합니다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884003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미스터 피피티 05_BLUE">
      <a:dk1>
        <a:srgbClr val="000000"/>
      </a:dk1>
      <a:lt1>
        <a:srgbClr val="FFFFFF"/>
      </a:lt1>
      <a:dk2>
        <a:srgbClr val="FFFF00"/>
      </a:dk2>
      <a:lt2>
        <a:srgbClr val="FFFF00"/>
      </a:lt2>
      <a:accent1>
        <a:srgbClr val="FFFFFF"/>
      </a:accent1>
      <a:accent2>
        <a:srgbClr val="3B3B3B"/>
      </a:accent2>
      <a:accent3>
        <a:srgbClr val="007AF9"/>
      </a:accent3>
      <a:accent4>
        <a:srgbClr val="FFFF00"/>
      </a:accent4>
      <a:accent5>
        <a:srgbClr val="FFFF00"/>
      </a:accent5>
      <a:accent6>
        <a:srgbClr val="FFFF00"/>
      </a:accent6>
      <a:hlink>
        <a:srgbClr val="0563C1"/>
      </a:hlink>
      <a:folHlink>
        <a:srgbClr val="954F72"/>
      </a:folHlink>
    </a:clrScheme>
    <a:fontScheme name="나눔스퀘어 네오">
      <a:majorFont>
        <a:latin typeface="나눔스퀘어 네오 Heavy"/>
        <a:ea typeface="나눔스퀘어 네오 Heavy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spc="-100" dirty="0">
            <a:ln>
              <a:solidFill>
                <a:schemeClr val="accent1">
                  <a:alpha val="0"/>
                </a:schemeClr>
              </a:solidFill>
            </a:ln>
            <a:solidFill>
              <a:schemeClr val="accent2"/>
            </a:solidFill>
            <a:latin typeface="나눔스퀘어 네오 ExtraBold" panose="00000900000000000000" pitchFamily="2" charset="-127"/>
            <a:ea typeface="나눔스퀘어 네오 ExtraBold" panose="000009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테마">
  <a:themeElements>
    <a:clrScheme name="미스터 피피티 10_BLACK">
      <a:dk1>
        <a:sysClr val="windowText" lastClr="000000"/>
      </a:dk1>
      <a:lt1>
        <a:sysClr val="window" lastClr="FFFFFF"/>
      </a:lt1>
      <a:dk2>
        <a:srgbClr val="FFFF00"/>
      </a:dk2>
      <a:lt2>
        <a:srgbClr val="FFFF00"/>
      </a:lt2>
      <a:accent1>
        <a:srgbClr val="FFFFFF"/>
      </a:accent1>
      <a:accent2>
        <a:srgbClr val="262626"/>
      </a:accent2>
      <a:accent3>
        <a:srgbClr val="000000"/>
      </a:accent3>
      <a:accent4>
        <a:srgbClr val="F84A4A"/>
      </a:accent4>
      <a:accent5>
        <a:srgbClr val="FFFF00"/>
      </a:accent5>
      <a:accent6>
        <a:srgbClr val="FFFF00"/>
      </a:accent6>
      <a:hlink>
        <a:srgbClr val="FFFF00"/>
      </a:hlink>
      <a:folHlink>
        <a:srgbClr val="FFFF00"/>
      </a:folHlink>
    </a:clrScheme>
    <a:fontScheme name="사용자 지정 1">
      <a:majorFont>
        <a:latin typeface="Pretendard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9453</TotalTime>
  <Words>3428</Words>
  <Application>Microsoft Office PowerPoint</Application>
  <PresentationFormat>와이드스크린</PresentationFormat>
  <Paragraphs>757</Paragraphs>
  <Slides>34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21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34</vt:i4>
      </vt:variant>
    </vt:vector>
  </HeadingPairs>
  <TitlesOfParts>
    <vt:vector size="58" baseType="lpstr">
      <vt:lpstr>JetBrains Mono</vt:lpstr>
      <vt:lpstr>KlavikaNX Bold</vt:lpstr>
      <vt:lpstr>KlavikaNX Light</vt:lpstr>
      <vt:lpstr>Manrope</vt:lpstr>
      <vt:lpstr>Pretendard ExtraBold</vt:lpstr>
      <vt:lpstr>Pretendard Light</vt:lpstr>
      <vt:lpstr>Pretendard Medium</vt:lpstr>
      <vt:lpstr>나눔스퀘어 네오 Bold</vt:lpstr>
      <vt:lpstr>나눔스퀘어 네오 ExtraBold</vt:lpstr>
      <vt:lpstr>나눔스퀘어 네오 Heavy</vt:lpstr>
      <vt:lpstr>넥슨Lv1고딕 OTF Bold</vt:lpstr>
      <vt:lpstr>맑은 고딕</vt:lpstr>
      <vt:lpstr>프리젠테이션 2 ExtraLight</vt:lpstr>
      <vt:lpstr>프리젠테이션 3 Light</vt:lpstr>
      <vt:lpstr>프리젠테이션 4 Regular</vt:lpstr>
      <vt:lpstr>프리젠테이션 5 Medium</vt:lpstr>
      <vt:lpstr>프리젠테이션 6 SemiBold</vt:lpstr>
      <vt:lpstr>프리젠테이션 7 Bold</vt:lpstr>
      <vt:lpstr>프리젠테이션 8 ExtraBold</vt:lpstr>
      <vt:lpstr>Arial</vt:lpstr>
      <vt:lpstr>Calibri</vt:lpstr>
      <vt:lpstr>1_Office 테마</vt:lpstr>
      <vt:lpstr>2_Office 테마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재윤 박</dc:creator>
  <cp:lastModifiedBy>재윤 박</cp:lastModifiedBy>
  <cp:revision>327</cp:revision>
  <cp:lastPrinted>2025-06-19T12:40:22Z</cp:lastPrinted>
  <dcterms:created xsi:type="dcterms:W3CDTF">2025-03-25T07:55:35Z</dcterms:created>
  <dcterms:modified xsi:type="dcterms:W3CDTF">2026-09-29T04:44:05Z</dcterms:modified>
</cp:coreProperties>
</file>